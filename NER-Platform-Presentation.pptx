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This covers a full-stack multi-tenant Named Entity Recognition platform built during my internship — an AI-native system that lets any organization train and deploy custom NER models from their own documents.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problem has three layers: documents are valuable but unstructured, existing NER tools are generic, and multi-tenancy adds a hard isolation challenge. This platform addresses all three.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core capabilities covering the full lifecycle — from entity definition to training to production inference and conversational analytics — all scoped strictly per tenant.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workflow mirrors how a real ML team works, but guided and governed. No ML expertise needed from the tenant — they define what they want, provide documents, and review labels. The platform handles annotation acceleration, training, evaluation, and serving.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microservices, each with a single responsibility. Communication is async-first via RabbitMQ. The frontend talks only to the API Gateway. PostgreSQL uses per-tenant schemas. All services are Dockerized and ready for Kubernetes.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ML pipeline is fully automated but governed. Annotators produce BIO/IOB2 data. A Celery worker picks up training jobs and fine-tunes BERT on GPU. Every run is tracked in MLflow. A model can only reach production after metrics meet thresholds AND a human explicitly approves.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Isolation is a first-class requirement — not an afterthought. ADR-001 establishes schema-per-tenant. The gateway enforces tenant context on every request. Each tenant's models are versioned and served in isolation with sub-10-minute rollback.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AI-native methodology is itself a novel contribution. Every feature — all 50+ — went through proposal → design → spec → tasks → evidence → archive. AI agents (OpenCode) implemented under human approval gates. A repeatable, auditable pattern for AI-assisted enterprise delivery.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independent services, 50+ spec-backed features, 27,000+ lines of Python and TypeScript, and a 30+ module test suite. Backend fully complete; frontend covers all core screens.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Three-source RAG: structured SQL for exact queries, vector search for semantic retrieval, live NER for real-time extraction. All responses must cite sources. SQL validation layer is a hard constraint preventing hallucination on structured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Success metrics defined upfront. F1 ≥ 0.80 for pilot, ≥ 0.90 as the feedback loop matures. 100% traceability is non-negotiable. Rollback must complete under 10 minutes in production.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ADRs document every major architectural choice. Each captures the alternatives considered and the rationale for the chosen direction. Schema-per-tenant vs per-database. Single base model vs BYOM. Shared serving pool vs dedicated pods. These are permanent records, not implementation notes.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things to leave with: (1) A complete, hard technical system was fully built. (2) Enterprise requirements were designed in from the start. (3) The AI-native delivery methodology is itself a reusable contribution.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411480"/>
            <a:ext cx="1645920" cy="960120"/>
          </a:xfrm>
          <a:prstGeom prst="roundRect">
            <a:avLst>
              <a:gd name="adj" fmla="val 14286"/>
            </a:avLst>
          </a:prstGeom>
          <a:solidFill>
            <a:srgbClr val="0891B2">
              <a:alpha val="80000"/>
            </a:srgbClr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35240" y="1536192"/>
            <a:ext cx="1234440" cy="960120"/>
          </a:xfrm>
          <a:prstGeom prst="roundRect">
            <a:avLst>
              <a:gd name="adj" fmla="val 14286"/>
            </a:avLst>
          </a:prstGeom>
          <a:solidFill>
            <a:srgbClr val="CADCFC">
              <a:alpha val="60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086600" y="2651760"/>
            <a:ext cx="1783080" cy="960120"/>
          </a:xfrm>
          <a:prstGeom prst="roundRect">
            <a:avLst>
              <a:gd name="adj" fmla="val 14286"/>
            </a:avLst>
          </a:prstGeom>
          <a:solidFill>
            <a:srgbClr val="CADCFC">
              <a:alpha val="45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960120"/>
            <a:ext cx="658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Multi-Tenant Custom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548640" y="1719072"/>
            <a:ext cx="658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NER Platform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548640" y="2670048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A0B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AI-native document intelligence platform for domain-specific entity extraction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3383280"/>
            <a:ext cx="4114800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3566160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A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Theertha  ·  Internship Project  ·  June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11480" y="987552"/>
            <a:ext cx="8321040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21792" y="1289304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12893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261872" y="1097280"/>
            <a:ext cx="7269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is trapped in unstructured documents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61872" y="1463040"/>
            <a:ext cx="7269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Organizations hold vast document stores — contracts, clinical notes, reports — but the entities they need are buried in free text with no reliable way to extract them at scale.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" y="2249424"/>
            <a:ext cx="8321040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1792" y="2551176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621792" y="25511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61872" y="2359152"/>
            <a:ext cx="7269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Off-the-shelf NLP is too generic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61872" y="2724912"/>
            <a:ext cx="7269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NER tools recognize person, org, location. Domain-specific entities — drug dosage, contract clause, financial instrument — require custom fine-tuning most teams can't do.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11480" y="3511296"/>
            <a:ext cx="8321040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1792" y="3813048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" y="3813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261872" y="3621024"/>
            <a:ext cx="7269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Multi-tenancy adds hard isolation constraints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61872" y="3986784"/>
            <a:ext cx="7269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providers can't share a model or annotated data between customers. Each tenant needs isolated training data, a separate fine-tuned model, and its own serving endpoint.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Solution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multi-tenant platform where any organization can define domain-specific entities, annotate documents, fine-tune their own NER model, and query extracted data — all in strict isolation.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347472" y="1664208"/>
            <a:ext cx="2606040" cy="1188720"/>
          </a:xfrm>
          <a:prstGeom prst="roundRect">
            <a:avLst>
              <a:gd name="adj" fmla="val 9231"/>
            </a:avLst>
          </a:prstGeom>
          <a:solidFill>
            <a:srgbClr val="F5F7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84632" y="1828800"/>
            <a:ext cx="292608" cy="29260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484632" y="18288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77824" y="1755648"/>
            <a:ext cx="1947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Entity Types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84632" y="219456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Tenant-defined entity catalog with validation rules and target DB mappings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108960" y="1664208"/>
            <a:ext cx="2606040" cy="1188720"/>
          </a:xfrm>
          <a:prstGeom prst="roundRect">
            <a:avLst>
              <a:gd name="adj" fmla="val 9231"/>
            </a:avLst>
          </a:prstGeom>
          <a:solidFill>
            <a:srgbClr val="F5F7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46120" y="1828800"/>
            <a:ext cx="292608" cy="292608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1" name="Text 9"/>
          <p:cNvSpPr/>
          <p:nvPr/>
        </p:nvSpPr>
        <p:spPr>
          <a:xfrm>
            <a:off x="3246120" y="18288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39312" y="1755648"/>
            <a:ext cx="1947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Guided Annotation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246120" y="219456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Token-level labeling UI with AI pre-labeling and reviewer approval workflow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870448" y="1664208"/>
            <a:ext cx="2606040" cy="1188720"/>
          </a:xfrm>
          <a:prstGeom prst="roundRect">
            <a:avLst>
              <a:gd name="adj" fmla="val 9231"/>
            </a:avLst>
          </a:prstGeom>
          <a:solidFill>
            <a:srgbClr val="F5F7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07608" y="1828800"/>
            <a:ext cx="292608" cy="292608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6" name="Text 14"/>
          <p:cNvSpPr/>
          <p:nvPr/>
        </p:nvSpPr>
        <p:spPr>
          <a:xfrm>
            <a:off x="6007608" y="18288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0" y="1755648"/>
            <a:ext cx="1947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Training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007608" y="219456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 BERT per tenant. Async GPU workers. MLflow experiment tracking.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47472" y="3017520"/>
            <a:ext cx="2606040" cy="1188720"/>
          </a:xfrm>
          <a:prstGeom prst="roundRect">
            <a:avLst>
              <a:gd name="adj" fmla="val 9231"/>
            </a:avLst>
          </a:prstGeom>
          <a:solidFill>
            <a:srgbClr val="F5F7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4632" y="3182112"/>
            <a:ext cx="292608" cy="292608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1" name="Text 19"/>
          <p:cNvSpPr/>
          <p:nvPr/>
        </p:nvSpPr>
        <p:spPr>
          <a:xfrm>
            <a:off x="484632" y="3182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77824" y="3108960"/>
            <a:ext cx="1947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Deployment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84632" y="3547872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Per-tenant model endpoints with version pinning and instant rollback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108960" y="3017520"/>
            <a:ext cx="2606040" cy="1188720"/>
          </a:xfrm>
          <a:prstGeom prst="roundRect">
            <a:avLst>
              <a:gd name="adj" fmla="val 9231"/>
            </a:avLst>
          </a:prstGeom>
          <a:solidFill>
            <a:srgbClr val="F5F7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46120" y="3182112"/>
            <a:ext cx="292608" cy="292608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26" name="Text 24"/>
          <p:cNvSpPr/>
          <p:nvPr/>
        </p:nvSpPr>
        <p:spPr>
          <a:xfrm>
            <a:off x="3246120" y="3182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639312" y="3108960"/>
            <a:ext cx="1947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at Scale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246120" y="3547872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inference, store entities with source spans, flag low-confidence results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870448" y="3017520"/>
            <a:ext cx="2606040" cy="1188720"/>
          </a:xfrm>
          <a:prstGeom prst="roundRect">
            <a:avLst>
              <a:gd name="adj" fmla="val 9231"/>
            </a:avLst>
          </a:prstGeom>
          <a:solidFill>
            <a:srgbClr val="F5F7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07608" y="3182112"/>
            <a:ext cx="292608" cy="292608"/>
          </a:xfrm>
          <a:prstGeom prst="ellipse">
            <a:avLst/>
          </a:prstGeom>
          <a:solidFill>
            <a:srgbClr val="4A6FA5"/>
          </a:solidFill>
          <a:ln/>
        </p:spPr>
      </p:sp>
      <p:sp>
        <p:nvSpPr>
          <p:cNvPr id="31" name="Text 29"/>
          <p:cNvSpPr/>
          <p:nvPr/>
        </p:nvSpPr>
        <p:spPr>
          <a:xfrm>
            <a:off x="6007608" y="3182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400800" y="3108960"/>
            <a:ext cx="1947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&amp; AI Chat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007608" y="3547872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RAG chatbot over extracted data — SQL + vector search + NER inference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Six-step journey from raw documents to structured, queryable intelligence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10896" y="1207008"/>
            <a:ext cx="1298448" cy="374904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10896" y="1207008"/>
            <a:ext cx="1298448" cy="658368"/>
          </a:xfrm>
          <a:prstGeom prst="roundRect">
            <a:avLst>
              <a:gd name="adj" fmla="val 16667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10896" y="1664208"/>
            <a:ext cx="1298448" cy="21945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1298448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49808" y="1362456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2336" y="2011680"/>
            <a:ext cx="111556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admin defines entity types, validation rules, and target DB mappings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618488" y="3081528"/>
            <a:ext cx="18288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09928" y="1207008"/>
            <a:ext cx="1298448" cy="374904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709928" y="1207008"/>
            <a:ext cx="1298448" cy="658368"/>
          </a:xfrm>
          <a:prstGeom prst="roundRect">
            <a:avLst>
              <a:gd name="adj" fmla="val 1666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709928" y="1664208"/>
            <a:ext cx="1298448" cy="2194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783080" y="1298448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2148840" y="1362456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801368" y="2011680"/>
            <a:ext cx="111556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PDFs, DOCX, images. OCR runs automatically for scanned documents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017520" y="3081528"/>
            <a:ext cx="18288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08960" y="1207008"/>
            <a:ext cx="1298448" cy="374904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108960" y="1207008"/>
            <a:ext cx="1298448" cy="658368"/>
          </a:xfrm>
          <a:prstGeom prst="roundRect">
            <a:avLst>
              <a:gd name="adj" fmla="val 16667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08960" y="1664208"/>
            <a:ext cx="1298448" cy="21945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182112" y="1298448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3547872" y="1362456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200400" y="2011680"/>
            <a:ext cx="111556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token spans. AI pre-labeling from BERT accelerates the workflow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416552" y="3081528"/>
            <a:ext cx="18288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07992" y="1207008"/>
            <a:ext cx="1298448" cy="374904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07992" y="1207008"/>
            <a:ext cx="1298448" cy="658368"/>
          </a:xfrm>
          <a:prstGeom prst="roundRect">
            <a:avLst>
              <a:gd name="adj" fmla="val 16667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07992" y="1664208"/>
            <a:ext cx="1298448" cy="21945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81144" y="1298448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4946904" y="1362456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99432" y="2011680"/>
            <a:ext cx="111556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 BERT asynchronously. MLflow tracks every experiment run and metric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815584" y="3081528"/>
            <a:ext cx="18288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07024" y="1207008"/>
            <a:ext cx="1298448" cy="374904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5907024" y="1207008"/>
            <a:ext cx="1298448" cy="658368"/>
          </a:xfrm>
          <a:prstGeom prst="roundRect">
            <a:avLst>
              <a:gd name="adj" fmla="val 16667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07024" y="1664208"/>
            <a:ext cx="1298448" cy="21945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80176" y="1298448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6345936" y="1362456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998464" y="2011680"/>
            <a:ext cx="111556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admin reviews metrics and approves before promotion to production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214616" y="3081528"/>
            <a:ext cx="18288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306056" y="1207008"/>
            <a:ext cx="1298448" cy="374904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7306056" y="1207008"/>
            <a:ext cx="1298448" cy="658368"/>
          </a:xfrm>
          <a:prstGeom prst="roundRect">
            <a:avLst>
              <a:gd name="adj" fmla="val 16667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306056" y="1664208"/>
            <a:ext cx="1298448" cy="21945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379208" y="1298448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43" name="Text 41"/>
          <p:cNvSpPr/>
          <p:nvPr/>
        </p:nvSpPr>
        <p:spPr>
          <a:xfrm>
            <a:off x="7744968" y="1362456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7397496" y="2011680"/>
            <a:ext cx="111556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inference on new docs. Chat with AI assistant over all extracted entities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microservices — async-first, event-driven, Kubernetes-deployable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" y="1316736"/>
            <a:ext cx="713232" cy="402336"/>
          </a:xfrm>
          <a:prstGeom prst="roundRect">
            <a:avLst>
              <a:gd name="adj" fmla="val 13636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" y="1316736"/>
            <a:ext cx="7132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22960" y="1143000"/>
            <a:ext cx="8321040" cy="749808"/>
          </a:xfrm>
          <a:prstGeom prst="roundRect">
            <a:avLst>
              <a:gd name="adj" fmla="val 12195"/>
            </a:avLst>
          </a:prstGeom>
          <a:solidFill>
            <a:srgbClr val="F3F0FF"/>
          </a:solidFill>
          <a:ln w="6350">
            <a:solidFill>
              <a:srgbClr val="DDD6F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" y="2596896"/>
            <a:ext cx="713232" cy="402336"/>
          </a:xfrm>
          <a:prstGeom prst="roundRect">
            <a:avLst>
              <a:gd name="adj" fmla="val 1363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" y="2596896"/>
            <a:ext cx="7132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Services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22960" y="2011680"/>
            <a:ext cx="8321040" cy="1572768"/>
          </a:xfrm>
          <a:prstGeom prst="roundRect">
            <a:avLst>
              <a:gd name="adj" fmla="val 5814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" y="4023360"/>
            <a:ext cx="713232" cy="402336"/>
          </a:xfrm>
          <a:prstGeom prst="roundRect">
            <a:avLst>
              <a:gd name="adj" fmla="val 13636"/>
            </a:avLst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" y="4023360"/>
            <a:ext cx="7132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Infra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822960" y="3712464"/>
            <a:ext cx="8321040" cy="1024128"/>
          </a:xfrm>
          <a:prstGeom prst="roundRect">
            <a:avLst>
              <a:gd name="adj" fmla="val 8929"/>
            </a:avLst>
          </a:prstGeom>
          <a:solidFill>
            <a:srgbClr val="F0FDFA"/>
          </a:solidFill>
          <a:ln w="6350">
            <a:solidFill>
              <a:srgbClr val="99F6E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423160" y="1252728"/>
            <a:ext cx="2697480" cy="512064"/>
          </a:xfrm>
          <a:prstGeom prst="roundRect">
            <a:avLst>
              <a:gd name="adj" fmla="val 17857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23160" y="1252728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Portal  (React, Tailwind, TanStack Query)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257800" y="1252728"/>
            <a:ext cx="2606040" cy="512064"/>
          </a:xfrm>
          <a:prstGeom prst="roundRect">
            <a:avLst>
              <a:gd name="adj" fmla="val 17857"/>
            </a:avLst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57800" y="1252728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Navigation  ·  Auth Context  ·  Dark Mode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86968" y="2084832"/>
            <a:ext cx="1801368" cy="512064"/>
          </a:xfrm>
          <a:prstGeom prst="roundRect">
            <a:avLst>
              <a:gd name="adj" fmla="val 14286"/>
            </a:avLst>
          </a:prstGeom>
          <a:solidFill>
            <a:srgbClr val="1E2761">
              <a:alpha val="90000"/>
            </a:srgbClr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6968" y="2084832"/>
            <a:ext cx="1801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839212" y="2084832"/>
            <a:ext cx="1801368" cy="512064"/>
          </a:xfrm>
          <a:prstGeom prst="roundRect">
            <a:avLst>
              <a:gd name="adj" fmla="val 14286"/>
            </a:avLst>
          </a:prstGeom>
          <a:solidFill>
            <a:srgbClr val="2563EB">
              <a:alpha val="90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39212" y="2084832"/>
            <a:ext cx="1801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Service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791456" y="2084832"/>
            <a:ext cx="1801368" cy="512064"/>
          </a:xfrm>
          <a:prstGeom prst="roundRect">
            <a:avLst>
              <a:gd name="adj" fmla="val 14286"/>
            </a:avLst>
          </a:prstGeom>
          <a:solidFill>
            <a:srgbClr val="0891B2">
              <a:alpha val="90000"/>
            </a:srgbClr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91456" y="2084832"/>
            <a:ext cx="1801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Annotation Service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743700" y="2084832"/>
            <a:ext cx="1801368" cy="512064"/>
          </a:xfrm>
          <a:prstGeom prst="roundRect">
            <a:avLst>
              <a:gd name="adj" fmla="val 14286"/>
            </a:avLst>
          </a:prstGeom>
          <a:solidFill>
            <a:srgbClr val="059669">
              <a:alpha val="90000"/>
            </a:srgbClr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43700" y="2084832"/>
            <a:ext cx="1801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Orchestrator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86968" y="2747772"/>
            <a:ext cx="1801368" cy="512064"/>
          </a:xfrm>
          <a:prstGeom prst="roundRect">
            <a:avLst>
              <a:gd name="adj" fmla="val 14286"/>
            </a:avLst>
          </a:prstGeom>
          <a:solidFill>
            <a:srgbClr val="D97706">
              <a:alpha val="90000"/>
            </a:srgbClr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86968" y="2747772"/>
            <a:ext cx="1801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Registry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2839212" y="2747772"/>
            <a:ext cx="1801368" cy="512064"/>
          </a:xfrm>
          <a:prstGeom prst="roundRect">
            <a:avLst>
              <a:gd name="adj" fmla="val 14286"/>
            </a:avLst>
          </a:prstGeom>
          <a:solidFill>
            <a:srgbClr val="DC2626">
              <a:alpha val="90000"/>
            </a:srgbClr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839212" y="2747772"/>
            <a:ext cx="1801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Serving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791456" y="2747772"/>
            <a:ext cx="1801368" cy="512064"/>
          </a:xfrm>
          <a:prstGeom prst="roundRect">
            <a:avLst>
              <a:gd name="adj" fmla="val 14286"/>
            </a:avLst>
          </a:prstGeom>
          <a:solidFill>
            <a:srgbClr val="7C3AED">
              <a:alpha val="90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91456" y="2747772"/>
            <a:ext cx="1801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Service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743700" y="2747772"/>
            <a:ext cx="1801368" cy="512064"/>
          </a:xfrm>
          <a:prstGeom prst="roundRect">
            <a:avLst>
              <a:gd name="adj" fmla="val 14286"/>
            </a:avLst>
          </a:prstGeom>
          <a:solidFill>
            <a:srgbClr val="4A6FA5">
              <a:alpha val="90000"/>
            </a:srgbClr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43700" y="2747772"/>
            <a:ext cx="1801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&amp; Chat API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86968" y="3831336"/>
            <a:ext cx="1417320" cy="457200"/>
          </a:xfrm>
          <a:prstGeom prst="roundRect">
            <a:avLst>
              <a:gd name="adj" fmla="val 16000"/>
            </a:avLst>
          </a:prstGeom>
          <a:solidFill>
            <a:srgbClr val="0369A1">
              <a:alpha val="75000"/>
            </a:srgbClr>
          </a:solidFill>
          <a:ln w="6350">
            <a:solidFill>
              <a:srgbClr val="0369A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86968" y="3831336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+ pgvector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2427732" y="3831336"/>
            <a:ext cx="1417320" cy="457200"/>
          </a:xfrm>
          <a:prstGeom prst="roundRect">
            <a:avLst>
              <a:gd name="adj" fmla="val 16000"/>
            </a:avLst>
          </a:prstGeom>
          <a:solidFill>
            <a:srgbClr val="DC2626">
              <a:alpha val="75000"/>
            </a:srgbClr>
          </a:solidFill>
          <a:ln w="6350">
            <a:solidFill>
              <a:srgbClr val="DC262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427732" y="3831336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Cache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3968496" y="3831336"/>
            <a:ext cx="1417320" cy="457200"/>
          </a:xfrm>
          <a:prstGeom prst="roundRect">
            <a:avLst>
              <a:gd name="adj" fmla="val 16000"/>
            </a:avLst>
          </a:prstGeom>
          <a:solidFill>
            <a:srgbClr val="D97706">
              <a:alpha val="75000"/>
            </a:srgbClr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68496" y="3831336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RabbitMQ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509260" y="3831336"/>
            <a:ext cx="1417320" cy="457200"/>
          </a:xfrm>
          <a:prstGeom prst="roundRect">
            <a:avLst>
              <a:gd name="adj" fmla="val 16000"/>
            </a:avLst>
          </a:prstGeom>
          <a:solidFill>
            <a:srgbClr val="059669">
              <a:alpha val="75000"/>
            </a:srgbClr>
          </a:solidFill>
          <a:ln w="6350">
            <a:solidFill>
              <a:srgbClr val="0596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09260" y="3831336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MinIO / S3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7050024" y="3831336"/>
            <a:ext cx="1417320" cy="457200"/>
          </a:xfrm>
          <a:prstGeom prst="roundRect">
            <a:avLst>
              <a:gd name="adj" fmla="val 16000"/>
            </a:avLst>
          </a:prstGeom>
          <a:solidFill>
            <a:srgbClr val="7C3AED">
              <a:alpha val="75000"/>
            </a:srgbClr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050024" y="3831336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MLflow Tracking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ML Pipeline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MLOps lifecycle: annotation → fine-tuning → evaluation → governed deployment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274320" y="1207008"/>
            <a:ext cx="1572768" cy="329184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207008"/>
            <a:ext cx="1572768" cy="822960"/>
          </a:xfrm>
          <a:prstGeom prst="roundRect">
            <a:avLst>
              <a:gd name="adj" fmla="val 13333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1828800"/>
            <a:ext cx="1572768" cy="21945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" y="1261872"/>
            <a:ext cx="1426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BIO/IOB2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2121408"/>
            <a:ext cx="138988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Annotated spans exported in token classification format. Min 500 spans per entity type required.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856232" y="2852928"/>
            <a:ext cx="164592" cy="0"/>
          </a:xfrm>
          <a:prstGeom prst="line">
            <a:avLst/>
          </a:prstGeom>
          <a:noFill/>
          <a:ln w="19050">
            <a:solidFill>
              <a:srgbClr val="4B556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38528" y="1207008"/>
            <a:ext cx="1572768" cy="329184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938528" y="1207008"/>
            <a:ext cx="1572768" cy="82296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38528" y="1828800"/>
            <a:ext cx="1572768" cy="21945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011680" y="1261872"/>
            <a:ext cx="1426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029968" y="2121408"/>
            <a:ext cx="138988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dslim/bert-base-NER + tenant labels. Celery GPU worker, async, checkpoint-resumable.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520440" y="2852928"/>
            <a:ext cx="164592" cy="0"/>
          </a:xfrm>
          <a:prstGeom prst="line">
            <a:avLst/>
          </a:prstGeom>
          <a:noFill/>
          <a:ln w="19050">
            <a:solidFill>
              <a:srgbClr val="4B556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02736" y="1207008"/>
            <a:ext cx="1572768" cy="329184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02736" y="1207008"/>
            <a:ext cx="1572768" cy="822960"/>
          </a:xfrm>
          <a:prstGeom prst="roundRect">
            <a:avLst>
              <a:gd name="adj" fmla="val 1333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02736" y="1828800"/>
            <a:ext cx="1572768" cy="21945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75888" y="1261872"/>
            <a:ext cx="1426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694176" y="2121408"/>
            <a:ext cx="138988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· Recall · F1. Entity-level confusion matrix. Minimum threshold: F1 ≥ 0.80.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184648" y="2852928"/>
            <a:ext cx="164592" cy="0"/>
          </a:xfrm>
          <a:prstGeom prst="line">
            <a:avLst/>
          </a:prstGeom>
          <a:noFill/>
          <a:ln w="19050">
            <a:solidFill>
              <a:srgbClr val="4B556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66944" y="1207008"/>
            <a:ext cx="1572768" cy="329184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266944" y="1207008"/>
            <a:ext cx="1572768" cy="822960"/>
          </a:xfrm>
          <a:prstGeom prst="roundRect">
            <a:avLst>
              <a:gd name="adj" fmla="val 13333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266944" y="1828800"/>
            <a:ext cx="1572768" cy="21945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340096" y="1261872"/>
            <a:ext cx="1426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358384" y="2121408"/>
            <a:ext cx="138988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admin reviews all metrics and approves. No model may be promoted without explicit sign-off.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848856" y="2852928"/>
            <a:ext cx="164592" cy="0"/>
          </a:xfrm>
          <a:prstGeom prst="line">
            <a:avLst/>
          </a:prstGeom>
          <a:noFill/>
          <a:ln w="19050">
            <a:solidFill>
              <a:srgbClr val="4B556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931152" y="1207008"/>
            <a:ext cx="1572768" cy="329184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931152" y="1207008"/>
            <a:ext cx="1572768" cy="822960"/>
          </a:xfrm>
          <a:prstGeom prst="roundRect">
            <a:avLst>
              <a:gd name="adj" fmla="val 13333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31152" y="1828800"/>
            <a:ext cx="1572768" cy="21945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004304" y="1261872"/>
            <a:ext cx="1426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Serving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022592" y="2121408"/>
            <a:ext cx="138988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Per-tenant endpoint with version pinning. Model warmup on promotion. Rollback in &lt; 10 minutes.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834640" y="4590288"/>
            <a:ext cx="3474720" cy="384048"/>
          </a:xfrm>
          <a:prstGeom prst="roundRect">
            <a:avLst>
              <a:gd name="adj" fmla="val 23810"/>
            </a:avLst>
          </a:prstGeom>
          <a:solidFill>
            <a:srgbClr val="7C3AED">
              <a:alpha val="8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834640" y="461772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training run tracked in MLflow — params, metrics, artifacts, model lineage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Multi-Tenant Isolation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isolation enforced at every layer — no data, model, or log cross-contamination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170432"/>
            <a:ext cx="5349240" cy="658368"/>
          </a:xfrm>
          <a:prstGeom prst="roundRect">
            <a:avLst>
              <a:gd name="adj" fmla="val 13889"/>
            </a:avLst>
          </a:prstGeom>
          <a:solidFill>
            <a:srgbClr val="F5F7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335024"/>
            <a:ext cx="1051560" cy="329184"/>
          </a:xfrm>
          <a:prstGeom prst="roundRect">
            <a:avLst>
              <a:gd name="adj" fmla="val 16667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335024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691640" y="1298448"/>
            <a:ext cx="3913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context extracted from JWT. Hard tenant_id enforcement on every request.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1938528"/>
            <a:ext cx="5349240" cy="658368"/>
          </a:xfrm>
          <a:prstGeom prst="roundRect">
            <a:avLst>
              <a:gd name="adj" fmla="val 13889"/>
            </a:avLst>
          </a:prstGeom>
          <a:solidFill>
            <a:srgbClr val="F5F7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103120"/>
            <a:ext cx="1051560" cy="329184"/>
          </a:xfrm>
          <a:prstGeom prst="roundRect">
            <a:avLst>
              <a:gd name="adj" fmla="val 1666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10312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691640" y="2066544"/>
            <a:ext cx="3913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PostgreSQL schema per tenant. CREATE SCHEMA tenant_{id} on provisioning. search_path enforced at query time.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706624"/>
            <a:ext cx="5349240" cy="658368"/>
          </a:xfrm>
          <a:prstGeom prst="roundRect">
            <a:avLst>
              <a:gd name="adj" fmla="val 13889"/>
            </a:avLst>
          </a:prstGeom>
          <a:solidFill>
            <a:srgbClr val="F5F7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871216"/>
            <a:ext cx="1051560" cy="329184"/>
          </a:xfrm>
          <a:prstGeom prst="roundRect">
            <a:avLst>
              <a:gd name="adj" fmla="val 16667"/>
            </a:avLst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7121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Storage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91640" y="2834640"/>
            <a:ext cx="3913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Prefix-based isolation: tenant_{id}/documents/. IAM-style bucket policies per prefix.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3474720"/>
            <a:ext cx="5349240" cy="658368"/>
          </a:xfrm>
          <a:prstGeom prst="roundRect">
            <a:avLst>
              <a:gd name="adj" fmla="val 13889"/>
            </a:avLst>
          </a:prstGeom>
          <a:solidFill>
            <a:srgbClr val="F5F7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2920" y="3639312"/>
            <a:ext cx="1051560" cy="329184"/>
          </a:xfrm>
          <a:prstGeom prst="roundRect">
            <a:avLst>
              <a:gd name="adj" fmla="val 16667"/>
            </a:avLst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363931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Serving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91640" y="3602736"/>
            <a:ext cx="3913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Tenant-specific version pinning. Shared pool with isolated routing. Path to dedicated Kubernetes pods.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4242816"/>
            <a:ext cx="5349240" cy="658368"/>
          </a:xfrm>
          <a:prstGeom prst="roundRect">
            <a:avLst>
              <a:gd name="adj" fmla="val 13889"/>
            </a:avLst>
          </a:prstGeom>
          <a:solidFill>
            <a:srgbClr val="F5F7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2920" y="4407408"/>
            <a:ext cx="1051560" cy="329184"/>
          </a:xfrm>
          <a:prstGeom prst="roundRect">
            <a:avLst>
              <a:gd name="adj" fmla="val 16667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4407408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691640" y="4370832"/>
            <a:ext cx="3913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user action, training trigger, extraction, and model promotion recorded per-tenant. Immutable trail.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172200" y="1170432"/>
            <a:ext cx="2560320" cy="1024128"/>
          </a:xfrm>
          <a:prstGeom prst="roundRect">
            <a:avLst>
              <a:gd name="adj" fmla="val 1339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172200" y="123444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172200" y="1773936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test pass rate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172200" y="2450592"/>
            <a:ext cx="2560320" cy="1024128"/>
          </a:xfrm>
          <a:prstGeom prst="roundRect">
            <a:avLst>
              <a:gd name="adj" fmla="val 13393"/>
            </a:avLst>
          </a:prstGeom>
          <a:solidFill>
            <a:srgbClr val="0891B2"/>
          </a:solidFill>
          <a:ln/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172200" y="251460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ADR-001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6172200" y="3054096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isolation decision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172200" y="3730752"/>
            <a:ext cx="2560320" cy="1024128"/>
          </a:xfrm>
          <a:prstGeom prst="roundRect">
            <a:avLst>
              <a:gd name="adj" fmla="val 13393"/>
            </a:avLst>
          </a:prstGeom>
          <a:solidFill>
            <a:srgbClr val="059669"/>
          </a:solidFill>
          <a:ln/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172200" y="379476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10 min</a:t>
            </a:r>
            <a:endParaRPr lang="en-US" sz="2800" dirty="0"/>
          </a:p>
        </p:txBody>
      </p:sp>
      <p:sp>
        <p:nvSpPr>
          <p:cNvPr id="32" name="Text 30"/>
          <p:cNvSpPr/>
          <p:nvPr/>
        </p:nvSpPr>
        <p:spPr>
          <a:xfrm>
            <a:off x="6172200" y="4334256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rollback (production)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AI-Native Engineering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feature delivered through a governed spec-driven pipeline — OpenSpec + OpenCode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1325880" cy="187452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0160">
            <a:solidFill>
              <a:srgbClr val="E8E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" y="1307592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754380" y="13075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84048" y="1856232"/>
            <a:ext cx="1197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93192" y="2221992"/>
            <a:ext cx="11795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intent, success metrics, out-of-scope, risks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655064" y="2199132"/>
            <a:ext cx="201168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55648" y="1170432"/>
            <a:ext cx="1325880" cy="187452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0160">
            <a:solidFill>
              <a:srgbClr val="E8E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189988" y="1307592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2" name="Text 10"/>
          <p:cNvSpPr/>
          <p:nvPr/>
        </p:nvSpPr>
        <p:spPr>
          <a:xfrm>
            <a:off x="2189988" y="13075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819656" y="1856232"/>
            <a:ext cx="1197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828800" y="2221992"/>
            <a:ext cx="11795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data boundaries, failure modes, ADRs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090672" y="2199132"/>
            <a:ext cx="201168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91256" y="1170432"/>
            <a:ext cx="1325880" cy="187452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0160">
            <a:solidFill>
              <a:srgbClr val="E8E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25596" y="1307592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8" name="Text 16"/>
          <p:cNvSpPr/>
          <p:nvPr/>
        </p:nvSpPr>
        <p:spPr>
          <a:xfrm>
            <a:off x="3625596" y="13075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255264" y="1856232"/>
            <a:ext cx="1197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264408" y="2221992"/>
            <a:ext cx="11795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Testable SHALL statements + Given/When/Then ACs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26280" y="2199132"/>
            <a:ext cx="201168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26864" y="1170432"/>
            <a:ext cx="1325880" cy="187452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0160">
            <a:solidFill>
              <a:srgbClr val="E8E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61204" y="1307592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4" name="Text 22"/>
          <p:cNvSpPr/>
          <p:nvPr/>
        </p:nvSpPr>
        <p:spPr>
          <a:xfrm>
            <a:off x="5061204" y="13075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690872" y="1856232"/>
            <a:ext cx="1197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700016" y="2221992"/>
            <a:ext cx="11795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reviewable slices with evidence expectations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961888" y="2199132"/>
            <a:ext cx="201168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062472" y="1170432"/>
            <a:ext cx="1325880" cy="187452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0160">
            <a:solidFill>
              <a:srgbClr val="E8E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96812" y="1307592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30" name="Text 28"/>
          <p:cNvSpPr/>
          <p:nvPr/>
        </p:nvSpPr>
        <p:spPr>
          <a:xfrm>
            <a:off x="6496812" y="13075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126480" y="1856232"/>
            <a:ext cx="1197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135624" y="2221992"/>
            <a:ext cx="11795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results, API contracts, security checks, metrics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397496" y="2199132"/>
            <a:ext cx="201168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498080" y="1170432"/>
            <a:ext cx="1325880" cy="187452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0160">
            <a:solidFill>
              <a:srgbClr val="E8E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932420" y="1307592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36" name="Text 34"/>
          <p:cNvSpPr/>
          <p:nvPr/>
        </p:nvSpPr>
        <p:spPr>
          <a:xfrm>
            <a:off x="7932420" y="13075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7562088" y="1856232"/>
            <a:ext cx="1197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7571232" y="2221992"/>
            <a:ext cx="11795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Specs updated, change package closed, durable record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1005840" y="3255264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50+</a:t>
            </a:r>
            <a:endParaRPr lang="en-US" sz="3400" dirty="0"/>
          </a:p>
        </p:txBody>
      </p:sp>
      <p:sp>
        <p:nvSpPr>
          <p:cNvPr id="40" name="Text 38"/>
          <p:cNvSpPr/>
          <p:nvPr/>
        </p:nvSpPr>
        <p:spPr>
          <a:xfrm>
            <a:off x="1005840" y="382219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packages shipped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3657600" y="3255264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400" dirty="0"/>
          </a:p>
        </p:txBody>
      </p:sp>
      <p:sp>
        <p:nvSpPr>
          <p:cNvPr id="42" name="Text 40"/>
          <p:cNvSpPr/>
          <p:nvPr/>
        </p:nvSpPr>
        <p:spPr>
          <a:xfrm>
            <a:off x="3657600" y="382219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Decision Records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309360" y="3255264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44" name="Text 42"/>
          <p:cNvSpPr/>
          <p:nvPr/>
        </p:nvSpPr>
        <p:spPr>
          <a:xfrm>
            <a:off x="6309360" y="382219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spec-backed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Was Built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complete, production-architected platform built from scratch during the internship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84048" y="1170432"/>
            <a:ext cx="1901952" cy="1417320"/>
          </a:xfrm>
          <a:prstGeom prst="roundRect">
            <a:avLst>
              <a:gd name="adj" fmla="val 9677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84048" y="1261872"/>
            <a:ext cx="19019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384048" y="1938528"/>
            <a:ext cx="1901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Microservices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487168" y="1170432"/>
            <a:ext cx="1901952" cy="1417320"/>
          </a:xfrm>
          <a:prstGeom prst="roundRect">
            <a:avLst>
              <a:gd name="adj" fmla="val 9677"/>
            </a:avLst>
          </a:prstGeom>
          <a:solidFill>
            <a:srgbClr val="0891B2"/>
          </a:solidFill>
          <a:ln/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487168" y="1261872"/>
            <a:ext cx="19019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50+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2487168" y="1938528"/>
            <a:ext cx="1901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shipped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90288" y="1170432"/>
            <a:ext cx="1901952" cy="1417320"/>
          </a:xfrm>
          <a:prstGeom prst="roundRect">
            <a:avLst>
              <a:gd name="adj" fmla="val 9677"/>
            </a:avLst>
          </a:prstGeom>
          <a:solidFill>
            <a:srgbClr val="7C3AED"/>
          </a:solidFill>
          <a:ln/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90288" y="1261872"/>
            <a:ext cx="19019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27K+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4590288" y="1938528"/>
            <a:ext cx="1901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of code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693408" y="1170432"/>
            <a:ext cx="1901952" cy="1417320"/>
          </a:xfrm>
          <a:prstGeom prst="roundRect">
            <a:avLst>
              <a:gd name="adj" fmla="val 9677"/>
            </a:avLst>
          </a:prstGeom>
          <a:solidFill>
            <a:srgbClr val="059669"/>
          </a:solidFill>
          <a:ln/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93408" y="1261872"/>
            <a:ext cx="19019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30+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6693408" y="1938528"/>
            <a:ext cx="1901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modules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47472" y="2788920"/>
            <a:ext cx="2633472" cy="2029968"/>
          </a:xfrm>
          <a:prstGeom prst="roundRect">
            <a:avLst>
              <a:gd name="adj" fmla="val 5405"/>
            </a:avLst>
          </a:prstGeom>
          <a:solidFill>
            <a:srgbClr val="F5F7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" y="2852928"/>
            <a:ext cx="23591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Services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4632" y="3218688"/>
            <a:ext cx="2359152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&amp; JWT · Tenant provisioning</a:t>
            </a:r>
            <a:endParaRPr lang="en-US" sz="950" dirty="0"/>
          </a:p>
          <a:p>
            <a:pPr algn="l" marL="342900" indent="-342900">
              <a:buSzPct val="100000"/>
              <a:buChar char="•"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ingestion with OCR</a:t>
            </a:r>
            <a:endParaRPr lang="en-US" sz="950" dirty="0"/>
          </a:p>
          <a:p>
            <a:pPr algn="l" marL="342900" indent="-342900">
              <a:buSzPct val="100000"/>
              <a:buChar char="•"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Annotation workflow &amp; BIO export</a:t>
            </a:r>
            <a:endParaRPr lang="en-US" sz="950" dirty="0"/>
          </a:p>
          <a:p>
            <a:pPr algn="l" marL="342900" indent="-342900">
              <a:buSzPct val="100000"/>
              <a:buChar char="•"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Celery training workers + MLflow</a:t>
            </a:r>
            <a:endParaRPr lang="en-US" sz="950" dirty="0"/>
          </a:p>
          <a:p>
            <a:pPr algn="l" marL="342900" indent="-342900">
              <a:buSzPct val="100000"/>
              <a:buChar char="•"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registry &amp; serving layer</a:t>
            </a:r>
            <a:endParaRPr lang="en-US" sz="950" dirty="0"/>
          </a:p>
          <a:p>
            <a:pPr algn="l" marL="342900" indent="-342900">
              <a:buSzPct val="100000"/>
              <a:buChar char="•"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engine · RAG chatbot</a:t>
            </a:r>
            <a:endParaRPr lang="en-US" sz="950" dirty="0"/>
          </a:p>
          <a:p>
            <a:pPr algn="l" marL="342900" indent="-342900">
              <a:buSzPct val="100000"/>
              <a:buChar char="•"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&amp; reporting API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182112" y="2788920"/>
            <a:ext cx="2633472" cy="2029968"/>
          </a:xfrm>
          <a:prstGeom prst="roundRect">
            <a:avLst>
              <a:gd name="adj" fmla="val 5405"/>
            </a:avLst>
          </a:prstGeom>
          <a:solidFill>
            <a:srgbClr val="F5F7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19272" y="2852928"/>
            <a:ext cx="23591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Portal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319272" y="3218688"/>
            <a:ext cx="2359152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&amp; role-based auth flow</a:t>
            </a:r>
            <a:endParaRPr lang="en-US" sz="950" dirty="0"/>
          </a:p>
          <a:p>
            <a:pPr algn="l" marL="342900" indent="-342900">
              <a:buSzPct val="100000"/>
              <a:buChar char="•"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with live metrics</a:t>
            </a:r>
            <a:endParaRPr lang="en-US" sz="950" dirty="0"/>
          </a:p>
          <a:p>
            <a:pPr algn="l" marL="342900" indent="-342900">
              <a:buSzPct val="100000"/>
              <a:buChar char="•"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Annotation workspace (drag &amp; click)</a:t>
            </a:r>
            <a:endParaRPr lang="en-US" sz="950" dirty="0"/>
          </a:p>
          <a:p>
            <a:pPr algn="l" marL="342900" indent="-342900">
              <a:buSzPct val="100000"/>
              <a:buChar char="•"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management</a:t>
            </a:r>
            <a:endParaRPr lang="en-US" sz="950" dirty="0"/>
          </a:p>
          <a:p>
            <a:pPr algn="l" marL="342900" indent="-342900">
              <a:buSzPct val="100000"/>
              <a:buChar char="•"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types configuration</a:t>
            </a:r>
            <a:endParaRPr lang="en-US" sz="950" dirty="0"/>
          </a:p>
          <a:p>
            <a:pPr algn="l" marL="342900" indent="-342900">
              <a:buSzPct val="100000"/>
              <a:buChar char="•"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jobs monitor</a:t>
            </a:r>
            <a:endParaRPr lang="en-US" sz="950" dirty="0"/>
          </a:p>
          <a:p>
            <a:pPr algn="l" marL="342900" indent="-342900">
              <a:buSzPct val="100000"/>
              <a:buChar char="•"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registry &amp; admin console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016752" y="2788920"/>
            <a:ext cx="2633472" cy="2029968"/>
          </a:xfrm>
          <a:prstGeom prst="roundRect">
            <a:avLst>
              <a:gd name="adj" fmla="val 5405"/>
            </a:avLst>
          </a:prstGeom>
          <a:solidFill>
            <a:srgbClr val="F5F7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53912" y="2852928"/>
            <a:ext cx="23591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153912" y="3218688"/>
            <a:ext cx="2359152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services Dockerized</a:t>
            </a:r>
            <a:endParaRPr lang="en-US" sz="950" dirty="0"/>
          </a:p>
          <a:p>
            <a:pPr algn="l" marL="342900" indent="-342900">
              <a:buSzPct val="100000"/>
              <a:buChar char="•"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+ pgvector + Alembic</a:t>
            </a:r>
            <a:endParaRPr lang="en-US" sz="950" dirty="0"/>
          </a:p>
          <a:p>
            <a:pPr algn="l" marL="342900" indent="-342900">
              <a:buSzPct val="100000"/>
              <a:buChar char="•"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· RabbitMQ · MinIO</a:t>
            </a:r>
            <a:endParaRPr lang="en-US" sz="950" dirty="0"/>
          </a:p>
          <a:p>
            <a:pPr algn="l" marL="342900" indent="-342900">
              <a:buSzPct val="100000"/>
              <a:buChar char="•"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MLflow experiment tracking</a:t>
            </a:r>
            <a:endParaRPr lang="en-US" sz="950" dirty="0"/>
          </a:p>
          <a:p>
            <a:pPr algn="l" marL="342900" indent="-342900">
              <a:buSzPct val="100000"/>
              <a:buChar char="•"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suite (30+ modules)</a:t>
            </a:r>
            <a:endParaRPr lang="en-US" sz="950" dirty="0"/>
          </a:p>
          <a:p>
            <a:pPr algn="l" marL="342900" indent="-342900">
              <a:buSzPct val="100000"/>
              <a:buChar char="•"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Kubernetes-ready deployments</a:t>
            </a:r>
            <a:endParaRPr lang="en-US" sz="950" dirty="0"/>
          </a:p>
          <a:p>
            <a:pPr algn="l" marL="342900" indent="-342900">
              <a:buSzPct val="100000"/>
              <a:buChar char="•"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hygiene enforced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Analytics &amp; AI Chatbot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RAG pipeline over extracted data — SQL, vector search, and live NER inference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47472" y="1170432"/>
            <a:ext cx="265176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47472" y="1170432"/>
            <a:ext cx="2651760" cy="457200"/>
          </a:xfrm>
          <a:prstGeom prst="roundRect">
            <a:avLst>
              <a:gd name="adj" fmla="val 24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472" y="1444752"/>
            <a:ext cx="2651760" cy="2011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8912" y="11887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SQL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719072"/>
            <a:ext cx="24323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extracted entity tables directly. Aggregate, filter, export. Fast, exact answers over structured records.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200400" y="1170432"/>
            <a:ext cx="265176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0" y="1170432"/>
            <a:ext cx="2651760" cy="457200"/>
          </a:xfrm>
          <a:prstGeom prst="roundRect">
            <a:avLst>
              <a:gd name="adj" fmla="val 24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0" y="1444752"/>
            <a:ext cx="2651760" cy="2011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91840" y="11887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Search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310128" y="1719072"/>
            <a:ext cx="24323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pgvector semantic search over document embeddings. Retrieves relevant passages for context-rich answers.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170432"/>
            <a:ext cx="265176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53328" y="1170432"/>
            <a:ext cx="2651760" cy="457200"/>
          </a:xfrm>
          <a:prstGeom prst="roundRect">
            <a:avLst>
              <a:gd name="adj" fmla="val 24000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053328" y="1444752"/>
            <a:ext cx="2651760" cy="20116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44768" y="11887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NER Inference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163056" y="1719072"/>
            <a:ext cx="24323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entity extraction on query-time docs using the active tenant model. Every answer cites source span.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1115568" y="3200400"/>
            <a:ext cx="6912864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51960" y="309067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645920" y="3337560"/>
            <a:ext cx="5852160" cy="1024128"/>
          </a:xfrm>
          <a:prstGeom prst="roundRect">
            <a:avLst>
              <a:gd name="adj" fmla="val 10714"/>
            </a:avLst>
          </a:prstGeom>
          <a:solidFill>
            <a:srgbClr val="0891B2">
              <a:alpha val="90000"/>
            </a:srgbClr>
          </a:solidFill>
          <a:ln/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1645920" y="3401568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Chatbot Response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645920" y="3749040"/>
            <a:ext cx="5852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answer cites source document · entity type · confidence · model version  |  Tenant-scoped only  |  SQL validation layer blocks hallucination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0" y="4498848"/>
            <a:ext cx="3657600" cy="347472"/>
          </a:xfrm>
          <a:prstGeom prst="roundRect">
            <a:avLst>
              <a:gd name="adj" fmla="val 21053"/>
            </a:avLst>
          </a:prstGeom>
          <a:solidFill>
            <a:srgbClr val="DC2626">
              <a:alpha val="85000"/>
            </a:srgbClr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0" y="449884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Guardrails: block cross-tenant access · unsupported questions · unverified citations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Quality Targets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Measurable success criteria defined upfront for pilot and production deployments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47472" y="1143000"/>
            <a:ext cx="8449056" cy="365760"/>
          </a:xfrm>
          <a:prstGeom prst="roundRect">
            <a:avLst>
              <a:gd name="adj" fmla="val 15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75488" y="117043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3703320" y="1170432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321808" y="1170432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903720" y="1170432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7472" y="1572768"/>
            <a:ext cx="8449056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" y="167335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F1 Score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703320" y="1673352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0.80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321808" y="1673352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0.90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903720" y="1673352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Entity-level on tenant validation set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47472" y="2139696"/>
            <a:ext cx="8449056" cy="512064"/>
          </a:xfrm>
          <a:prstGeom prst="rect">
            <a:avLst/>
          </a:prstGeom>
          <a:solidFill>
            <a:srgbClr val="F0F4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5488" y="224028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Traceability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703320" y="224028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321808" y="224028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903720" y="224028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entity links to source span + model version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47472" y="2706624"/>
            <a:ext cx="8449056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" y="2807208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Review Reduction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703320" y="2807208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321808" y="2807208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60%+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903720" y="2807208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model feedback loop matures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47472" y="3273552"/>
            <a:ext cx="8449056" cy="512064"/>
          </a:xfrm>
          <a:prstGeom prst="rect">
            <a:avLst/>
          </a:prstGeom>
          <a:solidFill>
            <a:srgbClr val="F0F4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5488" y="3374136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 Response P95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3703320" y="3374136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15 s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321808" y="3374136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10 s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903720" y="3374136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report queries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47472" y="3840480"/>
            <a:ext cx="8449056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5488" y="3941064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Rollback Time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3703320" y="394106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30 min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5321808" y="394106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10 min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903720" y="3941064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active version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47472" y="4407408"/>
            <a:ext cx="8449056" cy="512064"/>
          </a:xfrm>
          <a:prstGeom prst="rect">
            <a:avLst/>
          </a:prstGeom>
          <a:solidFill>
            <a:srgbClr val="F0F4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" y="450799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Isolation Tests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3703320" y="4507992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pass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5321808" y="4507992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pass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6903720" y="4507992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cross-tenant access at any layer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Engineering Decisions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Architecture Decision Records — documented rationale for every significant technical choice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292608" y="1188720"/>
            <a:ext cx="2651760" cy="153619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02336" y="1298448"/>
            <a:ext cx="749808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02336" y="129844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02336" y="1645920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Schema-Per-Tenant Isolation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2336" y="2029968"/>
            <a:ext cx="24323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PostgreSQL schema per tenant with search_path enforcement. Isolation without per-database cost.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108960" y="1188720"/>
            <a:ext cx="2651760" cy="153619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18688" y="1298448"/>
            <a:ext cx="749808" cy="274320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18688" y="129844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218688" y="1645920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Curated Base Model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218688" y="2029968"/>
            <a:ext cx="24323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tenants fine-tune from dslim/bert-base-NER. No BYOM. Eliminates model compatibility matrix.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925312" y="1188720"/>
            <a:ext cx="2651760" cy="153619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35040" y="1298448"/>
            <a:ext cx="749808" cy="274320"/>
          </a:xfrm>
          <a:prstGeom prst="roundRect">
            <a:avLst>
              <a:gd name="adj" fmla="val 20000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35040" y="129844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035040" y="1645920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Pool + Tenant Routing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35040" y="2029968"/>
            <a:ext cx="24323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Tenant-aware routing with version pinning. Scale-to-zero for low-traffic tenants. Path to dedicated pods.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92608" y="2871216"/>
            <a:ext cx="2651760" cy="153619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02336" y="2980944"/>
            <a:ext cx="749808" cy="27432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02336" y="2980944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ADR-006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02336" y="3328416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Celery + GPU Workers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02336" y="3712464"/>
            <a:ext cx="24323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training jobs on K8s GPU node pools. Checkpoint-based resume. Scale-to-zero between training runs.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108960" y="2871216"/>
            <a:ext cx="2651760" cy="153619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218688" y="2980944"/>
            <a:ext cx="749808" cy="274320"/>
          </a:xfrm>
          <a:prstGeom prst="roundRect">
            <a:avLst>
              <a:gd name="adj" fmla="val 2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18688" y="2980944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ADR-007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218688" y="3328416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RAG + Guardrails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218688" y="3712464"/>
            <a:ext cx="24323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Three-source RAG: SQL + pgvector + NER. SQL validation layer. Source citations required. Tenant-scoped.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25312" y="2871216"/>
            <a:ext cx="2651760" cy="153619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035040" y="2980944"/>
            <a:ext cx="749808" cy="274320"/>
          </a:xfrm>
          <a:prstGeom prst="roundRect">
            <a:avLst>
              <a:gd name="adj" fmla="val 20000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35040" y="2980944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ADR-004/5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035040" y="3328416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AI Engineering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035040" y="3712464"/>
            <a:ext cx="24323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Mandatory OpenSpec gates before any code. Bounded AI agents (OpenCode) with human approval at every gate.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347472" y="960120"/>
            <a:ext cx="8449056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8EFFF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1271016"/>
            <a:ext cx="475488" cy="475488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5" name="Text 3"/>
          <p:cNvSpPr/>
          <p:nvPr/>
        </p:nvSpPr>
        <p:spPr>
          <a:xfrm>
            <a:off x="530352" y="12710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70432" y="1051560"/>
            <a:ext cx="7479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hard, end-to-end system — fully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70432" y="1417320"/>
            <a:ext cx="74797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NER from raw documents to governed production models to conversational analytics. A complete, complex pipeline designed, implemented, and shipped during the internship.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7472" y="2221992"/>
            <a:ext cx="8449056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8EFFF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30352" y="2532888"/>
            <a:ext cx="475488" cy="475488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2532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70432" y="2313432"/>
            <a:ext cx="7479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Enterprise-grade from day one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70432" y="2679192"/>
            <a:ext cx="74797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Isolation, audit logging, model versioning, rollback, observability, and governance designed in from the start — not retrofitted. Six ADRs document every trade-off.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47472" y="3483864"/>
            <a:ext cx="8449056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8EFFF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30352" y="3794760"/>
            <a:ext cx="475488" cy="475488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5" name="Text 13"/>
          <p:cNvSpPr/>
          <p:nvPr/>
        </p:nvSpPr>
        <p:spPr>
          <a:xfrm>
            <a:off x="530352" y="37947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70432" y="3575304"/>
            <a:ext cx="7479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delivery model: AI-native spec-driven development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70432" y="3941064"/>
            <a:ext cx="74797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feature followed proposal → design → spec → tasks → evidence → archive. AI agents implemented under human approval gates. A repeatable, auditable delivery pattern.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47365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A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 ·  Questions welcome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Multi-Tenant Custom NER Platform</dc:title>
  <dc:subject>PptxGenJS Presentation</dc:subject>
  <dc:creator>Theertha</dc:creator>
  <cp:lastModifiedBy>Theertha</cp:lastModifiedBy>
  <cp:revision>1</cp:revision>
  <dcterms:created xsi:type="dcterms:W3CDTF">2026-06-30T15:53:12Z</dcterms:created>
  <dcterms:modified xsi:type="dcterms:W3CDTF">2026-06-30T15:53:12Z</dcterms:modified>
</cp:coreProperties>
</file>