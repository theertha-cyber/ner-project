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5E"/>
        </a:solidFill>
      </p:bgPr>
    </p:bg>
    <p:spTree>
      <p:nvGrpSpPr>
        <p:cNvPr id="1" name=""/>
        <p:cNvGrpSpPr/>
        <p:nvPr/>
      </p:nvGrpSpPr>
      <p:grpSpPr>
        <a:xfrm>
          <a:off x="0" y="0"/>
          <a:ext cx="0" cy="0"/>
          <a:chOff x="0" y="0"/>
          <a:chExt cx="0" cy="0"/>
        </a:xfrm>
      </p:grpSpPr>
      <p:sp>
        <p:nvSpPr>
          <p:cNvPr id="2" name="Shape 0"/>
          <p:cNvSpPr/>
          <p:nvPr/>
        </p:nvSpPr>
        <p:spPr>
          <a:xfrm>
            <a:off x="6217920" y="-365760"/>
            <a:ext cx="3840480" cy="3840480"/>
          </a:xfrm>
          <a:prstGeom prst="ellipse">
            <a:avLst/>
          </a:prstGeom>
          <a:solidFill>
            <a:srgbClr val="E07820">
              <a:alpha val="12000"/>
            </a:srgbClr>
          </a:solidFill>
          <a:ln w="12700">
            <a:solidFill>
              <a:srgbClr val="E07820">
                <a:alpha val="12000"/>
              </a:srgbClr>
            </a:solidFill>
            <a:prstDash val="solid"/>
          </a:ln>
        </p:spPr>
      </p:sp>
      <p:sp>
        <p:nvSpPr>
          <p:cNvPr id="3" name="Shape 1"/>
          <p:cNvSpPr/>
          <p:nvPr/>
        </p:nvSpPr>
        <p:spPr>
          <a:xfrm>
            <a:off x="7498080" y="2286000"/>
            <a:ext cx="2560320" cy="2560320"/>
          </a:xfrm>
          <a:prstGeom prst="ellipse">
            <a:avLst/>
          </a:prstGeom>
          <a:solidFill>
            <a:srgbClr val="1464B8">
              <a:alpha val="22000"/>
            </a:srgbClr>
          </a:solidFill>
          <a:ln w="12700">
            <a:solidFill>
              <a:srgbClr val="1464B8">
                <a:alpha val="22000"/>
              </a:srgbClr>
            </a:solidFill>
            <a:prstDash val="solid"/>
          </a:ln>
        </p:spPr>
      </p:sp>
      <p:sp>
        <p:nvSpPr>
          <p:cNvPr id="4" name="Text 2"/>
          <p:cNvSpPr/>
          <p:nvPr/>
        </p:nvSpPr>
        <p:spPr>
          <a:xfrm>
            <a:off x="457200" y="640080"/>
            <a:ext cx="7132320" cy="2194560"/>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Multi-Tenant Custom</a:t>
            </a:r>
            <a:endParaRPr lang="en-US" sz="4400" dirty="0"/>
          </a:p>
          <a:p>
            <a:pPr algn="l" indent="0" marL="0">
              <a:buNone/>
            </a:pPr>
            <a:r>
              <a:rPr lang="en-US" sz="4400" b="1" dirty="0">
                <a:solidFill>
                  <a:srgbClr val="FFFFFF"/>
                </a:solidFill>
                <a:latin typeface="Cambria" pitchFamily="34" charset="0"/>
                <a:ea typeface="Cambria" pitchFamily="34" charset="-122"/>
                <a:cs typeface="Cambria" pitchFamily="34" charset="-120"/>
              </a:rPr>
              <a:t>NER Platform</a:t>
            </a:r>
            <a:endParaRPr lang="en-US" sz="4400" dirty="0"/>
          </a:p>
        </p:txBody>
      </p:sp>
      <p:sp>
        <p:nvSpPr>
          <p:cNvPr id="5" name="Shape 3"/>
          <p:cNvSpPr/>
          <p:nvPr/>
        </p:nvSpPr>
        <p:spPr>
          <a:xfrm>
            <a:off x="457200" y="2944368"/>
            <a:ext cx="1463040" cy="64008"/>
          </a:xfrm>
          <a:prstGeom prst="rect">
            <a:avLst/>
          </a:prstGeom>
          <a:solidFill>
            <a:srgbClr val="E07820"/>
          </a:solidFill>
          <a:ln w="12700">
            <a:solidFill>
              <a:srgbClr val="E07820"/>
            </a:solidFill>
            <a:prstDash val="solid"/>
          </a:ln>
        </p:spPr>
      </p:sp>
      <p:sp>
        <p:nvSpPr>
          <p:cNvPr id="6" name="Text 4"/>
          <p:cNvSpPr/>
          <p:nvPr/>
        </p:nvSpPr>
        <p:spPr>
          <a:xfrm>
            <a:off x="457200" y="3090672"/>
            <a:ext cx="7132320" cy="731520"/>
          </a:xfrm>
          <a:prstGeom prst="rect">
            <a:avLst/>
          </a:prstGeom>
          <a:noFill/>
          <a:ln/>
        </p:spPr>
        <p:txBody>
          <a:bodyPr wrap="square" lIns="0" tIns="0" rIns="0" bIns="0" rtlCol="0" anchor="ctr"/>
          <a:lstStyle/>
          <a:p>
            <a:pPr algn="l" indent="0" marL="0">
              <a:buNone/>
            </a:pPr>
            <a:r>
              <a:rPr lang="en-US" sz="1400" dirty="0">
                <a:solidFill>
                  <a:srgbClr val="CADCFC"/>
                </a:solidFill>
                <a:latin typeface="Calibri" pitchFamily="34" charset="0"/>
                <a:ea typeface="Calibri" pitchFamily="34" charset="-122"/>
                <a:cs typeface="Calibri" pitchFamily="34" charset="-120"/>
              </a:rPr>
              <a:t>AI-Native Document Intelligence Platform</a:t>
            </a:r>
            <a:endParaRPr lang="en-US" sz="1400" dirty="0"/>
          </a:p>
          <a:p>
            <a:pPr algn="l" indent="0" marL="0">
              <a:buNone/>
            </a:pPr>
            <a:r>
              <a:rPr lang="en-US" sz="1400" dirty="0">
                <a:solidFill>
                  <a:srgbClr val="CADCFC"/>
                </a:solidFill>
                <a:latin typeface="Calibri" pitchFamily="34" charset="0"/>
                <a:ea typeface="Calibri" pitchFamily="34" charset="-122"/>
                <a:cs typeface="Calibri" pitchFamily="34" charset="-120"/>
              </a:rPr>
              <a:t>for Multi-Tenant Custom Entity Extraction &amp; Conversational Reasoning</a:t>
            </a:r>
            <a:endParaRPr lang="en-US" sz="1400" dirty="0"/>
          </a:p>
        </p:txBody>
      </p:sp>
      <p:sp>
        <p:nvSpPr>
          <p:cNvPr id="7" name="Text 5"/>
          <p:cNvSpPr/>
          <p:nvPr/>
        </p:nvSpPr>
        <p:spPr>
          <a:xfrm>
            <a:off x="457200" y="4114800"/>
            <a:ext cx="5943600" cy="320040"/>
          </a:xfrm>
          <a:prstGeom prst="rect">
            <a:avLst/>
          </a:prstGeom>
          <a:noFill/>
          <a:ln/>
        </p:spPr>
        <p:txBody>
          <a:bodyPr wrap="square" lIns="0" tIns="0" rIns="0" bIns="0" rtlCol="0" anchor="ctr"/>
          <a:lstStyle/>
          <a:p>
            <a:pPr algn="l" indent="0" marL="0">
              <a:buNone/>
            </a:pPr>
            <a:r>
              <a:rPr lang="en-US" sz="1200" dirty="0">
                <a:solidFill>
                  <a:srgbClr val="8BAED4"/>
                </a:solidFill>
                <a:latin typeface="Calibri" pitchFamily="34" charset="0"/>
                <a:ea typeface="Calibri" pitchFamily="34" charset="-122"/>
                <a:cs typeface="Calibri" pitchFamily="34" charset="-120"/>
              </a:rPr>
              <a:t>Theertha  ·  Technology Intern, InApp  ·  July 2026</a:t>
            </a:r>
            <a:endParaRPr lang="en-US" sz="1200" dirty="0"/>
          </a:p>
        </p:txBody>
      </p:sp>
      <p:sp>
        <p:nvSpPr>
          <p:cNvPr id="8" name="Shape 6"/>
          <p:cNvSpPr/>
          <p:nvPr/>
        </p:nvSpPr>
        <p:spPr>
          <a:xfrm>
            <a:off x="7223760" y="4069080"/>
            <a:ext cx="1508760" cy="347472"/>
          </a:xfrm>
          <a:prstGeom prst="roundRect">
            <a:avLst>
              <a:gd name="adj" fmla="val 15789"/>
            </a:avLst>
          </a:prstGeom>
          <a:solidFill>
            <a:srgbClr val="E07820"/>
          </a:solidFill>
          <a:ln w="12700">
            <a:solidFill>
              <a:srgbClr val="E07820"/>
            </a:solidFill>
            <a:prstDash val="solid"/>
          </a:ln>
        </p:spPr>
      </p:sp>
      <p:sp>
        <p:nvSpPr>
          <p:cNvPr id="9" name="Text 7"/>
          <p:cNvSpPr/>
          <p:nvPr/>
        </p:nvSpPr>
        <p:spPr>
          <a:xfrm>
            <a:off x="7223760" y="4069080"/>
            <a:ext cx="1508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InApp</a:t>
            </a:r>
            <a:endParaRPr lang="en-US" sz="1300" dirty="0"/>
          </a:p>
        </p:txBody>
      </p:sp>
      <p:sp>
        <p:nvSpPr>
          <p:cNvPr id="10" name="Shape 8"/>
          <p:cNvSpPr/>
          <p:nvPr/>
        </p:nvSpPr>
        <p:spPr>
          <a:xfrm>
            <a:off x="0" y="4846320"/>
            <a:ext cx="9144000" cy="118872"/>
          </a:xfrm>
          <a:prstGeom prst="rect">
            <a:avLst/>
          </a:prstGeom>
          <a:solidFill>
            <a:srgbClr val="E07820"/>
          </a:solidFill>
          <a:ln w="12700">
            <a:solidFill>
              <a:srgbClr val="E0782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D"/>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3200" b="1" dirty="0">
                <a:solidFill>
                  <a:srgbClr val="0B2A5E"/>
                </a:solidFill>
                <a:latin typeface="Cambria" pitchFamily="34" charset="0"/>
                <a:ea typeface="Cambria" pitchFamily="34" charset="-122"/>
                <a:cs typeface="Cambria" pitchFamily="34" charset="-120"/>
              </a:rPr>
              <a:t>The Problem</a:t>
            </a:r>
            <a:endParaRPr lang="en-US" sz="32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algn="l" indent="0" marL="0">
              <a:buNone/>
            </a:pPr>
            <a:r>
              <a:rPr lang="en-US" sz="1300" dirty="0">
                <a:solidFill>
                  <a:srgbClr val="4B5563"/>
                </a:solidFill>
                <a:latin typeface="Calibri" pitchFamily="34" charset="0"/>
                <a:ea typeface="Calibri" pitchFamily="34" charset="-122"/>
                <a:cs typeface="Calibri" pitchFamily="34" charset="-120"/>
              </a:rPr>
              <a:t>Enterprise NLP today is fragmented, generic, and untraceable</a:t>
            </a:r>
            <a:endParaRPr lang="en-US" sz="1300" dirty="0"/>
          </a:p>
        </p:txBody>
      </p:sp>
      <p:sp>
        <p:nvSpPr>
          <p:cNvPr id="4" name="Shape 2"/>
          <p:cNvSpPr/>
          <p:nvPr/>
        </p:nvSpPr>
        <p:spPr>
          <a:xfrm>
            <a:off x="384048" y="1261872"/>
            <a:ext cx="8375904" cy="1005840"/>
          </a:xfrm>
          <a:prstGeom prst="roundRect">
            <a:avLst>
              <a:gd name="adj" fmla="val 9091"/>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5" name="Shape 3"/>
          <p:cNvSpPr/>
          <p:nvPr/>
        </p:nvSpPr>
        <p:spPr>
          <a:xfrm>
            <a:off x="502920" y="1490472"/>
            <a:ext cx="475488" cy="475488"/>
          </a:xfrm>
          <a:prstGeom prst="roundRect">
            <a:avLst>
              <a:gd name="adj" fmla="val 15385"/>
            </a:avLst>
          </a:prstGeom>
          <a:solidFill>
            <a:srgbClr val="E07820"/>
          </a:solidFill>
          <a:ln w="12700">
            <a:solidFill>
              <a:srgbClr val="E07820"/>
            </a:solidFill>
            <a:prstDash val="solid"/>
          </a:ln>
        </p:spPr>
      </p:sp>
      <p:sp>
        <p:nvSpPr>
          <p:cNvPr id="6" name="Text 4"/>
          <p:cNvSpPr/>
          <p:nvPr/>
        </p:nvSpPr>
        <p:spPr>
          <a:xfrm>
            <a:off x="502920" y="149047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115568" y="1371600"/>
            <a:ext cx="7242048" cy="320040"/>
          </a:xfrm>
          <a:prstGeom prst="rect">
            <a:avLst/>
          </a:prstGeom>
          <a:noFill/>
          <a:ln/>
        </p:spPr>
        <p:txBody>
          <a:bodyPr wrap="square" lIns="0" tIns="0" rIns="0" bIns="0" rtlCol="0" anchor="ctr"/>
          <a:lstStyle/>
          <a:p>
            <a:pPr algn="l" indent="0" marL="0">
              <a:buNone/>
            </a:pPr>
            <a:r>
              <a:rPr lang="en-US" sz="1400" b="1" dirty="0">
                <a:solidFill>
                  <a:srgbClr val="0B2A5E"/>
                </a:solidFill>
                <a:latin typeface="Calibri" pitchFamily="34" charset="0"/>
                <a:ea typeface="Calibri" pitchFamily="34" charset="-122"/>
                <a:cs typeface="Calibri" pitchFamily="34" charset="-120"/>
              </a:rPr>
              <a:t>Generic Models, Custom Needs</a:t>
            </a:r>
            <a:endParaRPr lang="en-US" sz="1400" dirty="0"/>
          </a:p>
        </p:txBody>
      </p:sp>
      <p:sp>
        <p:nvSpPr>
          <p:cNvPr id="8" name="Text 6"/>
          <p:cNvSpPr/>
          <p:nvPr/>
        </p:nvSpPr>
        <p:spPr>
          <a:xfrm>
            <a:off x="1115568" y="1719072"/>
            <a:ext cx="7242048" cy="475488"/>
          </a:xfrm>
          <a:prstGeom prst="rect">
            <a:avLst/>
          </a:prstGeom>
          <a:noFill/>
          <a:ln/>
        </p:spPr>
        <p:txBody>
          <a:bodyPr wrap="square" lIns="0" tIns="0" rIns="0" bIns="0" rtlCol="0" anchor="ctr"/>
          <a:lstStyle/>
          <a:p>
            <a:pPr algn="l" indent="0" marL="0">
              <a:buNone/>
            </a:pPr>
            <a:r>
              <a:rPr lang="en-US" sz="1200" dirty="0">
                <a:solidFill>
                  <a:srgbClr val="4B5563"/>
                </a:solidFill>
                <a:latin typeface="Calibri" pitchFamily="34" charset="0"/>
                <a:ea typeface="Calibri" pitchFamily="34" charset="-122"/>
                <a:cs typeface="Calibri" pitchFamily="34" charset="-120"/>
              </a:rPr>
              <a:t>Off-the-shelf NER models recognise only standard classes (person, org, location). Enterprises need domain-specific entities — contract clauses, medical codes, product SKUs, financial identifiers — that no generic model knows.</a:t>
            </a:r>
            <a:endParaRPr lang="en-US" sz="1200" dirty="0"/>
          </a:p>
        </p:txBody>
      </p:sp>
      <p:sp>
        <p:nvSpPr>
          <p:cNvPr id="9" name="Shape 7"/>
          <p:cNvSpPr/>
          <p:nvPr/>
        </p:nvSpPr>
        <p:spPr>
          <a:xfrm>
            <a:off x="384048" y="2395728"/>
            <a:ext cx="8375904" cy="1005840"/>
          </a:xfrm>
          <a:prstGeom prst="roundRect">
            <a:avLst>
              <a:gd name="adj" fmla="val 9091"/>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10" name="Shape 8"/>
          <p:cNvSpPr/>
          <p:nvPr/>
        </p:nvSpPr>
        <p:spPr>
          <a:xfrm>
            <a:off x="502920" y="2624328"/>
            <a:ext cx="475488" cy="475488"/>
          </a:xfrm>
          <a:prstGeom prst="roundRect">
            <a:avLst>
              <a:gd name="adj" fmla="val 15385"/>
            </a:avLst>
          </a:prstGeom>
          <a:solidFill>
            <a:srgbClr val="E07820"/>
          </a:solidFill>
          <a:ln w="12700">
            <a:solidFill>
              <a:srgbClr val="E07820"/>
            </a:solidFill>
            <a:prstDash val="solid"/>
          </a:ln>
        </p:spPr>
      </p:sp>
      <p:sp>
        <p:nvSpPr>
          <p:cNvPr id="11" name="Text 9"/>
          <p:cNvSpPr/>
          <p:nvPr/>
        </p:nvSpPr>
        <p:spPr>
          <a:xfrm>
            <a:off x="502920" y="262432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1115568" y="2505456"/>
            <a:ext cx="7242048" cy="320040"/>
          </a:xfrm>
          <a:prstGeom prst="rect">
            <a:avLst/>
          </a:prstGeom>
          <a:noFill/>
          <a:ln/>
        </p:spPr>
        <p:txBody>
          <a:bodyPr wrap="square" lIns="0" tIns="0" rIns="0" bIns="0" rtlCol="0" anchor="ctr"/>
          <a:lstStyle/>
          <a:p>
            <a:pPr algn="l" indent="0" marL="0">
              <a:buNone/>
            </a:pPr>
            <a:r>
              <a:rPr lang="en-US" sz="1400" b="1" dirty="0">
                <a:solidFill>
                  <a:srgbClr val="0B2A5E"/>
                </a:solidFill>
                <a:latin typeface="Calibri" pitchFamily="34" charset="0"/>
                <a:ea typeface="Calibri" pitchFamily="34" charset="-122"/>
                <a:cs typeface="Calibri" pitchFamily="34" charset="-120"/>
              </a:rPr>
              <a:t>No Isolation, No Trust</a:t>
            </a:r>
            <a:endParaRPr lang="en-US" sz="1400" dirty="0"/>
          </a:p>
        </p:txBody>
      </p:sp>
      <p:sp>
        <p:nvSpPr>
          <p:cNvPr id="13" name="Text 11"/>
          <p:cNvSpPr/>
          <p:nvPr/>
        </p:nvSpPr>
        <p:spPr>
          <a:xfrm>
            <a:off x="1115568" y="2852928"/>
            <a:ext cx="7242048" cy="475488"/>
          </a:xfrm>
          <a:prstGeom prst="rect">
            <a:avLst/>
          </a:prstGeom>
          <a:noFill/>
          <a:ln/>
        </p:spPr>
        <p:txBody>
          <a:bodyPr wrap="square" lIns="0" tIns="0" rIns="0" bIns="0" rtlCol="0" anchor="ctr"/>
          <a:lstStyle/>
          <a:p>
            <a:pPr algn="l" indent="0" marL="0">
              <a:buNone/>
            </a:pPr>
            <a:r>
              <a:rPr lang="en-US" sz="1200" dirty="0">
                <a:solidFill>
                  <a:srgbClr val="4B5563"/>
                </a:solidFill>
                <a:latin typeface="Calibri" pitchFamily="34" charset="0"/>
                <a:ea typeface="Calibri" pitchFamily="34" charset="-122"/>
                <a:cs typeface="Calibri" pitchFamily="34" charset="-120"/>
              </a:rPr>
              <a:t>Shared models and shared databases create data-leakage risk. Healthcare, finance, and legal tenants cannot share infrastructure. True multi-tenant enterprise NLP demands hard data and model isolation at every layer.</a:t>
            </a:r>
            <a:endParaRPr lang="en-US" sz="1200" dirty="0"/>
          </a:p>
        </p:txBody>
      </p:sp>
      <p:sp>
        <p:nvSpPr>
          <p:cNvPr id="14" name="Shape 12"/>
          <p:cNvSpPr/>
          <p:nvPr/>
        </p:nvSpPr>
        <p:spPr>
          <a:xfrm>
            <a:off x="384048" y="3529584"/>
            <a:ext cx="8375904" cy="1005840"/>
          </a:xfrm>
          <a:prstGeom prst="roundRect">
            <a:avLst>
              <a:gd name="adj" fmla="val 9091"/>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15" name="Shape 13"/>
          <p:cNvSpPr/>
          <p:nvPr/>
        </p:nvSpPr>
        <p:spPr>
          <a:xfrm>
            <a:off x="502920" y="3758184"/>
            <a:ext cx="475488" cy="475488"/>
          </a:xfrm>
          <a:prstGeom prst="roundRect">
            <a:avLst>
              <a:gd name="adj" fmla="val 15385"/>
            </a:avLst>
          </a:prstGeom>
          <a:solidFill>
            <a:srgbClr val="E07820"/>
          </a:solidFill>
          <a:ln w="12700">
            <a:solidFill>
              <a:srgbClr val="E07820"/>
            </a:solidFill>
            <a:prstDash val="solid"/>
          </a:ln>
        </p:spPr>
      </p:sp>
      <p:sp>
        <p:nvSpPr>
          <p:cNvPr id="16" name="Text 14"/>
          <p:cNvSpPr/>
          <p:nvPr/>
        </p:nvSpPr>
        <p:spPr>
          <a:xfrm>
            <a:off x="502920" y="3758184"/>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1115568" y="3639312"/>
            <a:ext cx="7242048" cy="320040"/>
          </a:xfrm>
          <a:prstGeom prst="rect">
            <a:avLst/>
          </a:prstGeom>
          <a:noFill/>
          <a:ln/>
        </p:spPr>
        <p:txBody>
          <a:bodyPr wrap="square" lIns="0" tIns="0" rIns="0" bIns="0" rtlCol="0" anchor="ctr"/>
          <a:lstStyle/>
          <a:p>
            <a:pPr algn="l" indent="0" marL="0">
              <a:buNone/>
            </a:pPr>
            <a:r>
              <a:rPr lang="en-US" sz="1400" b="1" dirty="0">
                <a:solidFill>
                  <a:srgbClr val="0B2A5E"/>
                </a:solidFill>
                <a:latin typeface="Calibri" pitchFamily="34" charset="0"/>
                <a:ea typeface="Calibri" pitchFamily="34" charset="-122"/>
                <a:cs typeface="Calibri" pitchFamily="34" charset="-120"/>
              </a:rPr>
              <a:t>Black-Box Extraction</a:t>
            </a:r>
            <a:endParaRPr lang="en-US" sz="1400" dirty="0"/>
          </a:p>
        </p:txBody>
      </p:sp>
      <p:sp>
        <p:nvSpPr>
          <p:cNvPr id="18" name="Text 16"/>
          <p:cNvSpPr/>
          <p:nvPr/>
        </p:nvSpPr>
        <p:spPr>
          <a:xfrm>
            <a:off x="1115568" y="3986784"/>
            <a:ext cx="7242048" cy="475488"/>
          </a:xfrm>
          <a:prstGeom prst="rect">
            <a:avLst/>
          </a:prstGeom>
          <a:noFill/>
          <a:ln/>
        </p:spPr>
        <p:txBody>
          <a:bodyPr wrap="square" lIns="0" tIns="0" rIns="0" bIns="0" rtlCol="0" anchor="ctr"/>
          <a:lstStyle/>
          <a:p>
            <a:pPr algn="l" indent="0" marL="0">
              <a:buNone/>
            </a:pPr>
            <a:r>
              <a:rPr lang="en-US" sz="1200" dirty="0">
                <a:solidFill>
                  <a:srgbClr val="4B5563"/>
                </a:solidFill>
                <a:latin typeface="Calibri" pitchFamily="34" charset="0"/>
                <a:ea typeface="Calibri" pitchFamily="34" charset="-122"/>
                <a:cs typeface="Calibri" pitchFamily="34" charset="-120"/>
              </a:rPr>
              <a:t>Existing tools produce entity values with no source traceability, no model versioning, no approval workflow. When results are wrong there is no audit trail, no rollback, and no mechanism to improve the model over time.</a:t>
            </a:r>
            <a:endParaRPr lang="en-US" sz="1200" dirty="0"/>
          </a:p>
        </p:txBody>
      </p:sp>
      <p:sp>
        <p:nvSpPr>
          <p:cNvPr id="19" name="Shape 17"/>
          <p:cNvSpPr/>
          <p:nvPr/>
        </p:nvSpPr>
        <p:spPr>
          <a:xfrm>
            <a:off x="0" y="4956048"/>
            <a:ext cx="9144000" cy="59436"/>
          </a:xfrm>
          <a:prstGeom prst="rect">
            <a:avLst/>
          </a:prstGeom>
          <a:solidFill>
            <a:srgbClr val="E07820"/>
          </a:solidFill>
          <a:ln w="12700">
            <a:solidFill>
              <a:srgbClr val="E07820"/>
            </a:solidFill>
            <a:prstDash val="solid"/>
          </a:ln>
        </p:spPr>
      </p:sp>
      <p:sp>
        <p:nvSpPr>
          <p:cNvPr id="20" name="Text 18"/>
          <p:cNvSpPr/>
          <p:nvPr/>
        </p:nvSpPr>
        <p:spPr>
          <a:xfrm>
            <a:off x="365760" y="5020056"/>
            <a:ext cx="8412480" cy="182880"/>
          </a:xfrm>
          <a:prstGeom prst="rect">
            <a:avLst/>
          </a:prstGeom>
          <a:noFill/>
          <a:ln/>
        </p:spPr>
        <p:txBody>
          <a:bodyPr wrap="square" lIns="0" tIns="0" rIns="0" bIns="0" rtlCol="0" anchor="ctr"/>
          <a:lstStyle/>
          <a:p>
            <a:pPr algn="l" indent="0" marL="0">
              <a:buNone/>
            </a:pPr>
            <a:r>
              <a:rPr lang="en-US" sz="850" dirty="0">
                <a:solidFill>
                  <a:srgbClr val="4B5563"/>
                </a:solidFill>
                <a:latin typeface="Calibri" pitchFamily="34" charset="0"/>
                <a:ea typeface="Calibri" pitchFamily="34" charset="-122"/>
                <a:cs typeface="Calibri" pitchFamily="34" charset="-120"/>
              </a:rPr>
              <a:t>InApp  |  Multi-Tenant Custom NER Platform</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4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3200" b="1" dirty="0">
                <a:solidFill>
                  <a:srgbClr val="0B2A5E"/>
                </a:solidFill>
                <a:latin typeface="Cambria" pitchFamily="34" charset="0"/>
                <a:ea typeface="Cambria" pitchFamily="34" charset="-122"/>
                <a:cs typeface="Cambria" pitchFamily="34" charset="-120"/>
              </a:rPr>
              <a:t>The Solution</a:t>
            </a:r>
            <a:endParaRPr lang="en-US" sz="32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algn="l" indent="0" marL="0">
              <a:buNone/>
            </a:pPr>
            <a:r>
              <a:rPr lang="en-US" sz="1300" dirty="0">
                <a:solidFill>
                  <a:srgbClr val="4B5563"/>
                </a:solidFill>
                <a:latin typeface="Calibri" pitchFamily="34" charset="0"/>
                <a:ea typeface="Calibri" pitchFamily="34" charset="-122"/>
                <a:cs typeface="Calibri" pitchFamily="34" charset="-120"/>
              </a:rPr>
              <a:t>A complete multi-tenant platform: custom entity definition → annotation → training → extraction → reasoning</a:t>
            </a:r>
            <a:endParaRPr lang="en-US" sz="1300" dirty="0"/>
          </a:p>
        </p:txBody>
      </p:sp>
      <p:sp>
        <p:nvSpPr>
          <p:cNvPr id="4" name="Shape 2"/>
          <p:cNvSpPr/>
          <p:nvPr/>
        </p:nvSpPr>
        <p:spPr>
          <a:xfrm>
            <a:off x="347472" y="1261872"/>
            <a:ext cx="2697480" cy="1572768"/>
          </a:xfrm>
          <a:prstGeom prst="roundRect">
            <a:avLst>
              <a:gd name="adj" fmla="val 6977"/>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5" name="Shape 3"/>
          <p:cNvSpPr/>
          <p:nvPr/>
        </p:nvSpPr>
        <p:spPr>
          <a:xfrm>
            <a:off x="347472" y="1261872"/>
            <a:ext cx="2697480" cy="402336"/>
          </a:xfrm>
          <a:prstGeom prst="roundRect">
            <a:avLst>
              <a:gd name="adj" fmla="val 27273"/>
            </a:avLst>
          </a:prstGeom>
          <a:solidFill>
            <a:srgbClr val="0B2A5E"/>
          </a:solidFill>
          <a:ln w="12700">
            <a:solidFill>
              <a:srgbClr val="0B2A5E"/>
            </a:solidFill>
            <a:prstDash val="solid"/>
          </a:ln>
        </p:spPr>
      </p:sp>
      <p:sp>
        <p:nvSpPr>
          <p:cNvPr id="6" name="Shape 4"/>
          <p:cNvSpPr/>
          <p:nvPr/>
        </p:nvSpPr>
        <p:spPr>
          <a:xfrm>
            <a:off x="347472" y="1517904"/>
            <a:ext cx="2697480" cy="146304"/>
          </a:xfrm>
          <a:prstGeom prst="rect">
            <a:avLst/>
          </a:prstGeom>
          <a:solidFill>
            <a:srgbClr val="0B2A5E"/>
          </a:solidFill>
          <a:ln w="12700">
            <a:solidFill>
              <a:srgbClr val="0B2A5E"/>
            </a:solidFill>
            <a:prstDash val="solid"/>
          </a:ln>
        </p:spPr>
      </p:sp>
      <p:sp>
        <p:nvSpPr>
          <p:cNvPr id="7" name="Text 5"/>
          <p:cNvSpPr/>
          <p:nvPr/>
        </p:nvSpPr>
        <p:spPr>
          <a:xfrm>
            <a:off x="475488" y="1353312"/>
            <a:ext cx="2441448" cy="25603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Per-Tenant Entity Config</a:t>
            </a:r>
            <a:endParaRPr lang="en-US" sz="1150" dirty="0"/>
          </a:p>
        </p:txBody>
      </p:sp>
      <p:sp>
        <p:nvSpPr>
          <p:cNvPr id="8" name="Text 6"/>
          <p:cNvSpPr/>
          <p:nvPr/>
        </p:nvSpPr>
        <p:spPr>
          <a:xfrm>
            <a:off x="475488" y="1755648"/>
            <a:ext cx="2441448" cy="950976"/>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Each tenant defines custom entity types with examples, validation rules, aliases, and target DB mappings. Versioned and auditable.</a:t>
            </a:r>
            <a:endParaRPr lang="en-US" sz="1100" dirty="0"/>
          </a:p>
        </p:txBody>
      </p:sp>
      <p:sp>
        <p:nvSpPr>
          <p:cNvPr id="9" name="Shape 7"/>
          <p:cNvSpPr/>
          <p:nvPr/>
        </p:nvSpPr>
        <p:spPr>
          <a:xfrm>
            <a:off x="3154680" y="1261872"/>
            <a:ext cx="2697480" cy="1572768"/>
          </a:xfrm>
          <a:prstGeom prst="roundRect">
            <a:avLst>
              <a:gd name="adj" fmla="val 6977"/>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10" name="Shape 8"/>
          <p:cNvSpPr/>
          <p:nvPr/>
        </p:nvSpPr>
        <p:spPr>
          <a:xfrm>
            <a:off x="3154680" y="1261872"/>
            <a:ext cx="2697480" cy="402336"/>
          </a:xfrm>
          <a:prstGeom prst="roundRect">
            <a:avLst>
              <a:gd name="adj" fmla="val 27273"/>
            </a:avLst>
          </a:prstGeom>
          <a:solidFill>
            <a:srgbClr val="1464B8"/>
          </a:solidFill>
          <a:ln w="12700">
            <a:solidFill>
              <a:srgbClr val="1464B8"/>
            </a:solidFill>
            <a:prstDash val="solid"/>
          </a:ln>
        </p:spPr>
      </p:sp>
      <p:sp>
        <p:nvSpPr>
          <p:cNvPr id="11" name="Shape 9"/>
          <p:cNvSpPr/>
          <p:nvPr/>
        </p:nvSpPr>
        <p:spPr>
          <a:xfrm>
            <a:off x="3154680" y="1517904"/>
            <a:ext cx="2697480" cy="146304"/>
          </a:xfrm>
          <a:prstGeom prst="rect">
            <a:avLst/>
          </a:prstGeom>
          <a:solidFill>
            <a:srgbClr val="1464B8"/>
          </a:solidFill>
          <a:ln w="12700">
            <a:solidFill>
              <a:srgbClr val="1464B8"/>
            </a:solidFill>
            <a:prstDash val="solid"/>
          </a:ln>
        </p:spPr>
      </p:sp>
      <p:sp>
        <p:nvSpPr>
          <p:cNvPr id="12" name="Text 10"/>
          <p:cNvSpPr/>
          <p:nvPr/>
        </p:nvSpPr>
        <p:spPr>
          <a:xfrm>
            <a:off x="3282696" y="1353312"/>
            <a:ext cx="2441448" cy="25603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Multi-Format Ingestion</a:t>
            </a:r>
            <a:endParaRPr lang="en-US" sz="1150" dirty="0"/>
          </a:p>
        </p:txBody>
      </p:sp>
      <p:sp>
        <p:nvSpPr>
          <p:cNvPr id="13" name="Text 11"/>
          <p:cNvSpPr/>
          <p:nvPr/>
        </p:nvSpPr>
        <p:spPr>
          <a:xfrm>
            <a:off x="3282696" y="1755648"/>
            <a:ext cx="2441448" cy="950976"/>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PDF, DOCX, images, CSV. Async OCR pipeline via Tesseract. Every document parsed to token offsets with page-level traceability.</a:t>
            </a:r>
            <a:endParaRPr lang="en-US" sz="1100" dirty="0"/>
          </a:p>
        </p:txBody>
      </p:sp>
      <p:sp>
        <p:nvSpPr>
          <p:cNvPr id="14" name="Shape 12"/>
          <p:cNvSpPr/>
          <p:nvPr/>
        </p:nvSpPr>
        <p:spPr>
          <a:xfrm>
            <a:off x="5961888" y="1261872"/>
            <a:ext cx="2697480" cy="1572768"/>
          </a:xfrm>
          <a:prstGeom prst="roundRect">
            <a:avLst>
              <a:gd name="adj" fmla="val 6977"/>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15" name="Shape 13"/>
          <p:cNvSpPr/>
          <p:nvPr/>
        </p:nvSpPr>
        <p:spPr>
          <a:xfrm>
            <a:off x="5961888" y="1261872"/>
            <a:ext cx="2697480" cy="402336"/>
          </a:xfrm>
          <a:prstGeom prst="roundRect">
            <a:avLst>
              <a:gd name="adj" fmla="val 27273"/>
            </a:avLst>
          </a:prstGeom>
          <a:solidFill>
            <a:srgbClr val="0E7490"/>
          </a:solidFill>
          <a:ln w="12700">
            <a:solidFill>
              <a:srgbClr val="0E7490"/>
            </a:solidFill>
            <a:prstDash val="solid"/>
          </a:ln>
        </p:spPr>
      </p:sp>
      <p:sp>
        <p:nvSpPr>
          <p:cNvPr id="16" name="Shape 14"/>
          <p:cNvSpPr/>
          <p:nvPr/>
        </p:nvSpPr>
        <p:spPr>
          <a:xfrm>
            <a:off x="5961888" y="1517904"/>
            <a:ext cx="2697480" cy="146304"/>
          </a:xfrm>
          <a:prstGeom prst="rect">
            <a:avLst/>
          </a:prstGeom>
          <a:solidFill>
            <a:srgbClr val="0E7490"/>
          </a:solidFill>
          <a:ln w="12700">
            <a:solidFill>
              <a:srgbClr val="0E7490"/>
            </a:solidFill>
            <a:prstDash val="solid"/>
          </a:ln>
        </p:spPr>
      </p:sp>
      <p:sp>
        <p:nvSpPr>
          <p:cNvPr id="17" name="Text 15"/>
          <p:cNvSpPr/>
          <p:nvPr/>
        </p:nvSpPr>
        <p:spPr>
          <a:xfrm>
            <a:off x="6089904" y="1353312"/>
            <a:ext cx="2441448" cy="25603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AI-Assisted Annotation</a:t>
            </a:r>
            <a:endParaRPr lang="en-US" sz="1150" dirty="0"/>
          </a:p>
        </p:txBody>
      </p:sp>
      <p:sp>
        <p:nvSpPr>
          <p:cNvPr id="18" name="Text 16"/>
          <p:cNvSpPr/>
          <p:nvPr/>
        </p:nvSpPr>
        <p:spPr>
          <a:xfrm>
            <a:off x="6089904" y="1755648"/>
            <a:ext cx="2441448" cy="950976"/>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Pre-labeling from dslim/bert-base-NER reduces annotation time. Human reviewer approves spans; BIO/IOB2 export to training pipeline.</a:t>
            </a:r>
            <a:endParaRPr lang="en-US" sz="1100" dirty="0"/>
          </a:p>
        </p:txBody>
      </p:sp>
      <p:sp>
        <p:nvSpPr>
          <p:cNvPr id="19" name="Shape 17"/>
          <p:cNvSpPr/>
          <p:nvPr/>
        </p:nvSpPr>
        <p:spPr>
          <a:xfrm>
            <a:off x="347472" y="2980944"/>
            <a:ext cx="2697480" cy="1572768"/>
          </a:xfrm>
          <a:prstGeom prst="roundRect">
            <a:avLst>
              <a:gd name="adj" fmla="val 6977"/>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20" name="Shape 18"/>
          <p:cNvSpPr/>
          <p:nvPr/>
        </p:nvSpPr>
        <p:spPr>
          <a:xfrm>
            <a:off x="347472" y="2980944"/>
            <a:ext cx="2697480" cy="402336"/>
          </a:xfrm>
          <a:prstGeom prst="roundRect">
            <a:avLst>
              <a:gd name="adj" fmla="val 27273"/>
            </a:avLst>
          </a:prstGeom>
          <a:solidFill>
            <a:srgbClr val="E07820"/>
          </a:solidFill>
          <a:ln w="12700">
            <a:solidFill>
              <a:srgbClr val="E07820"/>
            </a:solidFill>
            <a:prstDash val="solid"/>
          </a:ln>
        </p:spPr>
      </p:sp>
      <p:sp>
        <p:nvSpPr>
          <p:cNvPr id="21" name="Shape 19"/>
          <p:cNvSpPr/>
          <p:nvPr/>
        </p:nvSpPr>
        <p:spPr>
          <a:xfrm>
            <a:off x="347472" y="3236976"/>
            <a:ext cx="2697480" cy="146304"/>
          </a:xfrm>
          <a:prstGeom prst="rect">
            <a:avLst/>
          </a:prstGeom>
          <a:solidFill>
            <a:srgbClr val="E07820"/>
          </a:solidFill>
          <a:ln w="12700">
            <a:solidFill>
              <a:srgbClr val="E07820"/>
            </a:solidFill>
            <a:prstDash val="solid"/>
          </a:ln>
        </p:spPr>
      </p:sp>
      <p:sp>
        <p:nvSpPr>
          <p:cNvPr id="22" name="Text 20"/>
          <p:cNvSpPr/>
          <p:nvPr/>
        </p:nvSpPr>
        <p:spPr>
          <a:xfrm>
            <a:off x="475488" y="3072384"/>
            <a:ext cx="2441448" cy="25603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Custom BERT Fine-Tuning</a:t>
            </a:r>
            <a:endParaRPr lang="en-US" sz="1150" dirty="0"/>
          </a:p>
        </p:txBody>
      </p:sp>
      <p:sp>
        <p:nvSpPr>
          <p:cNvPr id="23" name="Text 21"/>
          <p:cNvSpPr/>
          <p:nvPr/>
        </p:nvSpPr>
        <p:spPr>
          <a:xfrm>
            <a:off x="475488" y="3474720"/>
            <a:ext cx="2441448" cy="950976"/>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Async GPU training via Celery + RabbitMQ on K8s GPU node pools. MLflow tracks every run — params, metrics, artifacts, lineage.</a:t>
            </a:r>
            <a:endParaRPr lang="en-US" sz="1100" dirty="0"/>
          </a:p>
        </p:txBody>
      </p:sp>
      <p:sp>
        <p:nvSpPr>
          <p:cNvPr id="24" name="Shape 22"/>
          <p:cNvSpPr/>
          <p:nvPr/>
        </p:nvSpPr>
        <p:spPr>
          <a:xfrm>
            <a:off x="3154680" y="2980944"/>
            <a:ext cx="2697480" cy="1572768"/>
          </a:xfrm>
          <a:prstGeom prst="roundRect">
            <a:avLst>
              <a:gd name="adj" fmla="val 6977"/>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25" name="Shape 23"/>
          <p:cNvSpPr/>
          <p:nvPr/>
        </p:nvSpPr>
        <p:spPr>
          <a:xfrm>
            <a:off x="3154680" y="2980944"/>
            <a:ext cx="2697480" cy="402336"/>
          </a:xfrm>
          <a:prstGeom prst="roundRect">
            <a:avLst>
              <a:gd name="adj" fmla="val 27273"/>
            </a:avLst>
          </a:prstGeom>
          <a:solidFill>
            <a:srgbClr val="047857"/>
          </a:solidFill>
          <a:ln w="12700">
            <a:solidFill>
              <a:srgbClr val="047857"/>
            </a:solidFill>
            <a:prstDash val="solid"/>
          </a:ln>
        </p:spPr>
      </p:sp>
      <p:sp>
        <p:nvSpPr>
          <p:cNvPr id="26" name="Shape 24"/>
          <p:cNvSpPr/>
          <p:nvPr/>
        </p:nvSpPr>
        <p:spPr>
          <a:xfrm>
            <a:off x="3154680" y="3236976"/>
            <a:ext cx="2697480" cy="146304"/>
          </a:xfrm>
          <a:prstGeom prst="rect">
            <a:avLst/>
          </a:prstGeom>
          <a:solidFill>
            <a:srgbClr val="047857"/>
          </a:solidFill>
          <a:ln w="12700">
            <a:solidFill>
              <a:srgbClr val="047857"/>
            </a:solidFill>
            <a:prstDash val="solid"/>
          </a:ln>
        </p:spPr>
      </p:sp>
      <p:sp>
        <p:nvSpPr>
          <p:cNvPr id="27" name="Text 25"/>
          <p:cNvSpPr/>
          <p:nvPr/>
        </p:nvSpPr>
        <p:spPr>
          <a:xfrm>
            <a:off x="3282696" y="3072384"/>
            <a:ext cx="2441448" cy="25603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Hard Tenant Isolation</a:t>
            </a:r>
            <a:endParaRPr lang="en-US" sz="1150" dirty="0"/>
          </a:p>
        </p:txBody>
      </p:sp>
      <p:sp>
        <p:nvSpPr>
          <p:cNvPr id="28" name="Text 26"/>
          <p:cNvSpPr/>
          <p:nvPr/>
        </p:nvSpPr>
        <p:spPr>
          <a:xfrm>
            <a:off x="3282696" y="3474720"/>
            <a:ext cx="2441448" cy="950976"/>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Separate PostgreSQL schema per tenant. Prefix-isolated object storage. JWT tenant context enforced at every API and DB layer.</a:t>
            </a:r>
            <a:endParaRPr lang="en-US" sz="1100" dirty="0"/>
          </a:p>
        </p:txBody>
      </p:sp>
      <p:sp>
        <p:nvSpPr>
          <p:cNvPr id="29" name="Shape 27"/>
          <p:cNvSpPr/>
          <p:nvPr/>
        </p:nvSpPr>
        <p:spPr>
          <a:xfrm>
            <a:off x="5961888" y="2980944"/>
            <a:ext cx="2697480" cy="1572768"/>
          </a:xfrm>
          <a:prstGeom prst="roundRect">
            <a:avLst>
              <a:gd name="adj" fmla="val 6977"/>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30" name="Shape 28"/>
          <p:cNvSpPr/>
          <p:nvPr/>
        </p:nvSpPr>
        <p:spPr>
          <a:xfrm>
            <a:off x="5961888" y="2980944"/>
            <a:ext cx="2697480" cy="402336"/>
          </a:xfrm>
          <a:prstGeom prst="roundRect">
            <a:avLst>
              <a:gd name="adj" fmla="val 27273"/>
            </a:avLst>
          </a:prstGeom>
          <a:solidFill>
            <a:srgbClr val="6D28D9"/>
          </a:solidFill>
          <a:ln w="12700">
            <a:solidFill>
              <a:srgbClr val="6D28D9"/>
            </a:solidFill>
            <a:prstDash val="solid"/>
          </a:ln>
        </p:spPr>
      </p:sp>
      <p:sp>
        <p:nvSpPr>
          <p:cNvPr id="31" name="Shape 29"/>
          <p:cNvSpPr/>
          <p:nvPr/>
        </p:nvSpPr>
        <p:spPr>
          <a:xfrm>
            <a:off x="5961888" y="3236976"/>
            <a:ext cx="2697480" cy="146304"/>
          </a:xfrm>
          <a:prstGeom prst="rect">
            <a:avLst/>
          </a:prstGeom>
          <a:solidFill>
            <a:srgbClr val="6D28D9"/>
          </a:solidFill>
          <a:ln w="12700">
            <a:solidFill>
              <a:srgbClr val="6D28D9"/>
            </a:solidFill>
            <a:prstDash val="solid"/>
          </a:ln>
        </p:spPr>
      </p:sp>
      <p:sp>
        <p:nvSpPr>
          <p:cNvPr id="32" name="Text 30"/>
          <p:cNvSpPr/>
          <p:nvPr/>
        </p:nvSpPr>
        <p:spPr>
          <a:xfrm>
            <a:off x="6089904" y="3072384"/>
            <a:ext cx="2441448" cy="256032"/>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3-Source RAG Chatbot</a:t>
            </a:r>
            <a:endParaRPr lang="en-US" sz="1150" dirty="0"/>
          </a:p>
        </p:txBody>
      </p:sp>
      <p:sp>
        <p:nvSpPr>
          <p:cNvPr id="33" name="Text 31"/>
          <p:cNvSpPr/>
          <p:nvPr/>
        </p:nvSpPr>
        <p:spPr>
          <a:xfrm>
            <a:off x="6089904" y="3474720"/>
            <a:ext cx="2441448" cy="950976"/>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SQL over extracted entities + pgvector semantic search + live NER inference. Source citations enforced. Guardrails block hallucination.</a:t>
            </a:r>
            <a:endParaRPr lang="en-US" sz="1100" dirty="0"/>
          </a:p>
        </p:txBody>
      </p:sp>
      <p:sp>
        <p:nvSpPr>
          <p:cNvPr id="34" name="Shape 32"/>
          <p:cNvSpPr/>
          <p:nvPr/>
        </p:nvSpPr>
        <p:spPr>
          <a:xfrm>
            <a:off x="0" y="4956048"/>
            <a:ext cx="9144000" cy="59436"/>
          </a:xfrm>
          <a:prstGeom prst="rect">
            <a:avLst/>
          </a:prstGeom>
          <a:solidFill>
            <a:srgbClr val="E07820"/>
          </a:solidFill>
          <a:ln w="12700">
            <a:solidFill>
              <a:srgbClr val="E07820"/>
            </a:solidFill>
            <a:prstDash val="solid"/>
          </a:ln>
        </p:spPr>
      </p:sp>
      <p:sp>
        <p:nvSpPr>
          <p:cNvPr id="35" name="Text 33"/>
          <p:cNvSpPr/>
          <p:nvPr/>
        </p:nvSpPr>
        <p:spPr>
          <a:xfrm>
            <a:off x="365760" y="5020056"/>
            <a:ext cx="8412480" cy="182880"/>
          </a:xfrm>
          <a:prstGeom prst="rect">
            <a:avLst/>
          </a:prstGeom>
          <a:noFill/>
          <a:ln/>
        </p:spPr>
        <p:txBody>
          <a:bodyPr wrap="square" lIns="0" tIns="0" rIns="0" bIns="0" rtlCol="0" anchor="ctr"/>
          <a:lstStyle/>
          <a:p>
            <a:pPr algn="l" indent="0" marL="0">
              <a:buNone/>
            </a:pPr>
            <a:r>
              <a:rPr lang="en-US" sz="850" dirty="0">
                <a:solidFill>
                  <a:srgbClr val="4B5563"/>
                </a:solidFill>
                <a:latin typeface="Calibri" pitchFamily="34" charset="0"/>
                <a:ea typeface="Calibri" pitchFamily="34" charset="-122"/>
                <a:cs typeface="Calibri" pitchFamily="34" charset="-120"/>
              </a:rPr>
              <a:t>InApp  |  Multi-Tenant Custom NER Platform</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D"/>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3200" b="1" dirty="0">
                <a:solidFill>
                  <a:srgbClr val="0B2A5E"/>
                </a:solidFill>
                <a:latin typeface="Cambria" pitchFamily="34" charset="0"/>
                <a:ea typeface="Cambria" pitchFamily="34" charset="-122"/>
                <a:cs typeface="Cambria" pitchFamily="34" charset="-120"/>
              </a:rPr>
              <a:t>How It Works</a:t>
            </a:r>
            <a:endParaRPr lang="en-US" sz="32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algn="l" indent="0" marL="0">
              <a:buNone/>
            </a:pPr>
            <a:r>
              <a:rPr lang="en-US" sz="1300" dirty="0">
                <a:solidFill>
                  <a:srgbClr val="4B5563"/>
                </a:solidFill>
                <a:latin typeface="Calibri" pitchFamily="34" charset="0"/>
                <a:ea typeface="Calibri" pitchFamily="34" charset="-122"/>
                <a:cs typeface="Calibri" pitchFamily="34" charset="-120"/>
              </a:rPr>
              <a:t>Six-step journey from raw documents to structured, queryable intelligence</a:t>
            </a:r>
            <a:endParaRPr lang="en-US" sz="1300" dirty="0"/>
          </a:p>
        </p:txBody>
      </p:sp>
      <p:sp>
        <p:nvSpPr>
          <p:cNvPr id="4" name="Shape 2"/>
          <p:cNvSpPr/>
          <p:nvPr/>
        </p:nvSpPr>
        <p:spPr>
          <a:xfrm>
            <a:off x="310896" y="1207008"/>
            <a:ext cx="1298448" cy="3749040"/>
          </a:xfrm>
          <a:prstGeom prst="roundRect">
            <a:avLst>
              <a:gd name="adj" fmla="val 7042"/>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5" name="Shape 3"/>
          <p:cNvSpPr/>
          <p:nvPr/>
        </p:nvSpPr>
        <p:spPr>
          <a:xfrm>
            <a:off x="310896" y="1207008"/>
            <a:ext cx="1298448" cy="658368"/>
          </a:xfrm>
          <a:prstGeom prst="roundRect">
            <a:avLst>
              <a:gd name="adj" fmla="val 13889"/>
            </a:avLst>
          </a:prstGeom>
          <a:solidFill>
            <a:srgbClr val="0B2A5E"/>
          </a:solidFill>
          <a:ln w="12700">
            <a:solidFill>
              <a:srgbClr val="0B2A5E"/>
            </a:solidFill>
            <a:prstDash val="solid"/>
          </a:ln>
        </p:spPr>
      </p:sp>
      <p:sp>
        <p:nvSpPr>
          <p:cNvPr id="6" name="Shape 4"/>
          <p:cNvSpPr/>
          <p:nvPr/>
        </p:nvSpPr>
        <p:spPr>
          <a:xfrm>
            <a:off x="310896" y="1682496"/>
            <a:ext cx="1298448" cy="182880"/>
          </a:xfrm>
          <a:prstGeom prst="rect">
            <a:avLst/>
          </a:prstGeom>
          <a:solidFill>
            <a:srgbClr val="0B2A5E"/>
          </a:solidFill>
          <a:ln w="12700">
            <a:solidFill>
              <a:srgbClr val="0B2A5E"/>
            </a:solidFill>
            <a:prstDash val="solid"/>
          </a:ln>
        </p:spPr>
      </p:sp>
      <p:sp>
        <p:nvSpPr>
          <p:cNvPr id="7" name="Shape 5"/>
          <p:cNvSpPr/>
          <p:nvPr/>
        </p:nvSpPr>
        <p:spPr>
          <a:xfrm>
            <a:off x="384048" y="1298448"/>
            <a:ext cx="347472" cy="347472"/>
          </a:xfrm>
          <a:prstGeom prst="ellipse">
            <a:avLst/>
          </a:prstGeom>
          <a:solidFill>
            <a:srgbClr val="FFFFFF">
              <a:alpha val="75000"/>
            </a:srgbClr>
          </a:solidFill>
          <a:ln w="12700">
            <a:solidFill>
              <a:srgbClr val="FFFFFF">
                <a:alpha val="70000"/>
              </a:srgbClr>
            </a:solidFill>
            <a:prstDash val="solid"/>
          </a:ln>
        </p:spPr>
      </p:sp>
      <p:sp>
        <p:nvSpPr>
          <p:cNvPr id="8" name="Text 6"/>
          <p:cNvSpPr/>
          <p:nvPr/>
        </p:nvSpPr>
        <p:spPr>
          <a:xfrm>
            <a:off x="384048" y="12984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68096" y="1362456"/>
            <a:ext cx="749808"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Define</a:t>
            </a:r>
            <a:endParaRPr lang="en-US" sz="1300" dirty="0"/>
          </a:p>
        </p:txBody>
      </p:sp>
      <p:sp>
        <p:nvSpPr>
          <p:cNvPr id="10" name="Text 8"/>
          <p:cNvSpPr/>
          <p:nvPr/>
        </p:nvSpPr>
        <p:spPr>
          <a:xfrm>
            <a:off x="402336" y="1975104"/>
            <a:ext cx="1115568" cy="2852928"/>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Tenant admin configures entity types, validation rules, field examples, and target database column mappings</a:t>
            </a:r>
            <a:endParaRPr lang="en-US" sz="1050" dirty="0"/>
          </a:p>
        </p:txBody>
      </p:sp>
      <p:sp>
        <p:nvSpPr>
          <p:cNvPr id="11" name="Shape 9"/>
          <p:cNvSpPr/>
          <p:nvPr/>
        </p:nvSpPr>
        <p:spPr>
          <a:xfrm>
            <a:off x="1618488" y="2962656"/>
            <a:ext cx="100584" cy="237744"/>
          </a:xfrm>
          <a:prstGeom prst="chevron">
            <a:avLst/>
          </a:prstGeom>
          <a:solidFill>
            <a:srgbClr val="BFCFEF"/>
          </a:solidFill>
          <a:ln w="12700">
            <a:solidFill>
              <a:srgbClr val="BFCFEF"/>
            </a:solidFill>
            <a:prstDash val="solid"/>
          </a:ln>
        </p:spPr>
      </p:sp>
      <p:sp>
        <p:nvSpPr>
          <p:cNvPr id="12" name="Shape 10"/>
          <p:cNvSpPr/>
          <p:nvPr/>
        </p:nvSpPr>
        <p:spPr>
          <a:xfrm>
            <a:off x="1709928" y="1207008"/>
            <a:ext cx="1298448" cy="3749040"/>
          </a:xfrm>
          <a:prstGeom prst="roundRect">
            <a:avLst>
              <a:gd name="adj" fmla="val 7042"/>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13" name="Shape 11"/>
          <p:cNvSpPr/>
          <p:nvPr/>
        </p:nvSpPr>
        <p:spPr>
          <a:xfrm>
            <a:off x="1709928" y="1207008"/>
            <a:ext cx="1298448" cy="658368"/>
          </a:xfrm>
          <a:prstGeom prst="roundRect">
            <a:avLst>
              <a:gd name="adj" fmla="val 13889"/>
            </a:avLst>
          </a:prstGeom>
          <a:solidFill>
            <a:srgbClr val="1464B8"/>
          </a:solidFill>
          <a:ln w="12700">
            <a:solidFill>
              <a:srgbClr val="1464B8"/>
            </a:solidFill>
            <a:prstDash val="solid"/>
          </a:ln>
        </p:spPr>
      </p:sp>
      <p:sp>
        <p:nvSpPr>
          <p:cNvPr id="14" name="Shape 12"/>
          <p:cNvSpPr/>
          <p:nvPr/>
        </p:nvSpPr>
        <p:spPr>
          <a:xfrm>
            <a:off x="1709928" y="1682496"/>
            <a:ext cx="1298448" cy="182880"/>
          </a:xfrm>
          <a:prstGeom prst="rect">
            <a:avLst/>
          </a:prstGeom>
          <a:solidFill>
            <a:srgbClr val="1464B8"/>
          </a:solidFill>
          <a:ln w="12700">
            <a:solidFill>
              <a:srgbClr val="1464B8"/>
            </a:solidFill>
            <a:prstDash val="solid"/>
          </a:ln>
        </p:spPr>
      </p:sp>
      <p:sp>
        <p:nvSpPr>
          <p:cNvPr id="15" name="Shape 13"/>
          <p:cNvSpPr/>
          <p:nvPr/>
        </p:nvSpPr>
        <p:spPr>
          <a:xfrm>
            <a:off x="1783080" y="1298448"/>
            <a:ext cx="347472" cy="347472"/>
          </a:xfrm>
          <a:prstGeom prst="ellipse">
            <a:avLst/>
          </a:prstGeom>
          <a:solidFill>
            <a:srgbClr val="FFFFFF">
              <a:alpha val="75000"/>
            </a:srgbClr>
          </a:solidFill>
          <a:ln w="12700">
            <a:solidFill>
              <a:srgbClr val="FFFFFF">
                <a:alpha val="70000"/>
              </a:srgbClr>
            </a:solidFill>
            <a:prstDash val="solid"/>
          </a:ln>
        </p:spPr>
      </p:sp>
      <p:sp>
        <p:nvSpPr>
          <p:cNvPr id="16" name="Text 14"/>
          <p:cNvSpPr/>
          <p:nvPr/>
        </p:nvSpPr>
        <p:spPr>
          <a:xfrm>
            <a:off x="1783080" y="12984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2167128" y="1362456"/>
            <a:ext cx="749808"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Upload</a:t>
            </a:r>
            <a:endParaRPr lang="en-US" sz="1300" dirty="0"/>
          </a:p>
        </p:txBody>
      </p:sp>
      <p:sp>
        <p:nvSpPr>
          <p:cNvPr id="18" name="Text 16"/>
          <p:cNvSpPr/>
          <p:nvPr/>
        </p:nvSpPr>
        <p:spPr>
          <a:xfrm>
            <a:off x="1801368" y="1975104"/>
            <a:ext cx="1115568" cy="2852928"/>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Upload PDFs, DOCX, images. OCR runs automatically for scanned content via async Tesseract pipeline</a:t>
            </a:r>
            <a:endParaRPr lang="en-US" sz="1050" dirty="0"/>
          </a:p>
        </p:txBody>
      </p:sp>
      <p:sp>
        <p:nvSpPr>
          <p:cNvPr id="19" name="Shape 17"/>
          <p:cNvSpPr/>
          <p:nvPr/>
        </p:nvSpPr>
        <p:spPr>
          <a:xfrm>
            <a:off x="3017520" y="2962656"/>
            <a:ext cx="100584" cy="237744"/>
          </a:xfrm>
          <a:prstGeom prst="chevron">
            <a:avLst/>
          </a:prstGeom>
          <a:solidFill>
            <a:srgbClr val="BFCFEF"/>
          </a:solidFill>
          <a:ln w="12700">
            <a:solidFill>
              <a:srgbClr val="BFCFEF"/>
            </a:solidFill>
            <a:prstDash val="solid"/>
          </a:ln>
        </p:spPr>
      </p:sp>
      <p:sp>
        <p:nvSpPr>
          <p:cNvPr id="20" name="Shape 18"/>
          <p:cNvSpPr/>
          <p:nvPr/>
        </p:nvSpPr>
        <p:spPr>
          <a:xfrm>
            <a:off x="3108960" y="1207008"/>
            <a:ext cx="1298448" cy="3749040"/>
          </a:xfrm>
          <a:prstGeom prst="roundRect">
            <a:avLst>
              <a:gd name="adj" fmla="val 7042"/>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21" name="Shape 19"/>
          <p:cNvSpPr/>
          <p:nvPr/>
        </p:nvSpPr>
        <p:spPr>
          <a:xfrm>
            <a:off x="3108960" y="1207008"/>
            <a:ext cx="1298448" cy="658368"/>
          </a:xfrm>
          <a:prstGeom prst="roundRect">
            <a:avLst>
              <a:gd name="adj" fmla="val 13889"/>
            </a:avLst>
          </a:prstGeom>
          <a:solidFill>
            <a:srgbClr val="0E7490"/>
          </a:solidFill>
          <a:ln w="12700">
            <a:solidFill>
              <a:srgbClr val="0E7490"/>
            </a:solidFill>
            <a:prstDash val="solid"/>
          </a:ln>
        </p:spPr>
      </p:sp>
      <p:sp>
        <p:nvSpPr>
          <p:cNvPr id="22" name="Shape 20"/>
          <p:cNvSpPr/>
          <p:nvPr/>
        </p:nvSpPr>
        <p:spPr>
          <a:xfrm>
            <a:off x="3108960" y="1682496"/>
            <a:ext cx="1298448" cy="182880"/>
          </a:xfrm>
          <a:prstGeom prst="rect">
            <a:avLst/>
          </a:prstGeom>
          <a:solidFill>
            <a:srgbClr val="0E7490"/>
          </a:solidFill>
          <a:ln w="12700">
            <a:solidFill>
              <a:srgbClr val="0E7490"/>
            </a:solidFill>
            <a:prstDash val="solid"/>
          </a:ln>
        </p:spPr>
      </p:sp>
      <p:sp>
        <p:nvSpPr>
          <p:cNvPr id="23" name="Shape 21"/>
          <p:cNvSpPr/>
          <p:nvPr/>
        </p:nvSpPr>
        <p:spPr>
          <a:xfrm>
            <a:off x="3182112" y="1298448"/>
            <a:ext cx="347472" cy="347472"/>
          </a:xfrm>
          <a:prstGeom prst="ellipse">
            <a:avLst/>
          </a:prstGeom>
          <a:solidFill>
            <a:srgbClr val="FFFFFF">
              <a:alpha val="75000"/>
            </a:srgbClr>
          </a:solidFill>
          <a:ln w="12700">
            <a:solidFill>
              <a:srgbClr val="FFFFFF">
                <a:alpha val="70000"/>
              </a:srgbClr>
            </a:solidFill>
            <a:prstDash val="solid"/>
          </a:ln>
        </p:spPr>
      </p:sp>
      <p:sp>
        <p:nvSpPr>
          <p:cNvPr id="24" name="Text 22"/>
          <p:cNvSpPr/>
          <p:nvPr/>
        </p:nvSpPr>
        <p:spPr>
          <a:xfrm>
            <a:off x="3182112" y="12984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3566160" y="1362456"/>
            <a:ext cx="749808"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Annotate</a:t>
            </a:r>
            <a:endParaRPr lang="en-US" sz="1300" dirty="0"/>
          </a:p>
        </p:txBody>
      </p:sp>
      <p:sp>
        <p:nvSpPr>
          <p:cNvPr id="26" name="Text 24"/>
          <p:cNvSpPr/>
          <p:nvPr/>
        </p:nvSpPr>
        <p:spPr>
          <a:xfrm>
            <a:off x="3200400" y="1975104"/>
            <a:ext cx="1115568" cy="2852928"/>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Label token spans. AI pre-labeling from dslim/bert-base-NER accelerates the annotation workflow significantly</a:t>
            </a:r>
            <a:endParaRPr lang="en-US" sz="1050" dirty="0"/>
          </a:p>
        </p:txBody>
      </p:sp>
      <p:sp>
        <p:nvSpPr>
          <p:cNvPr id="27" name="Shape 25"/>
          <p:cNvSpPr/>
          <p:nvPr/>
        </p:nvSpPr>
        <p:spPr>
          <a:xfrm>
            <a:off x="4416552" y="2962656"/>
            <a:ext cx="100584" cy="237744"/>
          </a:xfrm>
          <a:prstGeom prst="chevron">
            <a:avLst/>
          </a:prstGeom>
          <a:solidFill>
            <a:srgbClr val="BFCFEF"/>
          </a:solidFill>
          <a:ln w="12700">
            <a:solidFill>
              <a:srgbClr val="BFCFEF"/>
            </a:solidFill>
            <a:prstDash val="solid"/>
          </a:ln>
        </p:spPr>
      </p:sp>
      <p:sp>
        <p:nvSpPr>
          <p:cNvPr id="28" name="Shape 26"/>
          <p:cNvSpPr/>
          <p:nvPr/>
        </p:nvSpPr>
        <p:spPr>
          <a:xfrm>
            <a:off x="4507992" y="1207008"/>
            <a:ext cx="1298448" cy="3749040"/>
          </a:xfrm>
          <a:prstGeom prst="roundRect">
            <a:avLst>
              <a:gd name="adj" fmla="val 7042"/>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29" name="Shape 27"/>
          <p:cNvSpPr/>
          <p:nvPr/>
        </p:nvSpPr>
        <p:spPr>
          <a:xfrm>
            <a:off x="4507992" y="1207008"/>
            <a:ext cx="1298448" cy="658368"/>
          </a:xfrm>
          <a:prstGeom prst="roundRect">
            <a:avLst>
              <a:gd name="adj" fmla="val 13889"/>
            </a:avLst>
          </a:prstGeom>
          <a:solidFill>
            <a:srgbClr val="047857"/>
          </a:solidFill>
          <a:ln w="12700">
            <a:solidFill>
              <a:srgbClr val="047857"/>
            </a:solidFill>
            <a:prstDash val="solid"/>
          </a:ln>
        </p:spPr>
      </p:sp>
      <p:sp>
        <p:nvSpPr>
          <p:cNvPr id="30" name="Shape 28"/>
          <p:cNvSpPr/>
          <p:nvPr/>
        </p:nvSpPr>
        <p:spPr>
          <a:xfrm>
            <a:off x="4507992" y="1682496"/>
            <a:ext cx="1298448" cy="182880"/>
          </a:xfrm>
          <a:prstGeom prst="rect">
            <a:avLst/>
          </a:prstGeom>
          <a:solidFill>
            <a:srgbClr val="047857"/>
          </a:solidFill>
          <a:ln w="12700">
            <a:solidFill>
              <a:srgbClr val="047857"/>
            </a:solidFill>
            <a:prstDash val="solid"/>
          </a:ln>
        </p:spPr>
      </p:sp>
      <p:sp>
        <p:nvSpPr>
          <p:cNvPr id="31" name="Shape 29"/>
          <p:cNvSpPr/>
          <p:nvPr/>
        </p:nvSpPr>
        <p:spPr>
          <a:xfrm>
            <a:off x="4581144" y="1298448"/>
            <a:ext cx="347472" cy="347472"/>
          </a:xfrm>
          <a:prstGeom prst="ellipse">
            <a:avLst/>
          </a:prstGeom>
          <a:solidFill>
            <a:srgbClr val="FFFFFF">
              <a:alpha val="75000"/>
            </a:srgbClr>
          </a:solidFill>
          <a:ln w="12700">
            <a:solidFill>
              <a:srgbClr val="FFFFFF">
                <a:alpha val="70000"/>
              </a:srgbClr>
            </a:solidFill>
            <a:prstDash val="solid"/>
          </a:ln>
        </p:spPr>
      </p:sp>
      <p:sp>
        <p:nvSpPr>
          <p:cNvPr id="32" name="Text 30"/>
          <p:cNvSpPr/>
          <p:nvPr/>
        </p:nvSpPr>
        <p:spPr>
          <a:xfrm>
            <a:off x="4581144" y="12984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1"/>
          <p:cNvSpPr/>
          <p:nvPr/>
        </p:nvSpPr>
        <p:spPr>
          <a:xfrm>
            <a:off x="4965192" y="1362456"/>
            <a:ext cx="749808"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Train</a:t>
            </a:r>
            <a:endParaRPr lang="en-US" sz="1300" dirty="0"/>
          </a:p>
        </p:txBody>
      </p:sp>
      <p:sp>
        <p:nvSpPr>
          <p:cNvPr id="34" name="Text 32"/>
          <p:cNvSpPr/>
          <p:nvPr/>
        </p:nvSpPr>
        <p:spPr>
          <a:xfrm>
            <a:off x="4599432" y="1975104"/>
            <a:ext cx="1115568" cy="2852928"/>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Fine-tune BERT asynchronously on GPU workers. MLflow tracks every experiment run, metric, and model artifact</a:t>
            </a:r>
            <a:endParaRPr lang="en-US" sz="1050" dirty="0"/>
          </a:p>
        </p:txBody>
      </p:sp>
      <p:sp>
        <p:nvSpPr>
          <p:cNvPr id="35" name="Shape 33"/>
          <p:cNvSpPr/>
          <p:nvPr/>
        </p:nvSpPr>
        <p:spPr>
          <a:xfrm>
            <a:off x="5815584" y="2962656"/>
            <a:ext cx="100584" cy="237744"/>
          </a:xfrm>
          <a:prstGeom prst="chevron">
            <a:avLst/>
          </a:prstGeom>
          <a:solidFill>
            <a:srgbClr val="BFCFEF"/>
          </a:solidFill>
          <a:ln w="12700">
            <a:solidFill>
              <a:srgbClr val="BFCFEF"/>
            </a:solidFill>
            <a:prstDash val="solid"/>
          </a:ln>
        </p:spPr>
      </p:sp>
      <p:sp>
        <p:nvSpPr>
          <p:cNvPr id="36" name="Shape 34"/>
          <p:cNvSpPr/>
          <p:nvPr/>
        </p:nvSpPr>
        <p:spPr>
          <a:xfrm>
            <a:off x="5907024" y="1207008"/>
            <a:ext cx="1298448" cy="3749040"/>
          </a:xfrm>
          <a:prstGeom prst="roundRect">
            <a:avLst>
              <a:gd name="adj" fmla="val 7042"/>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37" name="Shape 35"/>
          <p:cNvSpPr/>
          <p:nvPr/>
        </p:nvSpPr>
        <p:spPr>
          <a:xfrm>
            <a:off x="5907024" y="1207008"/>
            <a:ext cx="1298448" cy="658368"/>
          </a:xfrm>
          <a:prstGeom prst="roundRect">
            <a:avLst>
              <a:gd name="adj" fmla="val 13889"/>
            </a:avLst>
          </a:prstGeom>
          <a:solidFill>
            <a:srgbClr val="E07820"/>
          </a:solidFill>
          <a:ln w="12700">
            <a:solidFill>
              <a:srgbClr val="E07820"/>
            </a:solidFill>
            <a:prstDash val="solid"/>
          </a:ln>
        </p:spPr>
      </p:sp>
      <p:sp>
        <p:nvSpPr>
          <p:cNvPr id="38" name="Shape 36"/>
          <p:cNvSpPr/>
          <p:nvPr/>
        </p:nvSpPr>
        <p:spPr>
          <a:xfrm>
            <a:off x="5907024" y="1682496"/>
            <a:ext cx="1298448" cy="182880"/>
          </a:xfrm>
          <a:prstGeom prst="rect">
            <a:avLst/>
          </a:prstGeom>
          <a:solidFill>
            <a:srgbClr val="E07820"/>
          </a:solidFill>
          <a:ln w="12700">
            <a:solidFill>
              <a:srgbClr val="E07820"/>
            </a:solidFill>
            <a:prstDash val="solid"/>
          </a:ln>
        </p:spPr>
      </p:sp>
      <p:sp>
        <p:nvSpPr>
          <p:cNvPr id="39" name="Shape 37"/>
          <p:cNvSpPr/>
          <p:nvPr/>
        </p:nvSpPr>
        <p:spPr>
          <a:xfrm>
            <a:off x="5980176" y="1298448"/>
            <a:ext cx="347472" cy="347472"/>
          </a:xfrm>
          <a:prstGeom prst="ellipse">
            <a:avLst/>
          </a:prstGeom>
          <a:solidFill>
            <a:srgbClr val="FFFFFF">
              <a:alpha val="75000"/>
            </a:srgbClr>
          </a:solidFill>
          <a:ln w="12700">
            <a:solidFill>
              <a:srgbClr val="FFFFFF">
                <a:alpha val="70000"/>
              </a:srgbClr>
            </a:solidFill>
            <a:prstDash val="solid"/>
          </a:ln>
        </p:spPr>
      </p:sp>
      <p:sp>
        <p:nvSpPr>
          <p:cNvPr id="40" name="Text 38"/>
          <p:cNvSpPr/>
          <p:nvPr/>
        </p:nvSpPr>
        <p:spPr>
          <a:xfrm>
            <a:off x="5980176" y="12984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1" name="Text 39"/>
          <p:cNvSpPr/>
          <p:nvPr/>
        </p:nvSpPr>
        <p:spPr>
          <a:xfrm>
            <a:off x="6364224" y="1362456"/>
            <a:ext cx="749808"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Approve</a:t>
            </a:r>
            <a:endParaRPr lang="en-US" sz="1300" dirty="0"/>
          </a:p>
        </p:txBody>
      </p:sp>
      <p:sp>
        <p:nvSpPr>
          <p:cNvPr id="42" name="Text 40"/>
          <p:cNvSpPr/>
          <p:nvPr/>
        </p:nvSpPr>
        <p:spPr>
          <a:xfrm>
            <a:off x="5998464" y="1975104"/>
            <a:ext cx="1115568" cy="2852928"/>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System admin reviews F1/precision/recall thresholds and provides manual sign-off before production promotion</a:t>
            </a:r>
            <a:endParaRPr lang="en-US" sz="1050" dirty="0"/>
          </a:p>
        </p:txBody>
      </p:sp>
      <p:sp>
        <p:nvSpPr>
          <p:cNvPr id="43" name="Shape 41"/>
          <p:cNvSpPr/>
          <p:nvPr/>
        </p:nvSpPr>
        <p:spPr>
          <a:xfrm>
            <a:off x="7214616" y="2962656"/>
            <a:ext cx="100584" cy="237744"/>
          </a:xfrm>
          <a:prstGeom prst="chevron">
            <a:avLst/>
          </a:prstGeom>
          <a:solidFill>
            <a:srgbClr val="BFCFEF"/>
          </a:solidFill>
          <a:ln w="12700">
            <a:solidFill>
              <a:srgbClr val="BFCFEF"/>
            </a:solidFill>
            <a:prstDash val="solid"/>
          </a:ln>
        </p:spPr>
      </p:sp>
      <p:sp>
        <p:nvSpPr>
          <p:cNvPr id="44" name="Shape 42"/>
          <p:cNvSpPr/>
          <p:nvPr/>
        </p:nvSpPr>
        <p:spPr>
          <a:xfrm>
            <a:off x="7306056" y="1207008"/>
            <a:ext cx="1298448" cy="3749040"/>
          </a:xfrm>
          <a:prstGeom prst="roundRect">
            <a:avLst>
              <a:gd name="adj" fmla="val 7042"/>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45" name="Shape 43"/>
          <p:cNvSpPr/>
          <p:nvPr/>
        </p:nvSpPr>
        <p:spPr>
          <a:xfrm>
            <a:off x="7306056" y="1207008"/>
            <a:ext cx="1298448" cy="658368"/>
          </a:xfrm>
          <a:prstGeom prst="roundRect">
            <a:avLst>
              <a:gd name="adj" fmla="val 13889"/>
            </a:avLst>
          </a:prstGeom>
          <a:solidFill>
            <a:srgbClr val="6D28D9"/>
          </a:solidFill>
          <a:ln w="12700">
            <a:solidFill>
              <a:srgbClr val="6D28D9"/>
            </a:solidFill>
            <a:prstDash val="solid"/>
          </a:ln>
        </p:spPr>
      </p:sp>
      <p:sp>
        <p:nvSpPr>
          <p:cNvPr id="46" name="Shape 44"/>
          <p:cNvSpPr/>
          <p:nvPr/>
        </p:nvSpPr>
        <p:spPr>
          <a:xfrm>
            <a:off x="7306056" y="1682496"/>
            <a:ext cx="1298448" cy="182880"/>
          </a:xfrm>
          <a:prstGeom prst="rect">
            <a:avLst/>
          </a:prstGeom>
          <a:solidFill>
            <a:srgbClr val="6D28D9"/>
          </a:solidFill>
          <a:ln w="12700">
            <a:solidFill>
              <a:srgbClr val="6D28D9"/>
            </a:solidFill>
            <a:prstDash val="solid"/>
          </a:ln>
        </p:spPr>
      </p:sp>
      <p:sp>
        <p:nvSpPr>
          <p:cNvPr id="47" name="Shape 45"/>
          <p:cNvSpPr/>
          <p:nvPr/>
        </p:nvSpPr>
        <p:spPr>
          <a:xfrm>
            <a:off x="7379208" y="1298448"/>
            <a:ext cx="347472" cy="347472"/>
          </a:xfrm>
          <a:prstGeom prst="ellipse">
            <a:avLst/>
          </a:prstGeom>
          <a:solidFill>
            <a:srgbClr val="FFFFFF">
              <a:alpha val="75000"/>
            </a:srgbClr>
          </a:solidFill>
          <a:ln w="12700">
            <a:solidFill>
              <a:srgbClr val="FFFFFF">
                <a:alpha val="70000"/>
              </a:srgbClr>
            </a:solidFill>
            <a:prstDash val="solid"/>
          </a:ln>
        </p:spPr>
      </p:sp>
      <p:sp>
        <p:nvSpPr>
          <p:cNvPr id="48" name="Text 46"/>
          <p:cNvSpPr/>
          <p:nvPr/>
        </p:nvSpPr>
        <p:spPr>
          <a:xfrm>
            <a:off x="7379208" y="12984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9" name="Text 47"/>
          <p:cNvSpPr/>
          <p:nvPr/>
        </p:nvSpPr>
        <p:spPr>
          <a:xfrm>
            <a:off x="7763256" y="1362456"/>
            <a:ext cx="749808"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Extract</a:t>
            </a:r>
            <a:endParaRPr lang="en-US" sz="1300" dirty="0"/>
          </a:p>
        </p:txBody>
      </p:sp>
      <p:sp>
        <p:nvSpPr>
          <p:cNvPr id="50" name="Text 48"/>
          <p:cNvSpPr/>
          <p:nvPr/>
        </p:nvSpPr>
        <p:spPr>
          <a:xfrm>
            <a:off x="7397496" y="1975104"/>
            <a:ext cx="1115568" cy="2852928"/>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Run inference on operational documents. Chat with AI assistant over all extracted entities using the RAG chatbot</a:t>
            </a:r>
            <a:endParaRPr lang="en-US" sz="1050" dirty="0"/>
          </a:p>
        </p:txBody>
      </p:sp>
      <p:sp>
        <p:nvSpPr>
          <p:cNvPr id="51" name="Shape 49"/>
          <p:cNvSpPr/>
          <p:nvPr/>
        </p:nvSpPr>
        <p:spPr>
          <a:xfrm>
            <a:off x="0" y="4956048"/>
            <a:ext cx="9144000" cy="59436"/>
          </a:xfrm>
          <a:prstGeom prst="rect">
            <a:avLst/>
          </a:prstGeom>
          <a:solidFill>
            <a:srgbClr val="E07820"/>
          </a:solidFill>
          <a:ln w="12700">
            <a:solidFill>
              <a:srgbClr val="E07820"/>
            </a:solidFill>
            <a:prstDash val="solid"/>
          </a:ln>
        </p:spPr>
      </p:sp>
      <p:sp>
        <p:nvSpPr>
          <p:cNvPr id="52" name="Text 50"/>
          <p:cNvSpPr/>
          <p:nvPr/>
        </p:nvSpPr>
        <p:spPr>
          <a:xfrm>
            <a:off x="365760" y="5020056"/>
            <a:ext cx="8412480" cy="182880"/>
          </a:xfrm>
          <a:prstGeom prst="rect">
            <a:avLst/>
          </a:prstGeom>
          <a:noFill/>
          <a:ln/>
        </p:spPr>
        <p:txBody>
          <a:bodyPr wrap="square" lIns="0" tIns="0" rIns="0" bIns="0" rtlCol="0" anchor="ctr"/>
          <a:lstStyle/>
          <a:p>
            <a:pPr algn="l" indent="0" marL="0">
              <a:buNone/>
            </a:pPr>
            <a:r>
              <a:rPr lang="en-US" sz="850" dirty="0">
                <a:solidFill>
                  <a:srgbClr val="4B5563"/>
                </a:solidFill>
                <a:latin typeface="Calibri" pitchFamily="34" charset="0"/>
                <a:ea typeface="Calibri" pitchFamily="34" charset="-122"/>
                <a:cs typeface="Calibri" pitchFamily="34" charset="-120"/>
              </a:rPr>
              <a:t>InApp  |  Multi-Tenant Custom NER Platform</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4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3200" b="1" dirty="0">
                <a:solidFill>
                  <a:srgbClr val="0B2A5E"/>
                </a:solidFill>
                <a:latin typeface="Cambria" pitchFamily="34" charset="0"/>
                <a:ea typeface="Cambria" pitchFamily="34" charset="-122"/>
                <a:cs typeface="Cambria" pitchFamily="34" charset="-120"/>
              </a:rPr>
              <a:t>System Architecture</a:t>
            </a:r>
            <a:endParaRPr lang="en-US" sz="32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algn="l" indent="0" marL="0">
              <a:buNone/>
            </a:pPr>
            <a:r>
              <a:rPr lang="en-US" sz="1300" dirty="0">
                <a:solidFill>
                  <a:srgbClr val="4B5563"/>
                </a:solidFill>
                <a:latin typeface="Calibri" pitchFamily="34" charset="0"/>
                <a:ea typeface="Calibri" pitchFamily="34" charset="-122"/>
                <a:cs typeface="Calibri" pitchFamily="34" charset="-120"/>
              </a:rPr>
              <a:t>8 microservices across 3 tiers — async-first, event-driven, fully isolated per tenant</a:t>
            </a:r>
            <a:endParaRPr lang="en-US" sz="1300" dirty="0"/>
          </a:p>
        </p:txBody>
      </p:sp>
      <p:sp>
        <p:nvSpPr>
          <p:cNvPr id="4" name="Shape 2"/>
          <p:cNvSpPr/>
          <p:nvPr/>
        </p:nvSpPr>
        <p:spPr>
          <a:xfrm>
            <a:off x="320040" y="1225296"/>
            <a:ext cx="8503920" cy="1024128"/>
          </a:xfrm>
          <a:prstGeom prst="roundRect">
            <a:avLst>
              <a:gd name="adj" fmla="val 8929"/>
            </a:avLst>
          </a:prstGeom>
          <a:solidFill>
            <a:srgbClr val="EEF4FF"/>
          </a:solidFill>
          <a:ln w="10160">
            <a:solidFill>
              <a:srgbClr val="BFCFEF"/>
            </a:solidFill>
            <a:prstDash val="solid"/>
          </a:ln>
        </p:spPr>
      </p:sp>
      <p:sp>
        <p:nvSpPr>
          <p:cNvPr id="5" name="Shape 3"/>
          <p:cNvSpPr/>
          <p:nvPr/>
        </p:nvSpPr>
        <p:spPr>
          <a:xfrm>
            <a:off x="384048" y="1554480"/>
            <a:ext cx="1207008" cy="347472"/>
          </a:xfrm>
          <a:prstGeom prst="roundRect">
            <a:avLst>
              <a:gd name="adj" fmla="val 21053"/>
            </a:avLst>
          </a:prstGeom>
          <a:solidFill>
            <a:srgbClr val="0B2A5E"/>
          </a:solidFill>
          <a:ln w="12700">
            <a:solidFill>
              <a:srgbClr val="0B2A5E"/>
            </a:solidFill>
            <a:prstDash val="solid"/>
          </a:ln>
        </p:spPr>
      </p:sp>
      <p:sp>
        <p:nvSpPr>
          <p:cNvPr id="6" name="Text 4"/>
          <p:cNvSpPr/>
          <p:nvPr/>
        </p:nvSpPr>
        <p:spPr>
          <a:xfrm>
            <a:off x="384048" y="1554480"/>
            <a:ext cx="120700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Frontend</a:t>
            </a:r>
            <a:endParaRPr lang="en-US" sz="950" dirty="0"/>
          </a:p>
        </p:txBody>
      </p:sp>
      <p:sp>
        <p:nvSpPr>
          <p:cNvPr id="7" name="Shape 5"/>
          <p:cNvSpPr/>
          <p:nvPr/>
        </p:nvSpPr>
        <p:spPr>
          <a:xfrm>
            <a:off x="1719072" y="1499616"/>
            <a:ext cx="841248" cy="420624"/>
          </a:xfrm>
          <a:prstGeom prst="roundRect">
            <a:avLst>
              <a:gd name="adj" fmla="val 17391"/>
            </a:avLst>
          </a:prstGeom>
          <a:solidFill>
            <a:srgbClr val="FFFFFF"/>
          </a:solidFill>
          <a:ln w="10160">
            <a:solidFill>
              <a:srgbClr val="BFCFEF"/>
            </a:solidFill>
            <a:prstDash val="solid"/>
          </a:ln>
        </p:spPr>
      </p:sp>
      <p:sp>
        <p:nvSpPr>
          <p:cNvPr id="8" name="Text 6"/>
          <p:cNvSpPr/>
          <p:nvPr/>
        </p:nvSpPr>
        <p:spPr>
          <a:xfrm>
            <a:off x="1719072" y="1499616"/>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Next.js App Router</a:t>
            </a:r>
            <a:endParaRPr lang="en-US" sz="800" dirty="0"/>
          </a:p>
        </p:txBody>
      </p:sp>
      <p:sp>
        <p:nvSpPr>
          <p:cNvPr id="9" name="Shape 7"/>
          <p:cNvSpPr/>
          <p:nvPr/>
        </p:nvSpPr>
        <p:spPr>
          <a:xfrm>
            <a:off x="2642616" y="1499616"/>
            <a:ext cx="841248" cy="420624"/>
          </a:xfrm>
          <a:prstGeom prst="roundRect">
            <a:avLst>
              <a:gd name="adj" fmla="val 17391"/>
            </a:avLst>
          </a:prstGeom>
          <a:solidFill>
            <a:srgbClr val="FFFFFF"/>
          </a:solidFill>
          <a:ln w="10160">
            <a:solidFill>
              <a:srgbClr val="BFCFEF"/>
            </a:solidFill>
            <a:prstDash val="solid"/>
          </a:ln>
        </p:spPr>
      </p:sp>
      <p:sp>
        <p:nvSpPr>
          <p:cNvPr id="10" name="Text 8"/>
          <p:cNvSpPr/>
          <p:nvPr/>
        </p:nvSpPr>
        <p:spPr>
          <a:xfrm>
            <a:off x="2642616" y="1499616"/>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React / TanStack Query</a:t>
            </a:r>
            <a:endParaRPr lang="en-US" sz="800" dirty="0"/>
          </a:p>
        </p:txBody>
      </p:sp>
      <p:sp>
        <p:nvSpPr>
          <p:cNvPr id="11" name="Shape 9"/>
          <p:cNvSpPr/>
          <p:nvPr/>
        </p:nvSpPr>
        <p:spPr>
          <a:xfrm>
            <a:off x="3566160" y="1499616"/>
            <a:ext cx="841248" cy="420624"/>
          </a:xfrm>
          <a:prstGeom prst="roundRect">
            <a:avLst>
              <a:gd name="adj" fmla="val 17391"/>
            </a:avLst>
          </a:prstGeom>
          <a:solidFill>
            <a:srgbClr val="FFFFFF"/>
          </a:solidFill>
          <a:ln w="10160">
            <a:solidFill>
              <a:srgbClr val="BFCFEF"/>
            </a:solidFill>
            <a:prstDash val="solid"/>
          </a:ln>
        </p:spPr>
      </p:sp>
      <p:sp>
        <p:nvSpPr>
          <p:cNvPr id="12" name="Text 10"/>
          <p:cNvSpPr/>
          <p:nvPr/>
        </p:nvSpPr>
        <p:spPr>
          <a:xfrm>
            <a:off x="3566160" y="1499616"/>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Tailwind CSS</a:t>
            </a:r>
            <a:endParaRPr lang="en-US" sz="800" dirty="0"/>
          </a:p>
        </p:txBody>
      </p:sp>
      <p:sp>
        <p:nvSpPr>
          <p:cNvPr id="13" name="Shape 11"/>
          <p:cNvSpPr/>
          <p:nvPr/>
        </p:nvSpPr>
        <p:spPr>
          <a:xfrm>
            <a:off x="4489704" y="1499616"/>
            <a:ext cx="841248" cy="420624"/>
          </a:xfrm>
          <a:prstGeom prst="roundRect">
            <a:avLst>
              <a:gd name="adj" fmla="val 17391"/>
            </a:avLst>
          </a:prstGeom>
          <a:solidFill>
            <a:srgbClr val="FFFFFF"/>
          </a:solidFill>
          <a:ln w="10160">
            <a:solidFill>
              <a:srgbClr val="BFCFEF"/>
            </a:solidFill>
            <a:prstDash val="solid"/>
          </a:ln>
        </p:spPr>
      </p:sp>
      <p:sp>
        <p:nvSpPr>
          <p:cNvPr id="14" name="Text 12"/>
          <p:cNvSpPr/>
          <p:nvPr/>
        </p:nvSpPr>
        <p:spPr>
          <a:xfrm>
            <a:off x="4489704" y="1499616"/>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Annotation Workspace</a:t>
            </a:r>
            <a:endParaRPr lang="en-US" sz="800" dirty="0"/>
          </a:p>
        </p:txBody>
      </p:sp>
      <p:sp>
        <p:nvSpPr>
          <p:cNvPr id="15" name="Shape 13"/>
          <p:cNvSpPr/>
          <p:nvPr/>
        </p:nvSpPr>
        <p:spPr>
          <a:xfrm>
            <a:off x="5413248" y="1499616"/>
            <a:ext cx="841248" cy="420624"/>
          </a:xfrm>
          <a:prstGeom prst="roundRect">
            <a:avLst>
              <a:gd name="adj" fmla="val 17391"/>
            </a:avLst>
          </a:prstGeom>
          <a:solidFill>
            <a:srgbClr val="FFFFFF"/>
          </a:solidFill>
          <a:ln w="10160">
            <a:solidFill>
              <a:srgbClr val="BFCFEF"/>
            </a:solidFill>
            <a:prstDash val="solid"/>
          </a:ln>
        </p:spPr>
      </p:sp>
      <p:sp>
        <p:nvSpPr>
          <p:cNvPr id="16" name="Text 14"/>
          <p:cNvSpPr/>
          <p:nvPr/>
        </p:nvSpPr>
        <p:spPr>
          <a:xfrm>
            <a:off x="5413248" y="1499616"/>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Model Lifecycle UI</a:t>
            </a:r>
            <a:endParaRPr lang="en-US" sz="800" dirty="0"/>
          </a:p>
        </p:txBody>
      </p:sp>
      <p:sp>
        <p:nvSpPr>
          <p:cNvPr id="17" name="Shape 15"/>
          <p:cNvSpPr/>
          <p:nvPr/>
        </p:nvSpPr>
        <p:spPr>
          <a:xfrm>
            <a:off x="6336792" y="1499616"/>
            <a:ext cx="841248" cy="420624"/>
          </a:xfrm>
          <a:prstGeom prst="roundRect">
            <a:avLst>
              <a:gd name="adj" fmla="val 17391"/>
            </a:avLst>
          </a:prstGeom>
          <a:solidFill>
            <a:srgbClr val="FFFFFF"/>
          </a:solidFill>
          <a:ln w="10160">
            <a:solidFill>
              <a:srgbClr val="BFCFEF"/>
            </a:solidFill>
            <a:prstDash val="solid"/>
          </a:ln>
        </p:spPr>
      </p:sp>
      <p:sp>
        <p:nvSpPr>
          <p:cNvPr id="18" name="Text 16"/>
          <p:cNvSpPr/>
          <p:nvPr/>
        </p:nvSpPr>
        <p:spPr>
          <a:xfrm>
            <a:off x="6336792" y="1499616"/>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Chatbot Widget</a:t>
            </a:r>
            <a:endParaRPr lang="en-US" sz="800" dirty="0"/>
          </a:p>
        </p:txBody>
      </p:sp>
      <p:sp>
        <p:nvSpPr>
          <p:cNvPr id="19" name="Shape 17"/>
          <p:cNvSpPr/>
          <p:nvPr/>
        </p:nvSpPr>
        <p:spPr>
          <a:xfrm>
            <a:off x="320040" y="2359152"/>
            <a:ext cx="8503920" cy="1024128"/>
          </a:xfrm>
          <a:prstGeom prst="roundRect">
            <a:avLst>
              <a:gd name="adj" fmla="val 8929"/>
            </a:avLst>
          </a:prstGeom>
          <a:solidFill>
            <a:srgbClr val="F0FDF4"/>
          </a:solidFill>
          <a:ln w="10160">
            <a:solidFill>
              <a:srgbClr val="BBF7D0"/>
            </a:solidFill>
            <a:prstDash val="solid"/>
          </a:ln>
        </p:spPr>
      </p:sp>
      <p:sp>
        <p:nvSpPr>
          <p:cNvPr id="20" name="Shape 18"/>
          <p:cNvSpPr/>
          <p:nvPr/>
        </p:nvSpPr>
        <p:spPr>
          <a:xfrm>
            <a:off x="384048" y="2688336"/>
            <a:ext cx="1207008" cy="347472"/>
          </a:xfrm>
          <a:prstGeom prst="roundRect">
            <a:avLst>
              <a:gd name="adj" fmla="val 21053"/>
            </a:avLst>
          </a:prstGeom>
          <a:solidFill>
            <a:srgbClr val="065F46"/>
          </a:solidFill>
          <a:ln w="12700">
            <a:solidFill>
              <a:srgbClr val="065F46"/>
            </a:solidFill>
            <a:prstDash val="solid"/>
          </a:ln>
        </p:spPr>
      </p:sp>
      <p:sp>
        <p:nvSpPr>
          <p:cNvPr id="21" name="Text 19"/>
          <p:cNvSpPr/>
          <p:nvPr/>
        </p:nvSpPr>
        <p:spPr>
          <a:xfrm>
            <a:off x="384048" y="2688336"/>
            <a:ext cx="120700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Backend Services</a:t>
            </a:r>
            <a:endParaRPr lang="en-US" sz="950" dirty="0"/>
          </a:p>
        </p:txBody>
      </p:sp>
      <p:sp>
        <p:nvSpPr>
          <p:cNvPr id="22" name="Shape 20"/>
          <p:cNvSpPr/>
          <p:nvPr/>
        </p:nvSpPr>
        <p:spPr>
          <a:xfrm>
            <a:off x="1719072" y="2633472"/>
            <a:ext cx="841248" cy="420624"/>
          </a:xfrm>
          <a:prstGeom prst="roundRect">
            <a:avLst>
              <a:gd name="adj" fmla="val 17391"/>
            </a:avLst>
          </a:prstGeom>
          <a:solidFill>
            <a:srgbClr val="FFFFFF"/>
          </a:solidFill>
          <a:ln w="10160">
            <a:solidFill>
              <a:srgbClr val="BBF7D0"/>
            </a:solidFill>
            <a:prstDash val="solid"/>
          </a:ln>
        </p:spPr>
      </p:sp>
      <p:sp>
        <p:nvSpPr>
          <p:cNvPr id="23" name="Text 21"/>
          <p:cNvSpPr/>
          <p:nvPr/>
        </p:nvSpPr>
        <p:spPr>
          <a:xfrm>
            <a:off x="1719072" y="2633472"/>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API Gateway (FastAPI)</a:t>
            </a:r>
            <a:endParaRPr lang="en-US" sz="800" dirty="0"/>
          </a:p>
        </p:txBody>
      </p:sp>
      <p:sp>
        <p:nvSpPr>
          <p:cNvPr id="24" name="Shape 22"/>
          <p:cNvSpPr/>
          <p:nvPr/>
        </p:nvSpPr>
        <p:spPr>
          <a:xfrm>
            <a:off x="2642616" y="2633472"/>
            <a:ext cx="841248" cy="420624"/>
          </a:xfrm>
          <a:prstGeom prst="roundRect">
            <a:avLst>
              <a:gd name="adj" fmla="val 17391"/>
            </a:avLst>
          </a:prstGeom>
          <a:solidFill>
            <a:srgbClr val="FFFFFF"/>
          </a:solidFill>
          <a:ln w="10160">
            <a:solidFill>
              <a:srgbClr val="BBF7D0"/>
            </a:solidFill>
            <a:prstDash val="solid"/>
          </a:ln>
        </p:spPr>
      </p:sp>
      <p:sp>
        <p:nvSpPr>
          <p:cNvPr id="25" name="Text 23"/>
          <p:cNvSpPr/>
          <p:nvPr/>
        </p:nvSpPr>
        <p:spPr>
          <a:xfrm>
            <a:off x="2642616" y="2633472"/>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Document Service</a:t>
            </a:r>
            <a:endParaRPr lang="en-US" sz="800" dirty="0"/>
          </a:p>
        </p:txBody>
      </p:sp>
      <p:sp>
        <p:nvSpPr>
          <p:cNvPr id="26" name="Shape 24"/>
          <p:cNvSpPr/>
          <p:nvPr/>
        </p:nvSpPr>
        <p:spPr>
          <a:xfrm>
            <a:off x="3566160" y="2633472"/>
            <a:ext cx="841248" cy="420624"/>
          </a:xfrm>
          <a:prstGeom prst="roundRect">
            <a:avLst>
              <a:gd name="adj" fmla="val 17391"/>
            </a:avLst>
          </a:prstGeom>
          <a:solidFill>
            <a:srgbClr val="FFFFFF"/>
          </a:solidFill>
          <a:ln w="10160">
            <a:solidFill>
              <a:srgbClr val="BBF7D0"/>
            </a:solidFill>
            <a:prstDash val="solid"/>
          </a:ln>
        </p:spPr>
      </p:sp>
      <p:sp>
        <p:nvSpPr>
          <p:cNvPr id="27" name="Text 25"/>
          <p:cNvSpPr/>
          <p:nvPr/>
        </p:nvSpPr>
        <p:spPr>
          <a:xfrm>
            <a:off x="3566160" y="2633472"/>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Annotation Service</a:t>
            </a:r>
            <a:endParaRPr lang="en-US" sz="800" dirty="0"/>
          </a:p>
        </p:txBody>
      </p:sp>
      <p:sp>
        <p:nvSpPr>
          <p:cNvPr id="28" name="Shape 26"/>
          <p:cNvSpPr/>
          <p:nvPr/>
        </p:nvSpPr>
        <p:spPr>
          <a:xfrm>
            <a:off x="4489704" y="2633472"/>
            <a:ext cx="841248" cy="420624"/>
          </a:xfrm>
          <a:prstGeom prst="roundRect">
            <a:avLst>
              <a:gd name="adj" fmla="val 17391"/>
            </a:avLst>
          </a:prstGeom>
          <a:solidFill>
            <a:srgbClr val="FFFFFF"/>
          </a:solidFill>
          <a:ln w="10160">
            <a:solidFill>
              <a:srgbClr val="BBF7D0"/>
            </a:solidFill>
            <a:prstDash val="solid"/>
          </a:ln>
        </p:spPr>
      </p:sp>
      <p:sp>
        <p:nvSpPr>
          <p:cNvPr id="29" name="Text 27"/>
          <p:cNvSpPr/>
          <p:nvPr/>
        </p:nvSpPr>
        <p:spPr>
          <a:xfrm>
            <a:off x="4489704" y="2633472"/>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Training Orchestrator</a:t>
            </a:r>
            <a:endParaRPr lang="en-US" sz="800" dirty="0"/>
          </a:p>
        </p:txBody>
      </p:sp>
      <p:sp>
        <p:nvSpPr>
          <p:cNvPr id="30" name="Shape 28"/>
          <p:cNvSpPr/>
          <p:nvPr/>
        </p:nvSpPr>
        <p:spPr>
          <a:xfrm>
            <a:off x="5413248" y="2633472"/>
            <a:ext cx="841248" cy="420624"/>
          </a:xfrm>
          <a:prstGeom prst="roundRect">
            <a:avLst>
              <a:gd name="adj" fmla="val 17391"/>
            </a:avLst>
          </a:prstGeom>
          <a:solidFill>
            <a:srgbClr val="FFFFFF"/>
          </a:solidFill>
          <a:ln w="10160">
            <a:solidFill>
              <a:srgbClr val="BBF7D0"/>
            </a:solidFill>
            <a:prstDash val="solid"/>
          </a:ln>
        </p:spPr>
      </p:sp>
      <p:sp>
        <p:nvSpPr>
          <p:cNvPr id="31" name="Text 29"/>
          <p:cNvSpPr/>
          <p:nvPr/>
        </p:nvSpPr>
        <p:spPr>
          <a:xfrm>
            <a:off x="5413248" y="2633472"/>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Model Registry</a:t>
            </a:r>
            <a:endParaRPr lang="en-US" sz="800" dirty="0"/>
          </a:p>
        </p:txBody>
      </p:sp>
      <p:sp>
        <p:nvSpPr>
          <p:cNvPr id="32" name="Shape 30"/>
          <p:cNvSpPr/>
          <p:nvPr/>
        </p:nvSpPr>
        <p:spPr>
          <a:xfrm>
            <a:off x="6336792" y="2633472"/>
            <a:ext cx="841248" cy="420624"/>
          </a:xfrm>
          <a:prstGeom prst="roundRect">
            <a:avLst>
              <a:gd name="adj" fmla="val 17391"/>
            </a:avLst>
          </a:prstGeom>
          <a:solidFill>
            <a:srgbClr val="FFFFFF"/>
          </a:solidFill>
          <a:ln w="10160">
            <a:solidFill>
              <a:srgbClr val="BBF7D0"/>
            </a:solidFill>
            <a:prstDash val="solid"/>
          </a:ln>
        </p:spPr>
      </p:sp>
      <p:sp>
        <p:nvSpPr>
          <p:cNvPr id="33" name="Text 31"/>
          <p:cNvSpPr/>
          <p:nvPr/>
        </p:nvSpPr>
        <p:spPr>
          <a:xfrm>
            <a:off x="6336792" y="2633472"/>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Model Serving</a:t>
            </a:r>
            <a:endParaRPr lang="en-US" sz="800" dirty="0"/>
          </a:p>
        </p:txBody>
      </p:sp>
      <p:sp>
        <p:nvSpPr>
          <p:cNvPr id="34" name="Shape 32"/>
          <p:cNvSpPr/>
          <p:nvPr/>
        </p:nvSpPr>
        <p:spPr>
          <a:xfrm>
            <a:off x="7260336" y="2633472"/>
            <a:ext cx="841248" cy="420624"/>
          </a:xfrm>
          <a:prstGeom prst="roundRect">
            <a:avLst>
              <a:gd name="adj" fmla="val 17391"/>
            </a:avLst>
          </a:prstGeom>
          <a:solidFill>
            <a:srgbClr val="FFFFFF"/>
          </a:solidFill>
          <a:ln w="10160">
            <a:solidFill>
              <a:srgbClr val="BBF7D0"/>
            </a:solidFill>
            <a:prstDash val="solid"/>
          </a:ln>
        </p:spPr>
      </p:sp>
      <p:sp>
        <p:nvSpPr>
          <p:cNvPr id="35" name="Text 33"/>
          <p:cNvSpPr/>
          <p:nvPr/>
        </p:nvSpPr>
        <p:spPr>
          <a:xfrm>
            <a:off x="7260336" y="2633472"/>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Extraction Service</a:t>
            </a:r>
            <a:endParaRPr lang="en-US" sz="800" dirty="0"/>
          </a:p>
        </p:txBody>
      </p:sp>
      <p:sp>
        <p:nvSpPr>
          <p:cNvPr id="36" name="Shape 34"/>
          <p:cNvSpPr/>
          <p:nvPr/>
        </p:nvSpPr>
        <p:spPr>
          <a:xfrm>
            <a:off x="320040" y="3493008"/>
            <a:ext cx="8503920" cy="1024128"/>
          </a:xfrm>
          <a:prstGeom prst="roundRect">
            <a:avLst>
              <a:gd name="adj" fmla="val 8929"/>
            </a:avLst>
          </a:prstGeom>
          <a:solidFill>
            <a:srgbClr val="FFF7ED"/>
          </a:solidFill>
          <a:ln w="10160">
            <a:solidFill>
              <a:srgbClr val="FED7AA"/>
            </a:solidFill>
            <a:prstDash val="solid"/>
          </a:ln>
        </p:spPr>
      </p:sp>
      <p:sp>
        <p:nvSpPr>
          <p:cNvPr id="37" name="Shape 35"/>
          <p:cNvSpPr/>
          <p:nvPr/>
        </p:nvSpPr>
        <p:spPr>
          <a:xfrm>
            <a:off x="384048" y="3822192"/>
            <a:ext cx="1207008" cy="347472"/>
          </a:xfrm>
          <a:prstGeom prst="roundRect">
            <a:avLst>
              <a:gd name="adj" fmla="val 21053"/>
            </a:avLst>
          </a:prstGeom>
          <a:solidFill>
            <a:srgbClr val="92400E"/>
          </a:solidFill>
          <a:ln w="12700">
            <a:solidFill>
              <a:srgbClr val="92400E"/>
            </a:solidFill>
            <a:prstDash val="solid"/>
          </a:ln>
        </p:spPr>
      </p:sp>
      <p:sp>
        <p:nvSpPr>
          <p:cNvPr id="38" name="Text 36"/>
          <p:cNvSpPr/>
          <p:nvPr/>
        </p:nvSpPr>
        <p:spPr>
          <a:xfrm>
            <a:off x="384048" y="3822192"/>
            <a:ext cx="1207008"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Data &amp; Infra</a:t>
            </a:r>
            <a:endParaRPr lang="en-US" sz="950" dirty="0"/>
          </a:p>
        </p:txBody>
      </p:sp>
      <p:sp>
        <p:nvSpPr>
          <p:cNvPr id="39" name="Shape 37"/>
          <p:cNvSpPr/>
          <p:nvPr/>
        </p:nvSpPr>
        <p:spPr>
          <a:xfrm>
            <a:off x="1719072" y="3767328"/>
            <a:ext cx="841248" cy="420624"/>
          </a:xfrm>
          <a:prstGeom prst="roundRect">
            <a:avLst>
              <a:gd name="adj" fmla="val 17391"/>
            </a:avLst>
          </a:prstGeom>
          <a:solidFill>
            <a:srgbClr val="FFFFFF"/>
          </a:solidFill>
          <a:ln w="10160">
            <a:solidFill>
              <a:srgbClr val="FED7AA"/>
            </a:solidFill>
            <a:prstDash val="solid"/>
          </a:ln>
        </p:spPr>
      </p:sp>
      <p:sp>
        <p:nvSpPr>
          <p:cNvPr id="40" name="Text 38"/>
          <p:cNvSpPr/>
          <p:nvPr/>
        </p:nvSpPr>
        <p:spPr>
          <a:xfrm>
            <a:off x="1719072" y="3767328"/>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PostgreSQL 16 + pgvector</a:t>
            </a:r>
            <a:endParaRPr lang="en-US" sz="800" dirty="0"/>
          </a:p>
        </p:txBody>
      </p:sp>
      <p:sp>
        <p:nvSpPr>
          <p:cNvPr id="41" name="Shape 39"/>
          <p:cNvSpPr/>
          <p:nvPr/>
        </p:nvSpPr>
        <p:spPr>
          <a:xfrm>
            <a:off x="2642616" y="3767328"/>
            <a:ext cx="841248" cy="420624"/>
          </a:xfrm>
          <a:prstGeom prst="roundRect">
            <a:avLst>
              <a:gd name="adj" fmla="val 17391"/>
            </a:avLst>
          </a:prstGeom>
          <a:solidFill>
            <a:srgbClr val="FFFFFF"/>
          </a:solidFill>
          <a:ln w="10160">
            <a:solidFill>
              <a:srgbClr val="FED7AA"/>
            </a:solidFill>
            <a:prstDash val="solid"/>
          </a:ln>
        </p:spPr>
      </p:sp>
      <p:sp>
        <p:nvSpPr>
          <p:cNvPr id="42" name="Text 40"/>
          <p:cNvSpPr/>
          <p:nvPr/>
        </p:nvSpPr>
        <p:spPr>
          <a:xfrm>
            <a:off x="2642616" y="3767328"/>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MinIO / S3</a:t>
            </a:r>
            <a:endParaRPr lang="en-US" sz="800" dirty="0"/>
          </a:p>
        </p:txBody>
      </p:sp>
      <p:sp>
        <p:nvSpPr>
          <p:cNvPr id="43" name="Shape 41"/>
          <p:cNvSpPr/>
          <p:nvPr/>
        </p:nvSpPr>
        <p:spPr>
          <a:xfrm>
            <a:off x="3566160" y="3767328"/>
            <a:ext cx="841248" cy="420624"/>
          </a:xfrm>
          <a:prstGeom prst="roundRect">
            <a:avLst>
              <a:gd name="adj" fmla="val 17391"/>
            </a:avLst>
          </a:prstGeom>
          <a:solidFill>
            <a:srgbClr val="FFFFFF"/>
          </a:solidFill>
          <a:ln w="10160">
            <a:solidFill>
              <a:srgbClr val="FED7AA"/>
            </a:solidFill>
            <a:prstDash val="solid"/>
          </a:ln>
        </p:spPr>
      </p:sp>
      <p:sp>
        <p:nvSpPr>
          <p:cNvPr id="44" name="Text 42"/>
          <p:cNvSpPr/>
          <p:nvPr/>
        </p:nvSpPr>
        <p:spPr>
          <a:xfrm>
            <a:off x="3566160" y="3767328"/>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Redis 7</a:t>
            </a:r>
            <a:endParaRPr lang="en-US" sz="800" dirty="0"/>
          </a:p>
        </p:txBody>
      </p:sp>
      <p:sp>
        <p:nvSpPr>
          <p:cNvPr id="45" name="Shape 43"/>
          <p:cNvSpPr/>
          <p:nvPr/>
        </p:nvSpPr>
        <p:spPr>
          <a:xfrm>
            <a:off x="4489704" y="3767328"/>
            <a:ext cx="841248" cy="420624"/>
          </a:xfrm>
          <a:prstGeom prst="roundRect">
            <a:avLst>
              <a:gd name="adj" fmla="val 17391"/>
            </a:avLst>
          </a:prstGeom>
          <a:solidFill>
            <a:srgbClr val="FFFFFF"/>
          </a:solidFill>
          <a:ln w="10160">
            <a:solidFill>
              <a:srgbClr val="FED7AA"/>
            </a:solidFill>
            <a:prstDash val="solid"/>
          </a:ln>
        </p:spPr>
      </p:sp>
      <p:sp>
        <p:nvSpPr>
          <p:cNvPr id="46" name="Text 44"/>
          <p:cNvSpPr/>
          <p:nvPr/>
        </p:nvSpPr>
        <p:spPr>
          <a:xfrm>
            <a:off x="4489704" y="3767328"/>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RabbitMQ</a:t>
            </a:r>
            <a:endParaRPr lang="en-US" sz="800" dirty="0"/>
          </a:p>
        </p:txBody>
      </p:sp>
      <p:sp>
        <p:nvSpPr>
          <p:cNvPr id="47" name="Shape 45"/>
          <p:cNvSpPr/>
          <p:nvPr/>
        </p:nvSpPr>
        <p:spPr>
          <a:xfrm>
            <a:off x="5413248" y="3767328"/>
            <a:ext cx="841248" cy="420624"/>
          </a:xfrm>
          <a:prstGeom prst="roundRect">
            <a:avLst>
              <a:gd name="adj" fmla="val 17391"/>
            </a:avLst>
          </a:prstGeom>
          <a:solidFill>
            <a:srgbClr val="FFFFFF"/>
          </a:solidFill>
          <a:ln w="10160">
            <a:solidFill>
              <a:srgbClr val="FED7AA"/>
            </a:solidFill>
            <a:prstDash val="solid"/>
          </a:ln>
        </p:spPr>
      </p:sp>
      <p:sp>
        <p:nvSpPr>
          <p:cNvPr id="48" name="Text 46"/>
          <p:cNvSpPr/>
          <p:nvPr/>
        </p:nvSpPr>
        <p:spPr>
          <a:xfrm>
            <a:off x="5413248" y="3767328"/>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Prometheus / OTel</a:t>
            </a:r>
            <a:endParaRPr lang="en-US" sz="800" dirty="0"/>
          </a:p>
        </p:txBody>
      </p:sp>
      <p:sp>
        <p:nvSpPr>
          <p:cNvPr id="49" name="Shape 47"/>
          <p:cNvSpPr/>
          <p:nvPr/>
        </p:nvSpPr>
        <p:spPr>
          <a:xfrm>
            <a:off x="6336792" y="3767328"/>
            <a:ext cx="841248" cy="420624"/>
          </a:xfrm>
          <a:prstGeom prst="roundRect">
            <a:avLst>
              <a:gd name="adj" fmla="val 17391"/>
            </a:avLst>
          </a:prstGeom>
          <a:solidFill>
            <a:srgbClr val="FFFFFF"/>
          </a:solidFill>
          <a:ln w="10160">
            <a:solidFill>
              <a:srgbClr val="FED7AA"/>
            </a:solidFill>
            <a:prstDash val="solid"/>
          </a:ln>
        </p:spPr>
      </p:sp>
      <p:sp>
        <p:nvSpPr>
          <p:cNvPr id="50" name="Text 48"/>
          <p:cNvSpPr/>
          <p:nvPr/>
        </p:nvSpPr>
        <p:spPr>
          <a:xfrm>
            <a:off x="6336792" y="3767328"/>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Tesseract OCR</a:t>
            </a:r>
            <a:endParaRPr lang="en-US" sz="800" dirty="0"/>
          </a:p>
        </p:txBody>
      </p:sp>
      <p:sp>
        <p:nvSpPr>
          <p:cNvPr id="51" name="Shape 49"/>
          <p:cNvSpPr/>
          <p:nvPr/>
        </p:nvSpPr>
        <p:spPr>
          <a:xfrm>
            <a:off x="7260336" y="3767328"/>
            <a:ext cx="841248" cy="420624"/>
          </a:xfrm>
          <a:prstGeom prst="roundRect">
            <a:avLst>
              <a:gd name="adj" fmla="val 17391"/>
            </a:avLst>
          </a:prstGeom>
          <a:solidFill>
            <a:srgbClr val="FFFFFF"/>
          </a:solidFill>
          <a:ln w="10160">
            <a:solidFill>
              <a:srgbClr val="FED7AA"/>
            </a:solidFill>
            <a:prstDash val="solid"/>
          </a:ln>
        </p:spPr>
      </p:sp>
      <p:sp>
        <p:nvSpPr>
          <p:cNvPr id="52" name="Text 50"/>
          <p:cNvSpPr/>
          <p:nvPr/>
        </p:nvSpPr>
        <p:spPr>
          <a:xfrm>
            <a:off x="7260336" y="3767328"/>
            <a:ext cx="841248" cy="420624"/>
          </a:xfrm>
          <a:prstGeom prst="rect">
            <a:avLst/>
          </a:prstGeom>
          <a:noFill/>
          <a:ln/>
        </p:spPr>
        <p:txBody>
          <a:bodyPr wrap="square" lIns="0" tIns="0" rIns="0" bIns="0" rtlCol="0" anchor="ctr"/>
          <a:lstStyle/>
          <a:p>
            <a:pPr algn="ctr" indent="0" marL="0">
              <a:buNone/>
            </a:pPr>
            <a:r>
              <a:rPr lang="en-US" sz="800" dirty="0">
                <a:solidFill>
                  <a:srgbClr val="0B1F40"/>
                </a:solidFill>
                <a:latin typeface="Calibri" pitchFamily="34" charset="0"/>
                <a:ea typeface="Calibri" pitchFamily="34" charset="-122"/>
                <a:cs typeface="Calibri" pitchFamily="34" charset="-120"/>
              </a:rPr>
              <a:t>MLflow 2.20</a:t>
            </a:r>
            <a:endParaRPr lang="en-US" sz="800" dirty="0"/>
          </a:p>
        </p:txBody>
      </p:sp>
      <p:sp>
        <p:nvSpPr>
          <p:cNvPr id="53" name="Text 51"/>
          <p:cNvSpPr/>
          <p:nvPr/>
        </p:nvSpPr>
        <p:spPr>
          <a:xfrm>
            <a:off x="457200" y="4626864"/>
            <a:ext cx="8229600" cy="347472"/>
          </a:xfrm>
          <a:prstGeom prst="rect">
            <a:avLst/>
          </a:prstGeom>
          <a:noFill/>
          <a:ln/>
        </p:spPr>
        <p:txBody>
          <a:bodyPr wrap="square" lIns="0" tIns="0" rIns="0" bIns="0" rtlCol="0" anchor="ctr"/>
          <a:lstStyle/>
          <a:p>
            <a:pPr algn="ctr" indent="0" marL="0">
              <a:buNone/>
            </a:pPr>
            <a:r>
              <a:rPr lang="en-US" sz="1000" dirty="0">
                <a:solidFill>
                  <a:srgbClr val="4B5563"/>
                </a:solidFill>
                <a:latin typeface="Calibri" pitchFamily="34" charset="0"/>
                <a:ea typeface="Calibri" pitchFamily="34" charset="-122"/>
                <a:cs typeface="Calibri" pitchFamily="34" charset="-120"/>
              </a:rPr>
              <a:t>Async: RabbitMQ events  ·  Sync: REST/JWT  ·  Cache: Redis  ·  Secrets: HashiCorp Vault  ·  CI/CD: GitHub Actions</a:t>
            </a:r>
            <a:endParaRPr lang="en-US" sz="1000" dirty="0"/>
          </a:p>
        </p:txBody>
      </p:sp>
      <p:sp>
        <p:nvSpPr>
          <p:cNvPr id="54" name="Shape 52"/>
          <p:cNvSpPr/>
          <p:nvPr/>
        </p:nvSpPr>
        <p:spPr>
          <a:xfrm>
            <a:off x="0" y="4956048"/>
            <a:ext cx="9144000" cy="59436"/>
          </a:xfrm>
          <a:prstGeom prst="rect">
            <a:avLst/>
          </a:prstGeom>
          <a:solidFill>
            <a:srgbClr val="E07820"/>
          </a:solidFill>
          <a:ln w="12700">
            <a:solidFill>
              <a:srgbClr val="E07820"/>
            </a:solidFill>
            <a:prstDash val="solid"/>
          </a:ln>
        </p:spPr>
      </p:sp>
      <p:sp>
        <p:nvSpPr>
          <p:cNvPr id="55" name="Text 53"/>
          <p:cNvSpPr/>
          <p:nvPr/>
        </p:nvSpPr>
        <p:spPr>
          <a:xfrm>
            <a:off x="365760" y="5020056"/>
            <a:ext cx="8412480" cy="182880"/>
          </a:xfrm>
          <a:prstGeom prst="rect">
            <a:avLst/>
          </a:prstGeom>
          <a:noFill/>
          <a:ln/>
        </p:spPr>
        <p:txBody>
          <a:bodyPr wrap="square" lIns="0" tIns="0" rIns="0" bIns="0" rtlCol="0" anchor="ctr"/>
          <a:lstStyle/>
          <a:p>
            <a:pPr algn="l" indent="0" marL="0">
              <a:buNone/>
            </a:pPr>
            <a:r>
              <a:rPr lang="en-US" sz="850" dirty="0">
                <a:solidFill>
                  <a:srgbClr val="4B5563"/>
                </a:solidFill>
                <a:latin typeface="Calibri" pitchFamily="34" charset="0"/>
                <a:ea typeface="Calibri" pitchFamily="34" charset="-122"/>
                <a:cs typeface="Calibri" pitchFamily="34" charset="-120"/>
              </a:rPr>
              <a:t>InApp  |  Multi-Tenant Custom NER Platform</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D"/>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3200" b="1" dirty="0">
                <a:solidFill>
                  <a:srgbClr val="0B2A5E"/>
                </a:solidFill>
                <a:latin typeface="Cambria" pitchFamily="34" charset="0"/>
                <a:ea typeface="Cambria" pitchFamily="34" charset="-122"/>
                <a:cs typeface="Cambria" pitchFamily="34" charset="-120"/>
              </a:rPr>
              <a:t>The ML Pipeline</a:t>
            </a:r>
            <a:endParaRPr lang="en-US" sz="32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algn="l" indent="0" marL="0">
              <a:buNone/>
            </a:pPr>
            <a:r>
              <a:rPr lang="en-US" sz="1300" dirty="0">
                <a:solidFill>
                  <a:srgbClr val="4B5563"/>
                </a:solidFill>
                <a:latin typeface="Calibri" pitchFamily="34" charset="0"/>
                <a:ea typeface="Calibri" pitchFamily="34" charset="-122"/>
                <a:cs typeface="Calibri" pitchFamily="34" charset="-120"/>
              </a:rPr>
              <a:t>Full MLOps lifecycle: annotation → fine-tuning → evaluation → governed deployment</a:t>
            </a:r>
            <a:endParaRPr lang="en-US" sz="1300" dirty="0"/>
          </a:p>
        </p:txBody>
      </p:sp>
      <p:sp>
        <p:nvSpPr>
          <p:cNvPr id="4" name="Shape 2"/>
          <p:cNvSpPr/>
          <p:nvPr/>
        </p:nvSpPr>
        <p:spPr>
          <a:xfrm>
            <a:off x="274320" y="1207008"/>
            <a:ext cx="1572768" cy="3291840"/>
          </a:xfrm>
          <a:prstGeom prst="roundRect">
            <a:avLst>
              <a:gd name="adj" fmla="val 5814"/>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5" name="Shape 3"/>
          <p:cNvSpPr/>
          <p:nvPr/>
        </p:nvSpPr>
        <p:spPr>
          <a:xfrm>
            <a:off x="274320" y="1207008"/>
            <a:ext cx="1572768" cy="822960"/>
          </a:xfrm>
          <a:prstGeom prst="roundRect">
            <a:avLst>
              <a:gd name="adj" fmla="val 11111"/>
            </a:avLst>
          </a:prstGeom>
          <a:solidFill>
            <a:srgbClr val="0B2A5E"/>
          </a:solidFill>
          <a:ln w="12700">
            <a:solidFill>
              <a:srgbClr val="0B2A5E"/>
            </a:solidFill>
            <a:prstDash val="solid"/>
          </a:ln>
        </p:spPr>
      </p:sp>
      <p:sp>
        <p:nvSpPr>
          <p:cNvPr id="6" name="Shape 4"/>
          <p:cNvSpPr/>
          <p:nvPr/>
        </p:nvSpPr>
        <p:spPr>
          <a:xfrm>
            <a:off x="274320" y="1828800"/>
            <a:ext cx="1572768" cy="201168"/>
          </a:xfrm>
          <a:prstGeom prst="rect">
            <a:avLst/>
          </a:prstGeom>
          <a:solidFill>
            <a:srgbClr val="0B2A5E"/>
          </a:solidFill>
          <a:ln w="12700">
            <a:solidFill>
              <a:srgbClr val="0B2A5E"/>
            </a:solidFill>
            <a:prstDash val="solid"/>
          </a:ln>
        </p:spPr>
      </p:sp>
      <p:sp>
        <p:nvSpPr>
          <p:cNvPr id="7" name="Text 5"/>
          <p:cNvSpPr/>
          <p:nvPr/>
        </p:nvSpPr>
        <p:spPr>
          <a:xfrm>
            <a:off x="347472" y="1261872"/>
            <a:ext cx="1426464" cy="347472"/>
          </a:xfrm>
          <a:prstGeom prst="rect">
            <a:avLst/>
          </a:prstGeom>
          <a:noFill/>
          <a:ln/>
        </p:spPr>
        <p:txBody>
          <a:bodyPr wrap="square" lIns="0" tIns="0" rIns="0" bIns="0" rtlCol="0" anchor="ctr"/>
          <a:lstStyle/>
          <a:p>
            <a:pPr algn="ctr" indent="0" marL="0">
              <a:buNone/>
            </a:pPr>
            <a:r>
              <a:rPr lang="en-US" sz="1100" b="1" dirty="0">
                <a:solidFill>
                  <a:srgbClr val="FFFFFF">
                    <a:alpha val="50000"/>
                  </a:srgbClr>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347472" y="1554480"/>
            <a:ext cx="142646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BIO/IOB2</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Dataset</a:t>
            </a:r>
            <a:endParaRPr lang="en-US" sz="1150" dirty="0"/>
          </a:p>
        </p:txBody>
      </p:sp>
      <p:sp>
        <p:nvSpPr>
          <p:cNvPr id="9" name="Text 7"/>
          <p:cNvSpPr/>
          <p:nvPr/>
        </p:nvSpPr>
        <p:spPr>
          <a:xfrm>
            <a:off x="365760" y="2121408"/>
            <a:ext cx="1389888" cy="2267712"/>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Annotators label token spans. Pre-labels from bert-base-NER accepted/rejected. Export in HuggingFace Dataset format for Trainer API.</a:t>
            </a:r>
            <a:endParaRPr lang="en-US" sz="1050" dirty="0"/>
          </a:p>
        </p:txBody>
      </p:sp>
      <p:sp>
        <p:nvSpPr>
          <p:cNvPr id="10" name="Shape 8"/>
          <p:cNvSpPr/>
          <p:nvPr/>
        </p:nvSpPr>
        <p:spPr>
          <a:xfrm>
            <a:off x="1856232" y="2734056"/>
            <a:ext cx="91440" cy="237744"/>
          </a:xfrm>
          <a:prstGeom prst="chevron">
            <a:avLst/>
          </a:prstGeom>
          <a:solidFill>
            <a:srgbClr val="BFCFEF"/>
          </a:solidFill>
          <a:ln w="12700">
            <a:solidFill>
              <a:srgbClr val="BFCFEF"/>
            </a:solidFill>
            <a:prstDash val="solid"/>
          </a:ln>
        </p:spPr>
      </p:sp>
      <p:sp>
        <p:nvSpPr>
          <p:cNvPr id="11" name="Shape 9"/>
          <p:cNvSpPr/>
          <p:nvPr/>
        </p:nvSpPr>
        <p:spPr>
          <a:xfrm>
            <a:off x="1938528" y="1207008"/>
            <a:ext cx="1572768" cy="3291840"/>
          </a:xfrm>
          <a:prstGeom prst="roundRect">
            <a:avLst>
              <a:gd name="adj" fmla="val 5814"/>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12" name="Shape 10"/>
          <p:cNvSpPr/>
          <p:nvPr/>
        </p:nvSpPr>
        <p:spPr>
          <a:xfrm>
            <a:off x="1938528" y="1207008"/>
            <a:ext cx="1572768" cy="822960"/>
          </a:xfrm>
          <a:prstGeom prst="roundRect">
            <a:avLst>
              <a:gd name="adj" fmla="val 11111"/>
            </a:avLst>
          </a:prstGeom>
          <a:solidFill>
            <a:srgbClr val="1464B8"/>
          </a:solidFill>
          <a:ln w="12700">
            <a:solidFill>
              <a:srgbClr val="1464B8"/>
            </a:solidFill>
            <a:prstDash val="solid"/>
          </a:ln>
        </p:spPr>
      </p:sp>
      <p:sp>
        <p:nvSpPr>
          <p:cNvPr id="13" name="Shape 11"/>
          <p:cNvSpPr/>
          <p:nvPr/>
        </p:nvSpPr>
        <p:spPr>
          <a:xfrm>
            <a:off x="1938528" y="1828800"/>
            <a:ext cx="1572768" cy="201168"/>
          </a:xfrm>
          <a:prstGeom prst="rect">
            <a:avLst/>
          </a:prstGeom>
          <a:solidFill>
            <a:srgbClr val="1464B8"/>
          </a:solidFill>
          <a:ln w="12700">
            <a:solidFill>
              <a:srgbClr val="1464B8"/>
            </a:solidFill>
            <a:prstDash val="solid"/>
          </a:ln>
        </p:spPr>
      </p:sp>
      <p:sp>
        <p:nvSpPr>
          <p:cNvPr id="14" name="Text 12"/>
          <p:cNvSpPr/>
          <p:nvPr/>
        </p:nvSpPr>
        <p:spPr>
          <a:xfrm>
            <a:off x="2011680" y="1261872"/>
            <a:ext cx="1426464" cy="347472"/>
          </a:xfrm>
          <a:prstGeom prst="rect">
            <a:avLst/>
          </a:prstGeom>
          <a:noFill/>
          <a:ln/>
        </p:spPr>
        <p:txBody>
          <a:bodyPr wrap="square" lIns="0" tIns="0" rIns="0" bIns="0" rtlCol="0" anchor="ctr"/>
          <a:lstStyle/>
          <a:p>
            <a:pPr algn="ctr" indent="0" marL="0">
              <a:buNone/>
            </a:pPr>
            <a:r>
              <a:rPr lang="en-US" sz="1100" b="1" dirty="0">
                <a:solidFill>
                  <a:srgbClr val="FFFFFF">
                    <a:alpha val="50000"/>
                  </a:srgbClr>
                </a:solidFill>
                <a:latin typeface="Calibri" pitchFamily="34" charset="0"/>
                <a:ea typeface="Calibri" pitchFamily="34" charset="-122"/>
                <a:cs typeface="Calibri" pitchFamily="34" charset="-120"/>
              </a:rPr>
              <a:t>02</a:t>
            </a:r>
            <a:endParaRPr lang="en-US" sz="1100" dirty="0"/>
          </a:p>
        </p:txBody>
      </p:sp>
      <p:sp>
        <p:nvSpPr>
          <p:cNvPr id="15" name="Text 13"/>
          <p:cNvSpPr/>
          <p:nvPr/>
        </p:nvSpPr>
        <p:spPr>
          <a:xfrm>
            <a:off x="2011680" y="1554480"/>
            <a:ext cx="142646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BERT</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Fine-Tuning</a:t>
            </a:r>
            <a:endParaRPr lang="en-US" sz="1150" dirty="0"/>
          </a:p>
        </p:txBody>
      </p:sp>
      <p:sp>
        <p:nvSpPr>
          <p:cNvPr id="16" name="Text 14"/>
          <p:cNvSpPr/>
          <p:nvPr/>
        </p:nvSpPr>
        <p:spPr>
          <a:xfrm>
            <a:off x="2029968" y="2121408"/>
            <a:ext cx="1389888" cy="2267712"/>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dslim/bert-base-NER fine-tuned per tenant. Celery GPU workers on K8s node pools. Checkpoint resume on failure. Scale-to-zero idle.</a:t>
            </a:r>
            <a:endParaRPr lang="en-US" sz="1050" dirty="0"/>
          </a:p>
        </p:txBody>
      </p:sp>
      <p:sp>
        <p:nvSpPr>
          <p:cNvPr id="17" name="Shape 15"/>
          <p:cNvSpPr/>
          <p:nvPr/>
        </p:nvSpPr>
        <p:spPr>
          <a:xfrm>
            <a:off x="3520440" y="2734056"/>
            <a:ext cx="91440" cy="237744"/>
          </a:xfrm>
          <a:prstGeom prst="chevron">
            <a:avLst/>
          </a:prstGeom>
          <a:solidFill>
            <a:srgbClr val="BFCFEF"/>
          </a:solidFill>
          <a:ln w="12700">
            <a:solidFill>
              <a:srgbClr val="BFCFEF"/>
            </a:solidFill>
            <a:prstDash val="solid"/>
          </a:ln>
        </p:spPr>
      </p:sp>
      <p:sp>
        <p:nvSpPr>
          <p:cNvPr id="18" name="Shape 16"/>
          <p:cNvSpPr/>
          <p:nvPr/>
        </p:nvSpPr>
        <p:spPr>
          <a:xfrm>
            <a:off x="3602736" y="1207008"/>
            <a:ext cx="1572768" cy="3291840"/>
          </a:xfrm>
          <a:prstGeom prst="roundRect">
            <a:avLst>
              <a:gd name="adj" fmla="val 5814"/>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19" name="Shape 17"/>
          <p:cNvSpPr/>
          <p:nvPr/>
        </p:nvSpPr>
        <p:spPr>
          <a:xfrm>
            <a:off x="3602736" y="1207008"/>
            <a:ext cx="1572768" cy="822960"/>
          </a:xfrm>
          <a:prstGeom prst="roundRect">
            <a:avLst>
              <a:gd name="adj" fmla="val 11111"/>
            </a:avLst>
          </a:prstGeom>
          <a:solidFill>
            <a:srgbClr val="0E7490"/>
          </a:solidFill>
          <a:ln w="12700">
            <a:solidFill>
              <a:srgbClr val="0E7490"/>
            </a:solidFill>
            <a:prstDash val="solid"/>
          </a:ln>
        </p:spPr>
      </p:sp>
      <p:sp>
        <p:nvSpPr>
          <p:cNvPr id="20" name="Shape 18"/>
          <p:cNvSpPr/>
          <p:nvPr/>
        </p:nvSpPr>
        <p:spPr>
          <a:xfrm>
            <a:off x="3602736" y="1828800"/>
            <a:ext cx="1572768" cy="201168"/>
          </a:xfrm>
          <a:prstGeom prst="rect">
            <a:avLst/>
          </a:prstGeom>
          <a:solidFill>
            <a:srgbClr val="0E7490"/>
          </a:solidFill>
          <a:ln w="12700">
            <a:solidFill>
              <a:srgbClr val="0E7490"/>
            </a:solidFill>
            <a:prstDash val="solid"/>
          </a:ln>
        </p:spPr>
      </p:sp>
      <p:sp>
        <p:nvSpPr>
          <p:cNvPr id="21" name="Text 19"/>
          <p:cNvSpPr/>
          <p:nvPr/>
        </p:nvSpPr>
        <p:spPr>
          <a:xfrm>
            <a:off x="3675888" y="1261872"/>
            <a:ext cx="1426464" cy="347472"/>
          </a:xfrm>
          <a:prstGeom prst="rect">
            <a:avLst/>
          </a:prstGeom>
          <a:noFill/>
          <a:ln/>
        </p:spPr>
        <p:txBody>
          <a:bodyPr wrap="square" lIns="0" tIns="0" rIns="0" bIns="0" rtlCol="0" anchor="ctr"/>
          <a:lstStyle/>
          <a:p>
            <a:pPr algn="ctr" indent="0" marL="0">
              <a:buNone/>
            </a:pPr>
            <a:r>
              <a:rPr lang="en-US" sz="1100" b="1" dirty="0">
                <a:solidFill>
                  <a:srgbClr val="FFFFFF">
                    <a:alpha val="50000"/>
                  </a:srgbClr>
                </a:solidFill>
                <a:latin typeface="Calibri" pitchFamily="34" charset="0"/>
                <a:ea typeface="Calibri" pitchFamily="34" charset="-122"/>
                <a:cs typeface="Calibri" pitchFamily="34" charset="-120"/>
              </a:rPr>
              <a:t>03</a:t>
            </a:r>
            <a:endParaRPr lang="en-US" sz="1100" dirty="0"/>
          </a:p>
        </p:txBody>
      </p:sp>
      <p:sp>
        <p:nvSpPr>
          <p:cNvPr id="22" name="Text 20"/>
          <p:cNvSpPr/>
          <p:nvPr/>
        </p:nvSpPr>
        <p:spPr>
          <a:xfrm>
            <a:off x="3675888" y="1554480"/>
            <a:ext cx="142646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Evaluation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Metrics</a:t>
            </a:r>
            <a:endParaRPr lang="en-US" sz="1150" dirty="0"/>
          </a:p>
        </p:txBody>
      </p:sp>
      <p:sp>
        <p:nvSpPr>
          <p:cNvPr id="23" name="Text 21"/>
          <p:cNvSpPr/>
          <p:nvPr/>
        </p:nvSpPr>
        <p:spPr>
          <a:xfrm>
            <a:off x="3694176" y="2121408"/>
            <a:ext cx="1389888" cy="2267712"/>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Precision, recall, F1 per entity type. Confusion matrix. Minimum promotion thresholds enforced. No bypass — gates are mandatory.</a:t>
            </a:r>
            <a:endParaRPr lang="en-US" sz="1050" dirty="0"/>
          </a:p>
        </p:txBody>
      </p:sp>
      <p:sp>
        <p:nvSpPr>
          <p:cNvPr id="24" name="Shape 22"/>
          <p:cNvSpPr/>
          <p:nvPr/>
        </p:nvSpPr>
        <p:spPr>
          <a:xfrm>
            <a:off x="5184648" y="2734056"/>
            <a:ext cx="91440" cy="237744"/>
          </a:xfrm>
          <a:prstGeom prst="chevron">
            <a:avLst/>
          </a:prstGeom>
          <a:solidFill>
            <a:srgbClr val="BFCFEF"/>
          </a:solidFill>
          <a:ln w="12700">
            <a:solidFill>
              <a:srgbClr val="BFCFEF"/>
            </a:solidFill>
            <a:prstDash val="solid"/>
          </a:ln>
        </p:spPr>
      </p:sp>
      <p:sp>
        <p:nvSpPr>
          <p:cNvPr id="25" name="Shape 23"/>
          <p:cNvSpPr/>
          <p:nvPr/>
        </p:nvSpPr>
        <p:spPr>
          <a:xfrm>
            <a:off x="5266944" y="1207008"/>
            <a:ext cx="1572768" cy="3291840"/>
          </a:xfrm>
          <a:prstGeom prst="roundRect">
            <a:avLst>
              <a:gd name="adj" fmla="val 5814"/>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26" name="Shape 24"/>
          <p:cNvSpPr/>
          <p:nvPr/>
        </p:nvSpPr>
        <p:spPr>
          <a:xfrm>
            <a:off x="5266944" y="1207008"/>
            <a:ext cx="1572768" cy="822960"/>
          </a:xfrm>
          <a:prstGeom prst="roundRect">
            <a:avLst>
              <a:gd name="adj" fmla="val 11111"/>
            </a:avLst>
          </a:prstGeom>
          <a:solidFill>
            <a:srgbClr val="E07820"/>
          </a:solidFill>
          <a:ln w="12700">
            <a:solidFill>
              <a:srgbClr val="E07820"/>
            </a:solidFill>
            <a:prstDash val="solid"/>
          </a:ln>
        </p:spPr>
      </p:sp>
      <p:sp>
        <p:nvSpPr>
          <p:cNvPr id="27" name="Shape 25"/>
          <p:cNvSpPr/>
          <p:nvPr/>
        </p:nvSpPr>
        <p:spPr>
          <a:xfrm>
            <a:off x="5266944" y="1828800"/>
            <a:ext cx="1572768" cy="201168"/>
          </a:xfrm>
          <a:prstGeom prst="rect">
            <a:avLst/>
          </a:prstGeom>
          <a:solidFill>
            <a:srgbClr val="E07820"/>
          </a:solidFill>
          <a:ln w="12700">
            <a:solidFill>
              <a:srgbClr val="E07820"/>
            </a:solidFill>
            <a:prstDash val="solid"/>
          </a:ln>
        </p:spPr>
      </p:sp>
      <p:sp>
        <p:nvSpPr>
          <p:cNvPr id="28" name="Text 26"/>
          <p:cNvSpPr/>
          <p:nvPr/>
        </p:nvSpPr>
        <p:spPr>
          <a:xfrm>
            <a:off x="5340096" y="1261872"/>
            <a:ext cx="1426464" cy="347472"/>
          </a:xfrm>
          <a:prstGeom prst="rect">
            <a:avLst/>
          </a:prstGeom>
          <a:noFill/>
          <a:ln/>
        </p:spPr>
        <p:txBody>
          <a:bodyPr wrap="square" lIns="0" tIns="0" rIns="0" bIns="0" rtlCol="0" anchor="ctr"/>
          <a:lstStyle/>
          <a:p>
            <a:pPr algn="ctr" indent="0" marL="0">
              <a:buNone/>
            </a:pPr>
            <a:r>
              <a:rPr lang="en-US" sz="1100" b="1" dirty="0">
                <a:solidFill>
                  <a:srgbClr val="FFFFFF">
                    <a:alpha val="50000"/>
                  </a:srgbClr>
                </a:solidFill>
                <a:latin typeface="Calibri" pitchFamily="34" charset="0"/>
                <a:ea typeface="Calibri" pitchFamily="34" charset="-122"/>
                <a:cs typeface="Calibri" pitchFamily="34" charset="-120"/>
              </a:rPr>
              <a:t>04</a:t>
            </a:r>
            <a:endParaRPr lang="en-US" sz="1100" dirty="0"/>
          </a:p>
        </p:txBody>
      </p:sp>
      <p:sp>
        <p:nvSpPr>
          <p:cNvPr id="29" name="Text 27"/>
          <p:cNvSpPr/>
          <p:nvPr/>
        </p:nvSpPr>
        <p:spPr>
          <a:xfrm>
            <a:off x="5340096" y="1554480"/>
            <a:ext cx="142646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Approval</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Gate</a:t>
            </a:r>
            <a:endParaRPr lang="en-US" sz="1150" dirty="0"/>
          </a:p>
        </p:txBody>
      </p:sp>
      <p:sp>
        <p:nvSpPr>
          <p:cNvPr id="30" name="Text 28"/>
          <p:cNvSpPr/>
          <p:nvPr/>
        </p:nvSpPr>
        <p:spPr>
          <a:xfrm>
            <a:off x="5358384" y="2121408"/>
            <a:ext cx="1389888" cy="2267712"/>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System admin or Tenant admin reviews metrics dashboard and manually approves. Rejected versions stay in registry — never promoted.</a:t>
            </a:r>
            <a:endParaRPr lang="en-US" sz="1050" dirty="0"/>
          </a:p>
        </p:txBody>
      </p:sp>
      <p:sp>
        <p:nvSpPr>
          <p:cNvPr id="31" name="Shape 29"/>
          <p:cNvSpPr/>
          <p:nvPr/>
        </p:nvSpPr>
        <p:spPr>
          <a:xfrm>
            <a:off x="6848856" y="2734056"/>
            <a:ext cx="91440" cy="237744"/>
          </a:xfrm>
          <a:prstGeom prst="chevron">
            <a:avLst/>
          </a:prstGeom>
          <a:solidFill>
            <a:srgbClr val="BFCFEF"/>
          </a:solidFill>
          <a:ln w="12700">
            <a:solidFill>
              <a:srgbClr val="BFCFEF"/>
            </a:solidFill>
            <a:prstDash val="solid"/>
          </a:ln>
        </p:spPr>
      </p:sp>
      <p:sp>
        <p:nvSpPr>
          <p:cNvPr id="32" name="Shape 30"/>
          <p:cNvSpPr/>
          <p:nvPr/>
        </p:nvSpPr>
        <p:spPr>
          <a:xfrm>
            <a:off x="6931152" y="1207008"/>
            <a:ext cx="1572768" cy="3291840"/>
          </a:xfrm>
          <a:prstGeom prst="roundRect">
            <a:avLst>
              <a:gd name="adj" fmla="val 5814"/>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33" name="Shape 31"/>
          <p:cNvSpPr/>
          <p:nvPr/>
        </p:nvSpPr>
        <p:spPr>
          <a:xfrm>
            <a:off x="6931152" y="1207008"/>
            <a:ext cx="1572768" cy="822960"/>
          </a:xfrm>
          <a:prstGeom prst="roundRect">
            <a:avLst>
              <a:gd name="adj" fmla="val 11111"/>
            </a:avLst>
          </a:prstGeom>
          <a:solidFill>
            <a:srgbClr val="047857"/>
          </a:solidFill>
          <a:ln w="12700">
            <a:solidFill>
              <a:srgbClr val="047857"/>
            </a:solidFill>
            <a:prstDash val="solid"/>
          </a:ln>
        </p:spPr>
      </p:sp>
      <p:sp>
        <p:nvSpPr>
          <p:cNvPr id="34" name="Shape 32"/>
          <p:cNvSpPr/>
          <p:nvPr/>
        </p:nvSpPr>
        <p:spPr>
          <a:xfrm>
            <a:off x="6931152" y="1828800"/>
            <a:ext cx="1572768" cy="201168"/>
          </a:xfrm>
          <a:prstGeom prst="rect">
            <a:avLst/>
          </a:prstGeom>
          <a:solidFill>
            <a:srgbClr val="047857"/>
          </a:solidFill>
          <a:ln w="12700">
            <a:solidFill>
              <a:srgbClr val="047857"/>
            </a:solidFill>
            <a:prstDash val="solid"/>
          </a:ln>
        </p:spPr>
      </p:sp>
      <p:sp>
        <p:nvSpPr>
          <p:cNvPr id="35" name="Text 33"/>
          <p:cNvSpPr/>
          <p:nvPr/>
        </p:nvSpPr>
        <p:spPr>
          <a:xfrm>
            <a:off x="7004304" y="1261872"/>
            <a:ext cx="1426464" cy="347472"/>
          </a:xfrm>
          <a:prstGeom prst="rect">
            <a:avLst/>
          </a:prstGeom>
          <a:noFill/>
          <a:ln/>
        </p:spPr>
        <p:txBody>
          <a:bodyPr wrap="square" lIns="0" tIns="0" rIns="0" bIns="0" rtlCol="0" anchor="ctr"/>
          <a:lstStyle/>
          <a:p>
            <a:pPr algn="ctr" indent="0" marL="0">
              <a:buNone/>
            </a:pPr>
            <a:r>
              <a:rPr lang="en-US" sz="1100" b="1" dirty="0">
                <a:solidFill>
                  <a:srgbClr val="FFFFFF">
                    <a:alpha val="50000"/>
                  </a:srgbClr>
                </a:solidFill>
                <a:latin typeface="Calibri" pitchFamily="34" charset="0"/>
                <a:ea typeface="Calibri" pitchFamily="34" charset="-122"/>
                <a:cs typeface="Calibri" pitchFamily="34" charset="-120"/>
              </a:rPr>
              <a:t>05</a:t>
            </a:r>
            <a:endParaRPr lang="en-US" sz="1100" dirty="0"/>
          </a:p>
        </p:txBody>
      </p:sp>
      <p:sp>
        <p:nvSpPr>
          <p:cNvPr id="36" name="Text 34"/>
          <p:cNvSpPr/>
          <p:nvPr/>
        </p:nvSpPr>
        <p:spPr>
          <a:xfrm>
            <a:off x="7004304" y="1554480"/>
            <a:ext cx="142646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Production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Serving</a:t>
            </a:r>
            <a:endParaRPr lang="en-US" sz="1150" dirty="0"/>
          </a:p>
        </p:txBody>
      </p:sp>
      <p:sp>
        <p:nvSpPr>
          <p:cNvPr id="37" name="Text 35"/>
          <p:cNvSpPr/>
          <p:nvPr/>
        </p:nvSpPr>
        <p:spPr>
          <a:xfrm>
            <a:off x="7022592" y="2121408"/>
            <a:ext cx="1389888" cy="2267712"/>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ONNX Runtime inference in shared GPU pool. Per-tenant version pinning. LRU eviction. Rollback to any prior version in &lt;10 minutes.</a:t>
            </a:r>
            <a:endParaRPr lang="en-US" sz="1050" dirty="0"/>
          </a:p>
        </p:txBody>
      </p:sp>
      <p:sp>
        <p:nvSpPr>
          <p:cNvPr id="38" name="Shape 36"/>
          <p:cNvSpPr/>
          <p:nvPr/>
        </p:nvSpPr>
        <p:spPr>
          <a:xfrm>
            <a:off x="2834640" y="4590288"/>
            <a:ext cx="3474720" cy="347472"/>
          </a:xfrm>
          <a:prstGeom prst="roundRect">
            <a:avLst>
              <a:gd name="adj" fmla="val 26316"/>
            </a:avLst>
          </a:prstGeom>
          <a:solidFill>
            <a:srgbClr val="6D28D9">
              <a:alpha val="85000"/>
            </a:srgbClr>
          </a:solidFill>
          <a:ln w="12700">
            <a:solidFill>
              <a:srgbClr val="6D28D9"/>
            </a:solidFill>
            <a:prstDash val="solid"/>
          </a:ln>
        </p:spPr>
      </p:sp>
      <p:sp>
        <p:nvSpPr>
          <p:cNvPr id="39" name="Text 37"/>
          <p:cNvSpPr/>
          <p:nvPr/>
        </p:nvSpPr>
        <p:spPr>
          <a:xfrm>
            <a:off x="2834640" y="4590288"/>
            <a:ext cx="347472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MLflow  |  Every training run tracked — params, metrics, artifacts, full model lineage</a:t>
            </a:r>
            <a:endParaRPr lang="en-US" sz="1050" dirty="0"/>
          </a:p>
        </p:txBody>
      </p:sp>
      <p:sp>
        <p:nvSpPr>
          <p:cNvPr id="40" name="Shape 38"/>
          <p:cNvSpPr/>
          <p:nvPr/>
        </p:nvSpPr>
        <p:spPr>
          <a:xfrm>
            <a:off x="0" y="4956048"/>
            <a:ext cx="9144000" cy="59436"/>
          </a:xfrm>
          <a:prstGeom prst="rect">
            <a:avLst/>
          </a:prstGeom>
          <a:solidFill>
            <a:srgbClr val="E07820"/>
          </a:solidFill>
          <a:ln w="12700">
            <a:solidFill>
              <a:srgbClr val="E07820"/>
            </a:solidFill>
            <a:prstDash val="solid"/>
          </a:ln>
        </p:spPr>
      </p:sp>
      <p:sp>
        <p:nvSpPr>
          <p:cNvPr id="41" name="Text 39"/>
          <p:cNvSpPr/>
          <p:nvPr/>
        </p:nvSpPr>
        <p:spPr>
          <a:xfrm>
            <a:off x="365760" y="5020056"/>
            <a:ext cx="8412480" cy="182880"/>
          </a:xfrm>
          <a:prstGeom prst="rect">
            <a:avLst/>
          </a:prstGeom>
          <a:noFill/>
          <a:ln/>
        </p:spPr>
        <p:txBody>
          <a:bodyPr wrap="square" lIns="0" tIns="0" rIns="0" bIns="0" rtlCol="0" anchor="ctr"/>
          <a:lstStyle/>
          <a:p>
            <a:pPr algn="l" indent="0" marL="0">
              <a:buNone/>
            </a:pPr>
            <a:r>
              <a:rPr lang="en-US" sz="850" dirty="0">
                <a:solidFill>
                  <a:srgbClr val="4B5563"/>
                </a:solidFill>
                <a:latin typeface="Calibri" pitchFamily="34" charset="0"/>
                <a:ea typeface="Calibri" pitchFamily="34" charset="-122"/>
                <a:cs typeface="Calibri" pitchFamily="34" charset="-120"/>
              </a:rPr>
              <a:t>InApp  |  Multi-Tenant Custom NER Platform</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4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3200" b="1" dirty="0">
                <a:solidFill>
                  <a:srgbClr val="0B2A5E"/>
                </a:solidFill>
                <a:latin typeface="Cambria" pitchFamily="34" charset="0"/>
                <a:ea typeface="Cambria" pitchFamily="34" charset="-122"/>
                <a:cs typeface="Cambria" pitchFamily="34" charset="-120"/>
              </a:rPr>
              <a:t>Multi-Tenant Isolation</a:t>
            </a:r>
            <a:endParaRPr lang="en-US" sz="32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algn="l" indent="0" marL="0">
              <a:buNone/>
            </a:pPr>
            <a:r>
              <a:rPr lang="en-US" sz="1300" dirty="0">
                <a:solidFill>
                  <a:srgbClr val="4B5563"/>
                </a:solidFill>
                <a:latin typeface="Calibri" pitchFamily="34" charset="0"/>
                <a:ea typeface="Calibri" pitchFamily="34" charset="-122"/>
                <a:cs typeface="Calibri" pitchFamily="34" charset="-120"/>
              </a:rPr>
              <a:t>Hard isolation at every layer — zero cross-tenant data access by design (ADR-001)</a:t>
            </a:r>
            <a:endParaRPr lang="en-US" sz="1300" dirty="0"/>
          </a:p>
        </p:txBody>
      </p:sp>
      <p:sp>
        <p:nvSpPr>
          <p:cNvPr id="4" name="Shape 2"/>
          <p:cNvSpPr/>
          <p:nvPr/>
        </p:nvSpPr>
        <p:spPr>
          <a:xfrm>
            <a:off x="347472" y="1225296"/>
            <a:ext cx="6327648" cy="676656"/>
          </a:xfrm>
          <a:prstGeom prst="roundRect">
            <a:avLst>
              <a:gd name="adj" fmla="val 10811"/>
            </a:avLst>
          </a:prstGeom>
          <a:solidFill>
            <a:srgbClr val="FFFFFF"/>
          </a:solidFill>
          <a:ln w="8890">
            <a:solidFill>
              <a:srgbClr val="DDE6F5"/>
            </a:solidFill>
            <a:prstDash val="solid"/>
          </a:ln>
          <a:effectLst>
            <a:outerShdw sx="100000" sy="100000" kx="0" ky="0" algn="bl" rotWithShape="0" blurRad="76200" dist="25400" dir="2700000">
              <a:srgbClr val="000000">
                <a:alpha val="9000"/>
              </a:srgbClr>
            </a:outerShdw>
          </a:effectLst>
        </p:spPr>
      </p:sp>
      <p:sp>
        <p:nvSpPr>
          <p:cNvPr id="5" name="Shape 3"/>
          <p:cNvSpPr/>
          <p:nvPr/>
        </p:nvSpPr>
        <p:spPr>
          <a:xfrm>
            <a:off x="457200" y="1399032"/>
            <a:ext cx="1188720" cy="329184"/>
          </a:xfrm>
          <a:prstGeom prst="roundRect">
            <a:avLst>
              <a:gd name="adj" fmla="val 16667"/>
            </a:avLst>
          </a:prstGeom>
          <a:solidFill>
            <a:srgbClr val="0B2A5E"/>
          </a:solidFill>
          <a:ln w="12700">
            <a:solidFill>
              <a:srgbClr val="0B2A5E"/>
            </a:solidFill>
            <a:prstDash val="solid"/>
          </a:ln>
        </p:spPr>
      </p:sp>
      <p:sp>
        <p:nvSpPr>
          <p:cNvPr id="6" name="Text 4"/>
          <p:cNvSpPr/>
          <p:nvPr/>
        </p:nvSpPr>
        <p:spPr>
          <a:xfrm>
            <a:off x="457200" y="1399032"/>
            <a:ext cx="118872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API Gateway</a:t>
            </a:r>
            <a:endParaRPr lang="en-US" sz="950" dirty="0"/>
          </a:p>
        </p:txBody>
      </p:sp>
      <p:sp>
        <p:nvSpPr>
          <p:cNvPr id="7" name="Text 5"/>
          <p:cNvSpPr/>
          <p:nvPr/>
        </p:nvSpPr>
        <p:spPr>
          <a:xfrm>
            <a:off x="1755648" y="1316736"/>
            <a:ext cx="4809744" cy="493776"/>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JWT tenant_id validated on every request. X-Tenant-ID injected and propagated across all downstream services. No cross-tenant routing possible.</a:t>
            </a:r>
            <a:endParaRPr lang="en-US" sz="1050" dirty="0"/>
          </a:p>
        </p:txBody>
      </p:sp>
      <p:sp>
        <p:nvSpPr>
          <p:cNvPr id="8" name="Shape 6"/>
          <p:cNvSpPr/>
          <p:nvPr/>
        </p:nvSpPr>
        <p:spPr>
          <a:xfrm>
            <a:off x="347472" y="1956816"/>
            <a:ext cx="6327648" cy="676656"/>
          </a:xfrm>
          <a:prstGeom prst="roundRect">
            <a:avLst>
              <a:gd name="adj" fmla="val 10811"/>
            </a:avLst>
          </a:prstGeom>
          <a:solidFill>
            <a:srgbClr val="FFFFFF"/>
          </a:solidFill>
          <a:ln w="8890">
            <a:solidFill>
              <a:srgbClr val="DDE6F5"/>
            </a:solidFill>
            <a:prstDash val="solid"/>
          </a:ln>
          <a:effectLst>
            <a:outerShdw sx="100000" sy="100000" kx="0" ky="0" algn="bl" rotWithShape="0" blurRad="76200" dist="25400" dir="2700000">
              <a:srgbClr val="000000">
                <a:alpha val="9000"/>
              </a:srgbClr>
            </a:outerShdw>
          </a:effectLst>
        </p:spPr>
      </p:sp>
      <p:sp>
        <p:nvSpPr>
          <p:cNvPr id="9" name="Shape 7"/>
          <p:cNvSpPr/>
          <p:nvPr/>
        </p:nvSpPr>
        <p:spPr>
          <a:xfrm>
            <a:off x="457200" y="2130552"/>
            <a:ext cx="1188720" cy="329184"/>
          </a:xfrm>
          <a:prstGeom prst="roundRect">
            <a:avLst>
              <a:gd name="adj" fmla="val 16667"/>
            </a:avLst>
          </a:prstGeom>
          <a:solidFill>
            <a:srgbClr val="1D4ED8"/>
          </a:solidFill>
          <a:ln w="12700">
            <a:solidFill>
              <a:srgbClr val="1D4ED8"/>
            </a:solidFill>
            <a:prstDash val="solid"/>
          </a:ln>
        </p:spPr>
      </p:sp>
      <p:sp>
        <p:nvSpPr>
          <p:cNvPr id="10" name="Text 8"/>
          <p:cNvSpPr/>
          <p:nvPr/>
        </p:nvSpPr>
        <p:spPr>
          <a:xfrm>
            <a:off x="457200" y="2130552"/>
            <a:ext cx="118872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Database</a:t>
            </a:r>
            <a:endParaRPr lang="en-US" sz="950" dirty="0"/>
          </a:p>
        </p:txBody>
      </p:sp>
      <p:sp>
        <p:nvSpPr>
          <p:cNvPr id="11" name="Text 9"/>
          <p:cNvSpPr/>
          <p:nvPr/>
        </p:nvSpPr>
        <p:spPr>
          <a:xfrm>
            <a:off x="1755648" y="2048256"/>
            <a:ext cx="4809744" cy="493776"/>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Separate PostgreSQL schema per tenant — CREATE SCHEMA tenant_{id}. SET search_path enforced at PgBouncer checkout. Migration scripts run per-schema.</a:t>
            </a:r>
            <a:endParaRPr lang="en-US" sz="1050" dirty="0"/>
          </a:p>
        </p:txBody>
      </p:sp>
      <p:sp>
        <p:nvSpPr>
          <p:cNvPr id="12" name="Shape 10"/>
          <p:cNvSpPr/>
          <p:nvPr/>
        </p:nvSpPr>
        <p:spPr>
          <a:xfrm>
            <a:off x="347472" y="2688336"/>
            <a:ext cx="6327648" cy="676656"/>
          </a:xfrm>
          <a:prstGeom prst="roundRect">
            <a:avLst>
              <a:gd name="adj" fmla="val 10811"/>
            </a:avLst>
          </a:prstGeom>
          <a:solidFill>
            <a:srgbClr val="FFFFFF"/>
          </a:solidFill>
          <a:ln w="8890">
            <a:solidFill>
              <a:srgbClr val="DDE6F5"/>
            </a:solidFill>
            <a:prstDash val="solid"/>
          </a:ln>
          <a:effectLst>
            <a:outerShdw sx="100000" sy="100000" kx="0" ky="0" algn="bl" rotWithShape="0" blurRad="76200" dist="25400" dir="2700000">
              <a:srgbClr val="000000">
                <a:alpha val="9000"/>
              </a:srgbClr>
            </a:outerShdw>
          </a:effectLst>
        </p:spPr>
      </p:sp>
      <p:sp>
        <p:nvSpPr>
          <p:cNvPr id="13" name="Shape 11"/>
          <p:cNvSpPr/>
          <p:nvPr/>
        </p:nvSpPr>
        <p:spPr>
          <a:xfrm>
            <a:off x="457200" y="2862072"/>
            <a:ext cx="1188720" cy="329184"/>
          </a:xfrm>
          <a:prstGeom prst="roundRect">
            <a:avLst>
              <a:gd name="adj" fmla="val 16667"/>
            </a:avLst>
          </a:prstGeom>
          <a:solidFill>
            <a:srgbClr val="075985"/>
          </a:solidFill>
          <a:ln w="12700">
            <a:solidFill>
              <a:srgbClr val="075985"/>
            </a:solidFill>
            <a:prstDash val="solid"/>
          </a:ln>
        </p:spPr>
      </p:sp>
      <p:sp>
        <p:nvSpPr>
          <p:cNvPr id="14" name="Text 12"/>
          <p:cNvSpPr/>
          <p:nvPr/>
        </p:nvSpPr>
        <p:spPr>
          <a:xfrm>
            <a:off x="457200" y="2862072"/>
            <a:ext cx="118872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Object Storage</a:t>
            </a:r>
            <a:endParaRPr lang="en-US" sz="950" dirty="0"/>
          </a:p>
        </p:txBody>
      </p:sp>
      <p:sp>
        <p:nvSpPr>
          <p:cNvPr id="15" name="Text 13"/>
          <p:cNvSpPr/>
          <p:nvPr/>
        </p:nvSpPr>
        <p:spPr>
          <a:xfrm>
            <a:off x="1755648" y="2779776"/>
            <a:ext cx="4809744" cy="493776"/>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Prefix-based isolation: s3://ner-platform/tenant-{id}/documents/ and /models/. IAM-style bucket policies per prefix enforced at storage layer.</a:t>
            </a:r>
            <a:endParaRPr lang="en-US" sz="1050" dirty="0"/>
          </a:p>
        </p:txBody>
      </p:sp>
      <p:sp>
        <p:nvSpPr>
          <p:cNvPr id="16" name="Shape 14"/>
          <p:cNvSpPr/>
          <p:nvPr/>
        </p:nvSpPr>
        <p:spPr>
          <a:xfrm>
            <a:off x="347472" y="3419856"/>
            <a:ext cx="6327648" cy="676656"/>
          </a:xfrm>
          <a:prstGeom prst="roundRect">
            <a:avLst>
              <a:gd name="adj" fmla="val 10811"/>
            </a:avLst>
          </a:prstGeom>
          <a:solidFill>
            <a:srgbClr val="FFFFFF"/>
          </a:solidFill>
          <a:ln w="8890">
            <a:solidFill>
              <a:srgbClr val="DDE6F5"/>
            </a:solidFill>
            <a:prstDash val="solid"/>
          </a:ln>
          <a:effectLst>
            <a:outerShdw sx="100000" sy="100000" kx="0" ky="0" algn="bl" rotWithShape="0" blurRad="76200" dist="25400" dir="2700000">
              <a:srgbClr val="000000">
                <a:alpha val="9000"/>
              </a:srgbClr>
            </a:outerShdw>
          </a:effectLst>
        </p:spPr>
      </p:sp>
      <p:sp>
        <p:nvSpPr>
          <p:cNvPr id="17" name="Shape 15"/>
          <p:cNvSpPr/>
          <p:nvPr/>
        </p:nvSpPr>
        <p:spPr>
          <a:xfrm>
            <a:off x="457200" y="3593592"/>
            <a:ext cx="1188720" cy="329184"/>
          </a:xfrm>
          <a:prstGeom prst="roundRect">
            <a:avLst>
              <a:gd name="adj" fmla="val 16667"/>
            </a:avLst>
          </a:prstGeom>
          <a:solidFill>
            <a:srgbClr val="065F46"/>
          </a:solidFill>
          <a:ln w="12700">
            <a:solidFill>
              <a:srgbClr val="065F46"/>
            </a:solidFill>
            <a:prstDash val="solid"/>
          </a:ln>
        </p:spPr>
      </p:sp>
      <p:sp>
        <p:nvSpPr>
          <p:cNvPr id="18" name="Text 16"/>
          <p:cNvSpPr/>
          <p:nvPr/>
        </p:nvSpPr>
        <p:spPr>
          <a:xfrm>
            <a:off x="457200" y="3593592"/>
            <a:ext cx="118872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Model Serving</a:t>
            </a:r>
            <a:endParaRPr lang="en-US" sz="950" dirty="0"/>
          </a:p>
        </p:txBody>
      </p:sp>
      <p:sp>
        <p:nvSpPr>
          <p:cNvPr id="19" name="Text 17"/>
          <p:cNvSpPr/>
          <p:nvPr/>
        </p:nvSpPr>
        <p:spPr>
          <a:xfrm>
            <a:off x="1755648" y="3511296"/>
            <a:ext cx="4809744" cy="493776"/>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Per-tenant active model version pinned in registry. Shared inference pool with isolated routing. Path to dedicated K8s pod per high-volume tenant.</a:t>
            </a:r>
            <a:endParaRPr lang="en-US" sz="1050" dirty="0"/>
          </a:p>
        </p:txBody>
      </p:sp>
      <p:sp>
        <p:nvSpPr>
          <p:cNvPr id="20" name="Shape 18"/>
          <p:cNvSpPr/>
          <p:nvPr/>
        </p:nvSpPr>
        <p:spPr>
          <a:xfrm>
            <a:off x="347472" y="4151376"/>
            <a:ext cx="6327648" cy="676656"/>
          </a:xfrm>
          <a:prstGeom prst="roundRect">
            <a:avLst>
              <a:gd name="adj" fmla="val 10811"/>
            </a:avLst>
          </a:prstGeom>
          <a:solidFill>
            <a:srgbClr val="FFFFFF"/>
          </a:solidFill>
          <a:ln w="8890">
            <a:solidFill>
              <a:srgbClr val="DDE6F5"/>
            </a:solidFill>
            <a:prstDash val="solid"/>
          </a:ln>
          <a:effectLst>
            <a:outerShdw sx="100000" sy="100000" kx="0" ky="0" algn="bl" rotWithShape="0" blurRad="76200" dist="25400" dir="2700000">
              <a:srgbClr val="000000">
                <a:alpha val="9000"/>
              </a:srgbClr>
            </a:outerShdw>
          </a:effectLst>
        </p:spPr>
      </p:sp>
      <p:sp>
        <p:nvSpPr>
          <p:cNvPr id="21" name="Shape 19"/>
          <p:cNvSpPr/>
          <p:nvPr/>
        </p:nvSpPr>
        <p:spPr>
          <a:xfrm>
            <a:off x="457200" y="4325112"/>
            <a:ext cx="1188720" cy="329184"/>
          </a:xfrm>
          <a:prstGeom prst="roundRect">
            <a:avLst>
              <a:gd name="adj" fmla="val 16667"/>
            </a:avLst>
          </a:prstGeom>
          <a:solidFill>
            <a:srgbClr val="6D28D9"/>
          </a:solidFill>
          <a:ln w="12700">
            <a:solidFill>
              <a:srgbClr val="6D28D9"/>
            </a:solidFill>
            <a:prstDash val="solid"/>
          </a:ln>
        </p:spPr>
      </p:sp>
      <p:sp>
        <p:nvSpPr>
          <p:cNvPr id="22" name="Text 20"/>
          <p:cNvSpPr/>
          <p:nvPr/>
        </p:nvSpPr>
        <p:spPr>
          <a:xfrm>
            <a:off x="457200" y="4325112"/>
            <a:ext cx="118872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Audit Log</a:t>
            </a:r>
            <a:endParaRPr lang="en-US" sz="950" dirty="0"/>
          </a:p>
        </p:txBody>
      </p:sp>
      <p:sp>
        <p:nvSpPr>
          <p:cNvPr id="23" name="Text 21"/>
          <p:cNvSpPr/>
          <p:nvPr/>
        </p:nvSpPr>
        <p:spPr>
          <a:xfrm>
            <a:off x="1755648" y="4242816"/>
            <a:ext cx="4809744" cy="493776"/>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Every user action, training trigger, extraction run, and model promotion recorded with tenant_id, user_id, timestamp, and model version. Immutable trail.</a:t>
            </a:r>
            <a:endParaRPr lang="en-US" sz="1050" dirty="0"/>
          </a:p>
        </p:txBody>
      </p:sp>
      <p:sp>
        <p:nvSpPr>
          <p:cNvPr id="24" name="Shape 22"/>
          <p:cNvSpPr/>
          <p:nvPr/>
        </p:nvSpPr>
        <p:spPr>
          <a:xfrm>
            <a:off x="6949440" y="1353312"/>
            <a:ext cx="1920240" cy="1005840"/>
          </a:xfrm>
          <a:prstGeom prst="roundRect">
            <a:avLst>
              <a:gd name="adj" fmla="val 10909"/>
            </a:avLst>
          </a:prstGeom>
          <a:solidFill>
            <a:srgbClr val="0B2A5E"/>
          </a:solidFill>
          <a:ln w="12700">
            <a:solidFill>
              <a:srgbClr val="0B2A5E"/>
            </a:solidFill>
            <a:prstDash val="solid"/>
          </a:ln>
        </p:spPr>
      </p:sp>
      <p:sp>
        <p:nvSpPr>
          <p:cNvPr id="25" name="Text 23"/>
          <p:cNvSpPr/>
          <p:nvPr/>
        </p:nvSpPr>
        <p:spPr>
          <a:xfrm>
            <a:off x="6949440" y="1426464"/>
            <a:ext cx="1920240"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100%</a:t>
            </a:r>
            <a:endParaRPr lang="en-US" sz="2200" dirty="0"/>
          </a:p>
        </p:txBody>
      </p:sp>
      <p:sp>
        <p:nvSpPr>
          <p:cNvPr id="26" name="Text 24"/>
          <p:cNvSpPr/>
          <p:nvPr/>
        </p:nvSpPr>
        <p:spPr>
          <a:xfrm>
            <a:off x="6949440" y="1901952"/>
            <a:ext cx="1920240" cy="43891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Tenant data isolation</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test pass rate</a:t>
            </a:r>
            <a:endParaRPr lang="en-US" sz="900" dirty="0"/>
          </a:p>
        </p:txBody>
      </p:sp>
      <p:sp>
        <p:nvSpPr>
          <p:cNvPr id="27" name="Shape 25"/>
          <p:cNvSpPr/>
          <p:nvPr/>
        </p:nvSpPr>
        <p:spPr>
          <a:xfrm>
            <a:off x="6949440" y="2587752"/>
            <a:ext cx="1920240" cy="1005840"/>
          </a:xfrm>
          <a:prstGeom prst="roundRect">
            <a:avLst>
              <a:gd name="adj" fmla="val 10909"/>
            </a:avLst>
          </a:prstGeom>
          <a:solidFill>
            <a:srgbClr val="1464B8"/>
          </a:solidFill>
          <a:ln w="12700">
            <a:solidFill>
              <a:srgbClr val="1464B8"/>
            </a:solidFill>
            <a:prstDash val="solid"/>
          </a:ln>
        </p:spPr>
      </p:sp>
      <p:sp>
        <p:nvSpPr>
          <p:cNvPr id="28" name="Text 26"/>
          <p:cNvSpPr/>
          <p:nvPr/>
        </p:nvSpPr>
        <p:spPr>
          <a:xfrm>
            <a:off x="6949440" y="2660904"/>
            <a:ext cx="1920240"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ADR-001</a:t>
            </a:r>
            <a:endParaRPr lang="en-US" sz="2200" dirty="0"/>
          </a:p>
        </p:txBody>
      </p:sp>
      <p:sp>
        <p:nvSpPr>
          <p:cNvPr id="29" name="Text 27"/>
          <p:cNvSpPr/>
          <p:nvPr/>
        </p:nvSpPr>
        <p:spPr>
          <a:xfrm>
            <a:off x="6949440" y="3136392"/>
            <a:ext cx="1920240" cy="43891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Schema-per-tenant</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architecture decision</a:t>
            </a:r>
            <a:endParaRPr lang="en-US" sz="900" dirty="0"/>
          </a:p>
        </p:txBody>
      </p:sp>
      <p:sp>
        <p:nvSpPr>
          <p:cNvPr id="30" name="Shape 28"/>
          <p:cNvSpPr/>
          <p:nvPr/>
        </p:nvSpPr>
        <p:spPr>
          <a:xfrm>
            <a:off x="6949440" y="3822192"/>
            <a:ext cx="1920240" cy="1005840"/>
          </a:xfrm>
          <a:prstGeom prst="roundRect">
            <a:avLst>
              <a:gd name="adj" fmla="val 10909"/>
            </a:avLst>
          </a:prstGeom>
          <a:solidFill>
            <a:srgbClr val="E07820"/>
          </a:solidFill>
          <a:ln w="12700">
            <a:solidFill>
              <a:srgbClr val="E07820"/>
            </a:solidFill>
            <a:prstDash val="solid"/>
          </a:ln>
        </p:spPr>
      </p:sp>
      <p:sp>
        <p:nvSpPr>
          <p:cNvPr id="31" name="Text 29"/>
          <p:cNvSpPr/>
          <p:nvPr/>
        </p:nvSpPr>
        <p:spPr>
          <a:xfrm>
            <a:off x="6949440" y="3895344"/>
            <a:ext cx="1920240"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&lt; 10 min</a:t>
            </a:r>
            <a:endParaRPr lang="en-US" sz="2200" dirty="0"/>
          </a:p>
        </p:txBody>
      </p:sp>
      <p:sp>
        <p:nvSpPr>
          <p:cNvPr id="32" name="Text 30"/>
          <p:cNvSpPr/>
          <p:nvPr/>
        </p:nvSpPr>
        <p:spPr>
          <a:xfrm>
            <a:off x="6949440" y="4370832"/>
            <a:ext cx="1920240" cy="43891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Model rollback time</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to any prior version</a:t>
            </a:r>
            <a:endParaRPr lang="en-US" sz="900" dirty="0"/>
          </a:p>
        </p:txBody>
      </p:sp>
      <p:sp>
        <p:nvSpPr>
          <p:cNvPr id="33" name="Shape 31"/>
          <p:cNvSpPr/>
          <p:nvPr/>
        </p:nvSpPr>
        <p:spPr>
          <a:xfrm>
            <a:off x="0" y="4956048"/>
            <a:ext cx="9144000" cy="59436"/>
          </a:xfrm>
          <a:prstGeom prst="rect">
            <a:avLst/>
          </a:prstGeom>
          <a:solidFill>
            <a:srgbClr val="E07820"/>
          </a:solidFill>
          <a:ln w="12700">
            <a:solidFill>
              <a:srgbClr val="E07820"/>
            </a:solidFill>
            <a:prstDash val="solid"/>
          </a:ln>
        </p:spPr>
      </p:sp>
      <p:sp>
        <p:nvSpPr>
          <p:cNvPr id="34" name="Text 32"/>
          <p:cNvSpPr/>
          <p:nvPr/>
        </p:nvSpPr>
        <p:spPr>
          <a:xfrm>
            <a:off x="365760" y="5020056"/>
            <a:ext cx="8412480" cy="182880"/>
          </a:xfrm>
          <a:prstGeom prst="rect">
            <a:avLst/>
          </a:prstGeom>
          <a:noFill/>
          <a:ln/>
        </p:spPr>
        <p:txBody>
          <a:bodyPr wrap="square" lIns="0" tIns="0" rIns="0" bIns="0" rtlCol="0" anchor="ctr"/>
          <a:lstStyle/>
          <a:p>
            <a:pPr algn="l" indent="0" marL="0">
              <a:buNone/>
            </a:pPr>
            <a:r>
              <a:rPr lang="en-US" sz="850" dirty="0">
                <a:solidFill>
                  <a:srgbClr val="4B5563"/>
                </a:solidFill>
                <a:latin typeface="Calibri" pitchFamily="34" charset="0"/>
                <a:ea typeface="Calibri" pitchFamily="34" charset="-122"/>
                <a:cs typeface="Calibri" pitchFamily="34" charset="-120"/>
              </a:rPr>
              <a:t>InApp  |  Multi-Tenant Custom NER Platform</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A5E"/>
        </a:solidFill>
      </p:bgPr>
    </p:bg>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Built AI-Native, Spec-First</a:t>
            </a:r>
            <a:endParaRPr lang="en-US" sz="3000" dirty="0"/>
          </a:p>
        </p:txBody>
      </p:sp>
      <p:sp>
        <p:nvSpPr>
          <p:cNvPr id="3" name="Text 1"/>
          <p:cNvSpPr/>
          <p:nvPr/>
        </p:nvSpPr>
        <p:spPr>
          <a:xfrm>
            <a:off x="457200" y="694944"/>
            <a:ext cx="8229600" cy="292608"/>
          </a:xfrm>
          <a:prstGeom prst="rect">
            <a:avLst/>
          </a:prstGeom>
          <a:noFill/>
          <a:ln/>
        </p:spPr>
        <p:txBody>
          <a:bodyPr wrap="square" lIns="0" tIns="0" rIns="0" bIns="0" rtlCol="0" anchor="ctr"/>
          <a:lstStyle/>
          <a:p>
            <a:pPr algn="l" indent="0" marL="0">
              <a:buNone/>
            </a:pPr>
            <a:r>
              <a:rPr lang="en-US" sz="1250" dirty="0">
                <a:solidFill>
                  <a:srgbClr val="CADCFC"/>
                </a:solidFill>
                <a:latin typeface="Calibri" pitchFamily="34" charset="0"/>
                <a:ea typeface="Calibri" pitchFamily="34" charset="-122"/>
                <a:cs typeface="Calibri" pitchFamily="34" charset="-120"/>
              </a:rPr>
              <a:t>OpenSpec governs every change. OpenCode executes every task. Humans approve every gate.</a:t>
            </a:r>
            <a:endParaRPr lang="en-US" sz="1250" dirty="0"/>
          </a:p>
        </p:txBody>
      </p:sp>
      <p:sp>
        <p:nvSpPr>
          <p:cNvPr id="4" name="Shape 2"/>
          <p:cNvSpPr/>
          <p:nvPr/>
        </p:nvSpPr>
        <p:spPr>
          <a:xfrm>
            <a:off x="292608" y="1060704"/>
            <a:ext cx="4041648" cy="3401568"/>
          </a:xfrm>
          <a:prstGeom prst="roundRect">
            <a:avLst>
              <a:gd name="adj" fmla="val 3763"/>
            </a:avLst>
          </a:prstGeom>
          <a:solidFill>
            <a:srgbClr val="0A1F4E"/>
          </a:solidFill>
          <a:ln w="11430">
            <a:solidFill>
              <a:srgbClr val="1A4A8A"/>
            </a:solidFill>
            <a:prstDash val="solid"/>
          </a:ln>
        </p:spPr>
      </p:sp>
      <p:sp>
        <p:nvSpPr>
          <p:cNvPr id="5" name="Shape 3"/>
          <p:cNvSpPr/>
          <p:nvPr/>
        </p:nvSpPr>
        <p:spPr>
          <a:xfrm>
            <a:off x="384048" y="1133856"/>
            <a:ext cx="1645920" cy="274320"/>
          </a:xfrm>
          <a:prstGeom prst="roundRect">
            <a:avLst>
              <a:gd name="adj" fmla="val 16667"/>
            </a:avLst>
          </a:prstGeom>
          <a:solidFill>
            <a:srgbClr val="E07820"/>
          </a:solidFill>
          <a:ln w="12700">
            <a:solidFill>
              <a:srgbClr val="E07820"/>
            </a:solidFill>
            <a:prstDash val="solid"/>
          </a:ln>
        </p:spPr>
      </p:sp>
      <p:sp>
        <p:nvSpPr>
          <p:cNvPr id="6" name="Text 4"/>
          <p:cNvSpPr/>
          <p:nvPr/>
        </p:nvSpPr>
        <p:spPr>
          <a:xfrm>
            <a:off x="384048" y="1133856"/>
            <a:ext cx="16459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OpenSpec — SDD Pipeline</a:t>
            </a:r>
            <a:endParaRPr lang="en-US" sz="850" dirty="0"/>
          </a:p>
        </p:txBody>
      </p:sp>
      <p:sp>
        <p:nvSpPr>
          <p:cNvPr id="7" name="Text 5"/>
          <p:cNvSpPr/>
          <p:nvPr/>
        </p:nvSpPr>
        <p:spPr>
          <a:xfrm>
            <a:off x="402336" y="1463040"/>
            <a:ext cx="3822192" cy="384048"/>
          </a:xfrm>
          <a:prstGeom prst="rect">
            <a:avLst/>
          </a:prstGeom>
          <a:noFill/>
          <a:ln/>
        </p:spPr>
        <p:txBody>
          <a:bodyPr wrap="square" lIns="0" tIns="0" rIns="0" bIns="0" rtlCol="0" anchor="ctr"/>
          <a:lstStyle/>
          <a:p>
            <a:pPr algn="l" indent="0" marL="0">
              <a:buNone/>
            </a:pPr>
            <a:r>
              <a:rPr lang="en-US" sz="950" dirty="0">
                <a:solidFill>
                  <a:srgbClr val="CADCFC"/>
                </a:solidFill>
                <a:latin typeface="Calibri" pitchFamily="34" charset="0"/>
                <a:ea typeface="Calibri" pitchFamily="34" charset="-122"/>
                <a:cs typeface="Calibri" pitchFamily="34" charset="-120"/>
              </a:rPr>
              <a:t>Spec-Driven Development: every feature is traceable from</a:t>
            </a:r>
            <a:endParaRPr lang="en-US" sz="950" dirty="0"/>
          </a:p>
          <a:p>
            <a:pPr algn="l" indent="0" marL="0">
              <a:buNone/>
            </a:pPr>
            <a:r>
              <a:rPr lang="en-US" sz="950" dirty="0">
                <a:solidFill>
                  <a:srgbClr val="CADCFC"/>
                </a:solidFill>
                <a:latin typeface="Calibri" pitchFamily="34" charset="0"/>
                <a:ea typeface="Calibri" pitchFamily="34" charset="-122"/>
                <a:cs typeface="Calibri" pitchFamily="34" charset="-120"/>
              </a:rPr>
              <a:t>business intent to deployed code and archived evidence.</a:t>
            </a:r>
            <a:endParaRPr lang="en-US" sz="950" dirty="0"/>
          </a:p>
        </p:txBody>
      </p:sp>
      <p:sp>
        <p:nvSpPr>
          <p:cNvPr id="8" name="Shape 6"/>
          <p:cNvSpPr/>
          <p:nvPr/>
        </p:nvSpPr>
        <p:spPr>
          <a:xfrm>
            <a:off x="402336" y="1901952"/>
            <a:ext cx="749808" cy="256032"/>
          </a:xfrm>
          <a:prstGeom prst="roundRect">
            <a:avLst>
              <a:gd name="adj" fmla="val 17857"/>
            </a:avLst>
          </a:prstGeom>
          <a:solidFill>
            <a:srgbClr val="E07820"/>
          </a:solidFill>
          <a:ln w="12700">
            <a:solidFill>
              <a:srgbClr val="E07820"/>
            </a:solidFill>
            <a:prstDash val="solid"/>
          </a:ln>
        </p:spPr>
      </p:sp>
      <p:sp>
        <p:nvSpPr>
          <p:cNvPr id="9" name="Text 7"/>
          <p:cNvSpPr/>
          <p:nvPr/>
        </p:nvSpPr>
        <p:spPr>
          <a:xfrm>
            <a:off x="402336" y="1901952"/>
            <a:ext cx="74980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proposal.md</a:t>
            </a:r>
            <a:endParaRPr lang="en-US" sz="800" dirty="0"/>
          </a:p>
        </p:txBody>
      </p:sp>
      <p:sp>
        <p:nvSpPr>
          <p:cNvPr id="10" name="Text 8"/>
          <p:cNvSpPr/>
          <p:nvPr/>
        </p:nvSpPr>
        <p:spPr>
          <a:xfrm>
            <a:off x="1207008" y="1911096"/>
            <a:ext cx="3035808" cy="237744"/>
          </a:xfrm>
          <a:prstGeom prst="rect">
            <a:avLst/>
          </a:prstGeom>
          <a:noFill/>
          <a:ln/>
        </p:spPr>
        <p:txBody>
          <a:bodyPr wrap="square" lIns="0" tIns="0" rIns="0" bIns="0" rtlCol="0" anchor="ctr"/>
          <a:lstStyle/>
          <a:p>
            <a:pPr algn="l" indent="0" marL="0">
              <a:buNone/>
            </a:pPr>
            <a:r>
              <a:rPr lang="en-US" sz="900" dirty="0">
                <a:solidFill>
                  <a:srgbClr val="C5D5EE"/>
                </a:solidFill>
                <a:latin typeface="Calibri" pitchFamily="34" charset="0"/>
                <a:ea typeface="Calibri" pitchFamily="34" charset="-122"/>
                <a:cs typeface="Calibri" pitchFamily="34" charset="-120"/>
              </a:rPr>
              <a:t>Business intent, outcomes, out-of-scope, risks</a:t>
            </a:r>
            <a:endParaRPr lang="en-US" sz="900" dirty="0"/>
          </a:p>
        </p:txBody>
      </p:sp>
      <p:sp>
        <p:nvSpPr>
          <p:cNvPr id="11" name="Shape 9"/>
          <p:cNvSpPr/>
          <p:nvPr/>
        </p:nvSpPr>
        <p:spPr>
          <a:xfrm>
            <a:off x="402336" y="2249424"/>
            <a:ext cx="749808" cy="256032"/>
          </a:xfrm>
          <a:prstGeom prst="roundRect">
            <a:avLst>
              <a:gd name="adj" fmla="val 17857"/>
            </a:avLst>
          </a:prstGeom>
          <a:solidFill>
            <a:srgbClr val="1464B8"/>
          </a:solidFill>
          <a:ln w="12700">
            <a:solidFill>
              <a:srgbClr val="1464B8"/>
            </a:solidFill>
            <a:prstDash val="solid"/>
          </a:ln>
        </p:spPr>
      </p:sp>
      <p:sp>
        <p:nvSpPr>
          <p:cNvPr id="12" name="Text 10"/>
          <p:cNvSpPr/>
          <p:nvPr/>
        </p:nvSpPr>
        <p:spPr>
          <a:xfrm>
            <a:off x="402336" y="2249424"/>
            <a:ext cx="74980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design.md</a:t>
            </a:r>
            <a:endParaRPr lang="en-US" sz="800" dirty="0"/>
          </a:p>
        </p:txBody>
      </p:sp>
      <p:sp>
        <p:nvSpPr>
          <p:cNvPr id="13" name="Text 11"/>
          <p:cNvSpPr/>
          <p:nvPr/>
        </p:nvSpPr>
        <p:spPr>
          <a:xfrm>
            <a:off x="1207008" y="2258568"/>
            <a:ext cx="3035808" cy="237744"/>
          </a:xfrm>
          <a:prstGeom prst="rect">
            <a:avLst/>
          </a:prstGeom>
          <a:noFill/>
          <a:ln/>
        </p:spPr>
        <p:txBody>
          <a:bodyPr wrap="square" lIns="0" tIns="0" rIns="0" bIns="0" rtlCol="0" anchor="ctr"/>
          <a:lstStyle/>
          <a:p>
            <a:pPr algn="l" indent="0" marL="0">
              <a:buNone/>
            </a:pPr>
            <a:r>
              <a:rPr lang="en-US" sz="900" dirty="0">
                <a:solidFill>
                  <a:srgbClr val="C5D5EE"/>
                </a:solidFill>
                <a:latin typeface="Calibri" pitchFamily="34" charset="0"/>
                <a:ea typeface="Calibri" pitchFamily="34" charset="-122"/>
                <a:cs typeface="Calibri" pitchFamily="34" charset="-120"/>
              </a:rPr>
              <a:t>Architecture, APIs, data contracts, failure modes</a:t>
            </a:r>
            <a:endParaRPr lang="en-US" sz="900" dirty="0"/>
          </a:p>
        </p:txBody>
      </p:sp>
      <p:sp>
        <p:nvSpPr>
          <p:cNvPr id="14" name="Shape 12"/>
          <p:cNvSpPr/>
          <p:nvPr/>
        </p:nvSpPr>
        <p:spPr>
          <a:xfrm>
            <a:off x="402336" y="2596896"/>
            <a:ext cx="749808" cy="256032"/>
          </a:xfrm>
          <a:prstGeom prst="roundRect">
            <a:avLst>
              <a:gd name="adj" fmla="val 17857"/>
            </a:avLst>
          </a:prstGeom>
          <a:solidFill>
            <a:srgbClr val="0E7490"/>
          </a:solidFill>
          <a:ln w="12700">
            <a:solidFill>
              <a:srgbClr val="0E7490"/>
            </a:solidFill>
            <a:prstDash val="solid"/>
          </a:ln>
        </p:spPr>
      </p:sp>
      <p:sp>
        <p:nvSpPr>
          <p:cNvPr id="15" name="Text 13"/>
          <p:cNvSpPr/>
          <p:nvPr/>
        </p:nvSpPr>
        <p:spPr>
          <a:xfrm>
            <a:off x="402336" y="2596896"/>
            <a:ext cx="74980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spec.md</a:t>
            </a:r>
            <a:endParaRPr lang="en-US" sz="800" dirty="0"/>
          </a:p>
        </p:txBody>
      </p:sp>
      <p:sp>
        <p:nvSpPr>
          <p:cNvPr id="16" name="Text 14"/>
          <p:cNvSpPr/>
          <p:nvPr/>
        </p:nvSpPr>
        <p:spPr>
          <a:xfrm>
            <a:off x="1207008" y="2606040"/>
            <a:ext cx="3035808" cy="237744"/>
          </a:xfrm>
          <a:prstGeom prst="rect">
            <a:avLst/>
          </a:prstGeom>
          <a:noFill/>
          <a:ln/>
        </p:spPr>
        <p:txBody>
          <a:bodyPr wrap="square" lIns="0" tIns="0" rIns="0" bIns="0" rtlCol="0" anchor="ctr"/>
          <a:lstStyle/>
          <a:p>
            <a:pPr algn="l" indent="0" marL="0">
              <a:buNone/>
            </a:pPr>
            <a:r>
              <a:rPr lang="en-US" sz="900" dirty="0">
                <a:solidFill>
                  <a:srgbClr val="C5D5EE"/>
                </a:solidFill>
                <a:latin typeface="Calibri" pitchFamily="34" charset="0"/>
                <a:ea typeface="Calibri" pitchFamily="34" charset="-122"/>
                <a:cs typeface="Calibri" pitchFamily="34" charset="-120"/>
              </a:rPr>
              <a:t>Testable SHALL requirements &amp; Given/When/Then ACs</a:t>
            </a:r>
            <a:endParaRPr lang="en-US" sz="900" dirty="0"/>
          </a:p>
        </p:txBody>
      </p:sp>
      <p:sp>
        <p:nvSpPr>
          <p:cNvPr id="17" name="Shape 15"/>
          <p:cNvSpPr/>
          <p:nvPr/>
        </p:nvSpPr>
        <p:spPr>
          <a:xfrm>
            <a:off x="402336" y="2944368"/>
            <a:ext cx="749808" cy="256032"/>
          </a:xfrm>
          <a:prstGeom prst="roundRect">
            <a:avLst>
              <a:gd name="adj" fmla="val 17857"/>
            </a:avLst>
          </a:prstGeom>
          <a:solidFill>
            <a:srgbClr val="047857"/>
          </a:solidFill>
          <a:ln w="12700">
            <a:solidFill>
              <a:srgbClr val="047857"/>
            </a:solidFill>
            <a:prstDash val="solid"/>
          </a:ln>
        </p:spPr>
      </p:sp>
      <p:sp>
        <p:nvSpPr>
          <p:cNvPr id="18" name="Text 16"/>
          <p:cNvSpPr/>
          <p:nvPr/>
        </p:nvSpPr>
        <p:spPr>
          <a:xfrm>
            <a:off x="402336" y="2944368"/>
            <a:ext cx="74980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tasks.md</a:t>
            </a:r>
            <a:endParaRPr lang="en-US" sz="800" dirty="0"/>
          </a:p>
        </p:txBody>
      </p:sp>
      <p:sp>
        <p:nvSpPr>
          <p:cNvPr id="19" name="Text 17"/>
          <p:cNvSpPr/>
          <p:nvPr/>
        </p:nvSpPr>
        <p:spPr>
          <a:xfrm>
            <a:off x="1207008" y="2953512"/>
            <a:ext cx="3035808" cy="237744"/>
          </a:xfrm>
          <a:prstGeom prst="rect">
            <a:avLst/>
          </a:prstGeom>
          <a:noFill/>
          <a:ln/>
        </p:spPr>
        <p:txBody>
          <a:bodyPr wrap="square" lIns="0" tIns="0" rIns="0" bIns="0" rtlCol="0" anchor="ctr"/>
          <a:lstStyle/>
          <a:p>
            <a:pPr algn="l" indent="0" marL="0">
              <a:buNone/>
            </a:pPr>
            <a:r>
              <a:rPr lang="en-US" sz="900" dirty="0">
                <a:solidFill>
                  <a:srgbClr val="C5D5EE"/>
                </a:solidFill>
                <a:latin typeface="Calibri" pitchFamily="34" charset="0"/>
                <a:ea typeface="Calibri" pitchFamily="34" charset="-122"/>
                <a:cs typeface="Calibri" pitchFamily="34" charset="-120"/>
              </a:rPr>
              <a:t>Bounded implementation slices, evidence expectations</a:t>
            </a:r>
            <a:endParaRPr lang="en-US" sz="900" dirty="0"/>
          </a:p>
        </p:txBody>
      </p:sp>
      <p:sp>
        <p:nvSpPr>
          <p:cNvPr id="20" name="Shape 18"/>
          <p:cNvSpPr/>
          <p:nvPr/>
        </p:nvSpPr>
        <p:spPr>
          <a:xfrm>
            <a:off x="402336" y="3291840"/>
            <a:ext cx="749808" cy="256032"/>
          </a:xfrm>
          <a:prstGeom prst="roundRect">
            <a:avLst>
              <a:gd name="adj" fmla="val 17857"/>
            </a:avLst>
          </a:prstGeom>
          <a:solidFill>
            <a:srgbClr val="9D4EDD"/>
          </a:solidFill>
          <a:ln w="12700">
            <a:solidFill>
              <a:srgbClr val="9D4EDD"/>
            </a:solidFill>
            <a:prstDash val="solid"/>
          </a:ln>
        </p:spPr>
      </p:sp>
      <p:sp>
        <p:nvSpPr>
          <p:cNvPr id="21" name="Text 19"/>
          <p:cNvSpPr/>
          <p:nvPr/>
        </p:nvSpPr>
        <p:spPr>
          <a:xfrm>
            <a:off x="402336" y="3291840"/>
            <a:ext cx="74980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evidence/</a:t>
            </a:r>
            <a:endParaRPr lang="en-US" sz="800" dirty="0"/>
          </a:p>
        </p:txBody>
      </p:sp>
      <p:sp>
        <p:nvSpPr>
          <p:cNvPr id="22" name="Text 20"/>
          <p:cNvSpPr/>
          <p:nvPr/>
        </p:nvSpPr>
        <p:spPr>
          <a:xfrm>
            <a:off x="1207008" y="3300984"/>
            <a:ext cx="3035808" cy="237744"/>
          </a:xfrm>
          <a:prstGeom prst="rect">
            <a:avLst/>
          </a:prstGeom>
          <a:noFill/>
          <a:ln/>
        </p:spPr>
        <p:txBody>
          <a:bodyPr wrap="square" lIns="0" tIns="0" rIns="0" bIns="0" rtlCol="0" anchor="ctr"/>
          <a:lstStyle/>
          <a:p>
            <a:pPr algn="l" indent="0" marL="0">
              <a:buNone/>
            </a:pPr>
            <a:r>
              <a:rPr lang="en-US" sz="900" dirty="0">
                <a:solidFill>
                  <a:srgbClr val="C5D5EE"/>
                </a:solidFill>
                <a:latin typeface="Calibri" pitchFamily="34" charset="0"/>
                <a:ea typeface="Calibri" pitchFamily="34" charset="-122"/>
                <a:cs typeface="Calibri" pitchFamily="34" charset="-120"/>
              </a:rPr>
              <a:t>Test results, metrics, security review, review notes</a:t>
            </a:r>
            <a:endParaRPr lang="en-US" sz="900" dirty="0"/>
          </a:p>
        </p:txBody>
      </p:sp>
      <p:sp>
        <p:nvSpPr>
          <p:cNvPr id="23" name="Shape 21"/>
          <p:cNvSpPr/>
          <p:nvPr/>
        </p:nvSpPr>
        <p:spPr>
          <a:xfrm>
            <a:off x="402336" y="3639312"/>
            <a:ext cx="749808" cy="256032"/>
          </a:xfrm>
          <a:prstGeom prst="roundRect">
            <a:avLst>
              <a:gd name="adj" fmla="val 17857"/>
            </a:avLst>
          </a:prstGeom>
          <a:solidFill>
            <a:srgbClr val="6B7280"/>
          </a:solidFill>
          <a:ln w="12700">
            <a:solidFill>
              <a:srgbClr val="6B7280"/>
            </a:solidFill>
            <a:prstDash val="solid"/>
          </a:ln>
        </p:spPr>
      </p:sp>
      <p:sp>
        <p:nvSpPr>
          <p:cNvPr id="24" name="Text 22"/>
          <p:cNvSpPr/>
          <p:nvPr/>
        </p:nvSpPr>
        <p:spPr>
          <a:xfrm>
            <a:off x="402336" y="3639312"/>
            <a:ext cx="74980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archive →</a:t>
            </a:r>
            <a:endParaRPr lang="en-US" sz="800" dirty="0"/>
          </a:p>
        </p:txBody>
      </p:sp>
      <p:sp>
        <p:nvSpPr>
          <p:cNvPr id="25" name="Text 23"/>
          <p:cNvSpPr/>
          <p:nvPr/>
        </p:nvSpPr>
        <p:spPr>
          <a:xfrm>
            <a:off x="1207008" y="3648456"/>
            <a:ext cx="3035808" cy="237744"/>
          </a:xfrm>
          <a:prstGeom prst="rect">
            <a:avLst/>
          </a:prstGeom>
          <a:noFill/>
          <a:ln/>
        </p:spPr>
        <p:txBody>
          <a:bodyPr wrap="square" lIns="0" tIns="0" rIns="0" bIns="0" rtlCol="0" anchor="ctr"/>
          <a:lstStyle/>
          <a:p>
            <a:pPr algn="l" indent="0" marL="0">
              <a:buNone/>
            </a:pPr>
            <a:r>
              <a:rPr lang="en-US" sz="900" dirty="0">
                <a:solidFill>
                  <a:srgbClr val="C5D5EE"/>
                </a:solidFill>
                <a:latin typeface="Calibri" pitchFamily="34" charset="0"/>
                <a:ea typeface="Calibri" pitchFamily="34" charset="-122"/>
                <a:cs typeface="Calibri" pitchFamily="34" charset="-120"/>
              </a:rPr>
              <a:t>Source-of-truth specs updated; change closed permanently</a:t>
            </a:r>
            <a:endParaRPr lang="en-US" sz="900" dirty="0"/>
          </a:p>
        </p:txBody>
      </p:sp>
      <p:sp>
        <p:nvSpPr>
          <p:cNvPr id="26" name="Shape 24"/>
          <p:cNvSpPr/>
          <p:nvPr/>
        </p:nvSpPr>
        <p:spPr>
          <a:xfrm>
            <a:off x="402336" y="3950208"/>
            <a:ext cx="3858768" cy="182880"/>
          </a:xfrm>
          <a:prstGeom prst="roundRect">
            <a:avLst>
              <a:gd name="adj" fmla="val 20000"/>
            </a:avLst>
          </a:prstGeom>
          <a:solidFill>
            <a:srgbClr val="E07820">
              <a:alpha val="30000"/>
            </a:srgbClr>
          </a:solidFill>
          <a:ln w="12700">
            <a:solidFill>
              <a:srgbClr val="E07820">
                <a:alpha val="30000"/>
              </a:srgbClr>
            </a:solidFill>
            <a:prstDash val="solid"/>
          </a:ln>
        </p:spPr>
      </p:sp>
      <p:sp>
        <p:nvSpPr>
          <p:cNvPr id="27" name="Text 25"/>
          <p:cNvSpPr/>
          <p:nvPr/>
        </p:nvSpPr>
        <p:spPr>
          <a:xfrm>
            <a:off x="402336" y="3950208"/>
            <a:ext cx="3858768"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50+  OpenSpec change packages delivered  ·  7 ADRs tracked  ·  100% evidence coverage</a:t>
            </a:r>
            <a:endParaRPr lang="en-US" sz="800" dirty="0"/>
          </a:p>
        </p:txBody>
      </p:sp>
      <p:sp>
        <p:nvSpPr>
          <p:cNvPr id="28" name="Shape 26"/>
          <p:cNvSpPr/>
          <p:nvPr/>
        </p:nvSpPr>
        <p:spPr>
          <a:xfrm>
            <a:off x="4553712" y="1060704"/>
            <a:ext cx="4315968" cy="3401568"/>
          </a:xfrm>
          <a:prstGeom prst="roundRect">
            <a:avLst>
              <a:gd name="adj" fmla="val 3763"/>
            </a:avLst>
          </a:prstGeom>
          <a:solidFill>
            <a:srgbClr val="0A1F4E"/>
          </a:solidFill>
          <a:ln w="11430">
            <a:solidFill>
              <a:srgbClr val="1A4A8A"/>
            </a:solidFill>
            <a:prstDash val="solid"/>
          </a:ln>
        </p:spPr>
      </p:sp>
      <p:sp>
        <p:nvSpPr>
          <p:cNvPr id="29" name="Shape 27"/>
          <p:cNvSpPr/>
          <p:nvPr/>
        </p:nvSpPr>
        <p:spPr>
          <a:xfrm>
            <a:off x="4645152" y="1133856"/>
            <a:ext cx="1645920" cy="274320"/>
          </a:xfrm>
          <a:prstGeom prst="roundRect">
            <a:avLst>
              <a:gd name="adj" fmla="val 16667"/>
            </a:avLst>
          </a:prstGeom>
          <a:solidFill>
            <a:srgbClr val="1464B8"/>
          </a:solidFill>
          <a:ln w="12700">
            <a:solidFill>
              <a:srgbClr val="1464B8"/>
            </a:solidFill>
            <a:prstDash val="solid"/>
          </a:ln>
        </p:spPr>
      </p:sp>
      <p:sp>
        <p:nvSpPr>
          <p:cNvPr id="30" name="Text 28"/>
          <p:cNvSpPr/>
          <p:nvPr/>
        </p:nvSpPr>
        <p:spPr>
          <a:xfrm>
            <a:off x="4645152" y="1133856"/>
            <a:ext cx="16459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OpenCode — Agentic Engineering</a:t>
            </a:r>
            <a:endParaRPr lang="en-US" sz="850" dirty="0"/>
          </a:p>
        </p:txBody>
      </p:sp>
      <p:sp>
        <p:nvSpPr>
          <p:cNvPr id="31" name="Text 29"/>
          <p:cNvSpPr/>
          <p:nvPr/>
        </p:nvSpPr>
        <p:spPr>
          <a:xfrm>
            <a:off x="4663440" y="1463040"/>
            <a:ext cx="4096512" cy="384048"/>
          </a:xfrm>
          <a:prstGeom prst="rect">
            <a:avLst/>
          </a:prstGeom>
          <a:noFill/>
          <a:ln/>
        </p:spPr>
        <p:txBody>
          <a:bodyPr wrap="square" lIns="0" tIns="0" rIns="0" bIns="0" rtlCol="0" anchor="ctr"/>
          <a:lstStyle/>
          <a:p>
            <a:pPr algn="l" indent="0" marL="0">
              <a:buNone/>
            </a:pPr>
            <a:r>
              <a:rPr lang="en-US" sz="950" dirty="0">
                <a:solidFill>
                  <a:srgbClr val="CADCFC"/>
                </a:solidFill>
                <a:latin typeface="Calibri" pitchFamily="34" charset="0"/>
                <a:ea typeface="Calibri" pitchFamily="34" charset="-122"/>
                <a:cs typeface="Calibri" pitchFamily="34" charset="-120"/>
              </a:rPr>
              <a:t>Role-specific bounded agents execute implementation tasks.</a:t>
            </a:r>
            <a:endParaRPr lang="en-US" sz="950" dirty="0"/>
          </a:p>
          <a:p>
            <a:pPr algn="l" indent="0" marL="0">
              <a:buNone/>
            </a:pPr>
            <a:r>
              <a:rPr lang="en-US" sz="950" dirty="0">
                <a:solidFill>
                  <a:srgbClr val="CADCFC"/>
                </a:solidFill>
                <a:latin typeface="Calibri" pitchFamily="34" charset="0"/>
                <a:ea typeface="Calibri" pitchFamily="34" charset="-122"/>
                <a:cs typeface="Calibri" pitchFamily="34" charset="-120"/>
              </a:rPr>
              <a:t>Humans retain approval authority at every gate.</a:t>
            </a:r>
            <a:endParaRPr lang="en-US" sz="950" dirty="0"/>
          </a:p>
        </p:txBody>
      </p:sp>
      <p:sp>
        <p:nvSpPr>
          <p:cNvPr id="32" name="Shape 30"/>
          <p:cNvSpPr/>
          <p:nvPr/>
        </p:nvSpPr>
        <p:spPr>
          <a:xfrm>
            <a:off x="4663440" y="1920240"/>
            <a:ext cx="731520" cy="237744"/>
          </a:xfrm>
          <a:prstGeom prst="roundRect">
            <a:avLst>
              <a:gd name="adj" fmla="val 19231"/>
            </a:avLst>
          </a:prstGeom>
          <a:solidFill>
            <a:srgbClr val="0B2A5E"/>
          </a:solidFill>
          <a:ln w="12700">
            <a:solidFill>
              <a:srgbClr val="0B2A5E"/>
            </a:solidFill>
            <a:prstDash val="solid"/>
          </a:ln>
        </p:spPr>
      </p:sp>
      <p:sp>
        <p:nvSpPr>
          <p:cNvPr id="33" name="Text 31"/>
          <p:cNvSpPr/>
          <p:nvPr/>
        </p:nvSpPr>
        <p:spPr>
          <a:xfrm>
            <a:off x="4663440" y="1920240"/>
            <a:ext cx="73152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Planner</a:t>
            </a:r>
            <a:endParaRPr lang="en-US" sz="750" dirty="0"/>
          </a:p>
        </p:txBody>
      </p:sp>
      <p:sp>
        <p:nvSpPr>
          <p:cNvPr id="34" name="Text 32"/>
          <p:cNvSpPr/>
          <p:nvPr/>
        </p:nvSpPr>
        <p:spPr>
          <a:xfrm>
            <a:off x="5468112" y="1929384"/>
            <a:ext cx="3310128" cy="219456"/>
          </a:xfrm>
          <a:prstGeom prst="rect">
            <a:avLst/>
          </a:prstGeom>
          <a:noFill/>
          <a:ln/>
        </p:spPr>
        <p:txBody>
          <a:bodyPr wrap="square" lIns="0" tIns="0" rIns="0" bIns="0" rtlCol="0" anchor="ctr"/>
          <a:lstStyle/>
          <a:p>
            <a:pPr algn="l" indent="0" marL="0">
              <a:buNone/>
            </a:pPr>
            <a:r>
              <a:rPr lang="en-US" sz="900" dirty="0">
                <a:solidFill>
                  <a:srgbClr val="C5D5EE"/>
                </a:solidFill>
                <a:latin typeface="Calibri" pitchFamily="34" charset="0"/>
                <a:ea typeface="Calibri" pitchFamily="34" charset="-122"/>
                <a:cs typeface="Calibri" pitchFamily="34" charset="-120"/>
              </a:rPr>
              <a:t>Read-only — analysis, proposals, architecture reviews. No code writes.</a:t>
            </a:r>
            <a:endParaRPr lang="en-US" sz="900" dirty="0"/>
          </a:p>
        </p:txBody>
      </p:sp>
      <p:sp>
        <p:nvSpPr>
          <p:cNvPr id="35" name="Shape 33"/>
          <p:cNvSpPr/>
          <p:nvPr/>
        </p:nvSpPr>
        <p:spPr>
          <a:xfrm>
            <a:off x="4663440" y="2258568"/>
            <a:ext cx="731520" cy="237744"/>
          </a:xfrm>
          <a:prstGeom prst="roundRect">
            <a:avLst>
              <a:gd name="adj" fmla="val 19231"/>
            </a:avLst>
          </a:prstGeom>
          <a:solidFill>
            <a:srgbClr val="1464B8"/>
          </a:solidFill>
          <a:ln w="12700">
            <a:solidFill>
              <a:srgbClr val="1464B8"/>
            </a:solidFill>
            <a:prstDash val="solid"/>
          </a:ln>
        </p:spPr>
      </p:sp>
      <p:sp>
        <p:nvSpPr>
          <p:cNvPr id="36" name="Text 34"/>
          <p:cNvSpPr/>
          <p:nvPr/>
        </p:nvSpPr>
        <p:spPr>
          <a:xfrm>
            <a:off x="4663440" y="2258568"/>
            <a:ext cx="73152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Backend Dev</a:t>
            </a:r>
            <a:endParaRPr lang="en-US" sz="750" dirty="0"/>
          </a:p>
        </p:txBody>
      </p:sp>
      <p:sp>
        <p:nvSpPr>
          <p:cNvPr id="37" name="Text 35"/>
          <p:cNvSpPr/>
          <p:nvPr/>
        </p:nvSpPr>
        <p:spPr>
          <a:xfrm>
            <a:off x="5468112" y="2267712"/>
            <a:ext cx="3310128" cy="219456"/>
          </a:xfrm>
          <a:prstGeom prst="rect">
            <a:avLst/>
          </a:prstGeom>
          <a:noFill/>
          <a:ln/>
        </p:spPr>
        <p:txBody>
          <a:bodyPr wrap="square" lIns="0" tIns="0" rIns="0" bIns="0" rtlCol="0" anchor="ctr"/>
          <a:lstStyle/>
          <a:p>
            <a:pPr algn="l" indent="0" marL="0">
              <a:buNone/>
            </a:pPr>
            <a:r>
              <a:rPr lang="en-US" sz="900" dirty="0">
                <a:solidFill>
                  <a:srgbClr val="C5D5EE"/>
                </a:solidFill>
                <a:latin typeface="Calibri" pitchFamily="34" charset="0"/>
                <a:ea typeface="Calibri" pitchFamily="34" charset="-122"/>
                <a:cs typeface="Calibri" pitchFamily="34" charset="-120"/>
              </a:rPr>
              <a:t>Implements approved OpenSpec task slices only; cannot touch infra.</a:t>
            </a:r>
            <a:endParaRPr lang="en-US" sz="900" dirty="0"/>
          </a:p>
        </p:txBody>
      </p:sp>
      <p:sp>
        <p:nvSpPr>
          <p:cNvPr id="38" name="Shape 36"/>
          <p:cNvSpPr/>
          <p:nvPr/>
        </p:nvSpPr>
        <p:spPr>
          <a:xfrm>
            <a:off x="4663440" y="2596896"/>
            <a:ext cx="731520" cy="237744"/>
          </a:xfrm>
          <a:prstGeom prst="roundRect">
            <a:avLst>
              <a:gd name="adj" fmla="val 19231"/>
            </a:avLst>
          </a:prstGeom>
          <a:solidFill>
            <a:srgbClr val="0E7490"/>
          </a:solidFill>
          <a:ln w="12700">
            <a:solidFill>
              <a:srgbClr val="0E7490"/>
            </a:solidFill>
            <a:prstDash val="solid"/>
          </a:ln>
        </p:spPr>
      </p:sp>
      <p:sp>
        <p:nvSpPr>
          <p:cNvPr id="39" name="Text 37"/>
          <p:cNvSpPr/>
          <p:nvPr/>
        </p:nvSpPr>
        <p:spPr>
          <a:xfrm>
            <a:off x="4663440" y="2596896"/>
            <a:ext cx="73152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Frontend Dev</a:t>
            </a:r>
            <a:endParaRPr lang="en-US" sz="750" dirty="0"/>
          </a:p>
        </p:txBody>
      </p:sp>
      <p:sp>
        <p:nvSpPr>
          <p:cNvPr id="40" name="Text 38"/>
          <p:cNvSpPr/>
          <p:nvPr/>
        </p:nvSpPr>
        <p:spPr>
          <a:xfrm>
            <a:off x="5468112" y="2606040"/>
            <a:ext cx="3310128" cy="219456"/>
          </a:xfrm>
          <a:prstGeom prst="rect">
            <a:avLst/>
          </a:prstGeom>
          <a:noFill/>
          <a:ln/>
        </p:spPr>
        <p:txBody>
          <a:bodyPr wrap="square" lIns="0" tIns="0" rIns="0" bIns="0" rtlCol="0" anchor="ctr"/>
          <a:lstStyle/>
          <a:p>
            <a:pPr algn="l" indent="0" marL="0">
              <a:buNone/>
            </a:pPr>
            <a:r>
              <a:rPr lang="en-US" sz="900" dirty="0">
                <a:solidFill>
                  <a:srgbClr val="C5D5EE"/>
                </a:solidFill>
                <a:latin typeface="Calibri" pitchFamily="34" charset="0"/>
                <a:ea typeface="Calibri" pitchFamily="34" charset="-122"/>
                <a:cs typeface="Calibri" pitchFamily="34" charset="-120"/>
              </a:rPr>
              <a:t>Portal &amp; widget; cannot modify backend or infra config.</a:t>
            </a:r>
            <a:endParaRPr lang="en-US" sz="900" dirty="0"/>
          </a:p>
        </p:txBody>
      </p:sp>
      <p:sp>
        <p:nvSpPr>
          <p:cNvPr id="41" name="Shape 39"/>
          <p:cNvSpPr/>
          <p:nvPr/>
        </p:nvSpPr>
        <p:spPr>
          <a:xfrm>
            <a:off x="4663440" y="2935224"/>
            <a:ext cx="731520" cy="237744"/>
          </a:xfrm>
          <a:prstGeom prst="roundRect">
            <a:avLst>
              <a:gd name="adj" fmla="val 19231"/>
            </a:avLst>
          </a:prstGeom>
          <a:solidFill>
            <a:srgbClr val="047857"/>
          </a:solidFill>
          <a:ln w="12700">
            <a:solidFill>
              <a:srgbClr val="047857"/>
            </a:solidFill>
            <a:prstDash val="solid"/>
          </a:ln>
        </p:spPr>
      </p:sp>
      <p:sp>
        <p:nvSpPr>
          <p:cNvPr id="42" name="Text 40"/>
          <p:cNvSpPr/>
          <p:nvPr/>
        </p:nvSpPr>
        <p:spPr>
          <a:xfrm>
            <a:off x="4663440" y="2935224"/>
            <a:ext cx="73152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MLOps</a:t>
            </a:r>
            <a:endParaRPr lang="en-US" sz="750" dirty="0"/>
          </a:p>
        </p:txBody>
      </p:sp>
      <p:sp>
        <p:nvSpPr>
          <p:cNvPr id="43" name="Text 41"/>
          <p:cNvSpPr/>
          <p:nvPr/>
        </p:nvSpPr>
        <p:spPr>
          <a:xfrm>
            <a:off x="5468112" y="2944368"/>
            <a:ext cx="3310128" cy="219456"/>
          </a:xfrm>
          <a:prstGeom prst="rect">
            <a:avLst/>
          </a:prstGeom>
          <a:noFill/>
          <a:ln/>
        </p:spPr>
        <p:txBody>
          <a:bodyPr wrap="square" lIns="0" tIns="0" rIns="0" bIns="0" rtlCol="0" anchor="ctr"/>
          <a:lstStyle/>
          <a:p>
            <a:pPr algn="l" indent="0" marL="0">
              <a:buNone/>
            </a:pPr>
            <a:r>
              <a:rPr lang="en-US" sz="900" dirty="0">
                <a:solidFill>
                  <a:srgbClr val="C5D5EE"/>
                </a:solidFill>
                <a:latin typeface="Calibri" pitchFamily="34" charset="0"/>
                <a:ea typeface="Calibri" pitchFamily="34" charset="-122"/>
                <a:cs typeface="Calibri" pitchFamily="34" charset="-120"/>
              </a:rPr>
              <a:t>Training pipeline, model registry, model serving layer.</a:t>
            </a:r>
            <a:endParaRPr lang="en-US" sz="900" dirty="0"/>
          </a:p>
        </p:txBody>
      </p:sp>
      <p:sp>
        <p:nvSpPr>
          <p:cNvPr id="44" name="Shape 42"/>
          <p:cNvSpPr/>
          <p:nvPr/>
        </p:nvSpPr>
        <p:spPr>
          <a:xfrm>
            <a:off x="4663440" y="3273552"/>
            <a:ext cx="731520" cy="237744"/>
          </a:xfrm>
          <a:prstGeom prst="roundRect">
            <a:avLst>
              <a:gd name="adj" fmla="val 19231"/>
            </a:avLst>
          </a:prstGeom>
          <a:solidFill>
            <a:srgbClr val="E07820"/>
          </a:solidFill>
          <a:ln w="12700">
            <a:solidFill>
              <a:srgbClr val="E07820"/>
            </a:solidFill>
            <a:prstDash val="solid"/>
          </a:ln>
        </p:spPr>
      </p:sp>
      <p:sp>
        <p:nvSpPr>
          <p:cNvPr id="45" name="Text 43"/>
          <p:cNvSpPr/>
          <p:nvPr/>
        </p:nvSpPr>
        <p:spPr>
          <a:xfrm>
            <a:off x="4663440" y="3273552"/>
            <a:ext cx="73152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QA Agent</a:t>
            </a:r>
            <a:endParaRPr lang="en-US" sz="750" dirty="0"/>
          </a:p>
        </p:txBody>
      </p:sp>
      <p:sp>
        <p:nvSpPr>
          <p:cNvPr id="46" name="Text 44"/>
          <p:cNvSpPr/>
          <p:nvPr/>
        </p:nvSpPr>
        <p:spPr>
          <a:xfrm>
            <a:off x="5468112" y="3282696"/>
            <a:ext cx="3310128" cy="219456"/>
          </a:xfrm>
          <a:prstGeom prst="rect">
            <a:avLst/>
          </a:prstGeom>
          <a:noFill/>
          <a:ln/>
        </p:spPr>
        <p:txBody>
          <a:bodyPr wrap="square" lIns="0" tIns="0" rIns="0" bIns="0" rtlCol="0" anchor="ctr"/>
          <a:lstStyle/>
          <a:p>
            <a:pPr algn="l" indent="0" marL="0">
              <a:buNone/>
            </a:pPr>
            <a:r>
              <a:rPr lang="en-US" sz="900" dirty="0">
                <a:solidFill>
                  <a:srgbClr val="C5D5EE"/>
                </a:solidFill>
                <a:latin typeface="Calibri" pitchFamily="34" charset="0"/>
                <a:ea typeface="Calibri" pitchFamily="34" charset="-122"/>
                <a:cs typeface="Calibri" pitchFamily="34" charset="-120"/>
              </a:rPr>
              <a:t>Runs independently from the implementation agent; blocks on failure.</a:t>
            </a:r>
            <a:endParaRPr lang="en-US" sz="900" dirty="0"/>
          </a:p>
        </p:txBody>
      </p:sp>
      <p:sp>
        <p:nvSpPr>
          <p:cNvPr id="47" name="Shape 45"/>
          <p:cNvSpPr/>
          <p:nvPr/>
        </p:nvSpPr>
        <p:spPr>
          <a:xfrm>
            <a:off x="4663440" y="3611880"/>
            <a:ext cx="731520" cy="237744"/>
          </a:xfrm>
          <a:prstGeom prst="roundRect">
            <a:avLst>
              <a:gd name="adj" fmla="val 19231"/>
            </a:avLst>
          </a:prstGeom>
          <a:solidFill>
            <a:srgbClr val="B91C1C"/>
          </a:solidFill>
          <a:ln w="12700">
            <a:solidFill>
              <a:srgbClr val="B91C1C"/>
            </a:solidFill>
            <a:prstDash val="solid"/>
          </a:ln>
        </p:spPr>
      </p:sp>
      <p:sp>
        <p:nvSpPr>
          <p:cNvPr id="48" name="Text 46"/>
          <p:cNvSpPr/>
          <p:nvPr/>
        </p:nvSpPr>
        <p:spPr>
          <a:xfrm>
            <a:off x="4663440" y="3611880"/>
            <a:ext cx="73152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Security</a:t>
            </a:r>
            <a:endParaRPr lang="en-US" sz="750" dirty="0"/>
          </a:p>
        </p:txBody>
      </p:sp>
      <p:sp>
        <p:nvSpPr>
          <p:cNvPr id="49" name="Text 47"/>
          <p:cNvSpPr/>
          <p:nvPr/>
        </p:nvSpPr>
        <p:spPr>
          <a:xfrm>
            <a:off x="5468112" y="3621024"/>
            <a:ext cx="3310128" cy="219456"/>
          </a:xfrm>
          <a:prstGeom prst="rect">
            <a:avLst/>
          </a:prstGeom>
          <a:noFill/>
          <a:ln/>
        </p:spPr>
        <p:txBody>
          <a:bodyPr wrap="square" lIns="0" tIns="0" rIns="0" bIns="0" rtlCol="0" anchor="ctr"/>
          <a:lstStyle/>
          <a:p>
            <a:pPr algn="l" indent="0" marL="0">
              <a:buNone/>
            </a:pPr>
            <a:r>
              <a:rPr lang="en-US" sz="900" dirty="0">
                <a:solidFill>
                  <a:srgbClr val="C5D5EE"/>
                </a:solidFill>
                <a:latin typeface="Calibri" pitchFamily="34" charset="0"/>
                <a:ea typeface="Calibri" pitchFamily="34" charset="-122"/>
                <a:cs typeface="Calibri" pitchFamily="34" charset="-120"/>
              </a:rPr>
              <a:t>Read-only review; can block merge; cannot modify implementation.</a:t>
            </a:r>
            <a:endParaRPr lang="en-US" sz="900" dirty="0"/>
          </a:p>
        </p:txBody>
      </p:sp>
      <p:sp>
        <p:nvSpPr>
          <p:cNvPr id="50" name="Shape 48"/>
          <p:cNvSpPr/>
          <p:nvPr/>
        </p:nvSpPr>
        <p:spPr>
          <a:xfrm>
            <a:off x="4645152" y="4133088"/>
            <a:ext cx="4114800" cy="548640"/>
          </a:xfrm>
          <a:prstGeom prst="roundRect">
            <a:avLst>
              <a:gd name="adj" fmla="val 16667"/>
            </a:avLst>
          </a:prstGeom>
          <a:solidFill>
            <a:srgbClr val="E07820">
              <a:alpha val="90000"/>
            </a:srgbClr>
          </a:solidFill>
          <a:ln w="15240">
            <a:solidFill>
              <a:srgbClr val="E07820"/>
            </a:solidFill>
            <a:prstDash val="solid"/>
          </a:ln>
        </p:spPr>
      </p:sp>
      <p:sp>
        <p:nvSpPr>
          <p:cNvPr id="51" name="Text 49"/>
          <p:cNvSpPr/>
          <p:nvPr/>
        </p:nvSpPr>
        <p:spPr>
          <a:xfrm>
            <a:off x="4736592" y="4160520"/>
            <a:ext cx="3931920" cy="20116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"Big Pickle" Context Strategy</a:t>
            </a:r>
            <a:endParaRPr lang="en-US" sz="1000" dirty="0"/>
          </a:p>
        </p:txBody>
      </p:sp>
      <p:sp>
        <p:nvSpPr>
          <p:cNvPr id="52" name="Text 50"/>
          <p:cNvSpPr/>
          <p:nvPr/>
        </p:nvSpPr>
        <p:spPr>
          <a:xfrm>
            <a:off x="4736592" y="4352544"/>
            <a:ext cx="3931920" cy="274320"/>
          </a:xfrm>
          <a:prstGeom prst="rect">
            <a:avLst/>
          </a:prstGeom>
          <a:noFill/>
          <a:ln/>
        </p:spPr>
        <p:txBody>
          <a:bodyPr wrap="square" lIns="0" tIns="0" rIns="0" bIns="0" rtlCol="0" anchor="ctr"/>
          <a:lstStyle/>
          <a:p>
            <a:pPr algn="l" indent="0" marL="0">
              <a:buNone/>
            </a:pPr>
            <a:r>
              <a:rPr lang="en-US" sz="850" dirty="0">
                <a:solidFill>
                  <a:srgbClr val="CADCFC"/>
                </a:solidFill>
                <a:latin typeface="Calibri" pitchFamily="34" charset="0"/>
                <a:ea typeface="Calibri" pitchFamily="34" charset="-122"/>
                <a:cs typeface="Calibri" pitchFamily="34" charset="-120"/>
              </a:rPr>
              <a:t>AGENTS.md + PROJECT.md + all OpenSpec docs + ADRs + PRD loaded as one rich context package at session start — agent works with full project awareness from token one.</a:t>
            </a:r>
            <a:endParaRPr lang="en-US" sz="850" dirty="0"/>
          </a:p>
        </p:txBody>
      </p:sp>
      <p:sp>
        <p:nvSpPr>
          <p:cNvPr id="53" name="Shape 51"/>
          <p:cNvSpPr/>
          <p:nvPr/>
        </p:nvSpPr>
        <p:spPr>
          <a:xfrm>
            <a:off x="0" y="4956048"/>
            <a:ext cx="9144000" cy="59436"/>
          </a:xfrm>
          <a:prstGeom prst="rect">
            <a:avLst/>
          </a:prstGeom>
          <a:solidFill>
            <a:srgbClr val="E07820"/>
          </a:solidFill>
          <a:ln w="12700">
            <a:solidFill>
              <a:srgbClr val="E07820"/>
            </a:solidFill>
            <a:prstDash val="solid"/>
          </a:ln>
        </p:spPr>
      </p:sp>
      <p:sp>
        <p:nvSpPr>
          <p:cNvPr id="54" name="Text 52"/>
          <p:cNvSpPr/>
          <p:nvPr/>
        </p:nvSpPr>
        <p:spPr>
          <a:xfrm>
            <a:off x="365760" y="5020056"/>
            <a:ext cx="8412480" cy="182880"/>
          </a:xfrm>
          <a:prstGeom prst="rect">
            <a:avLst/>
          </a:prstGeom>
          <a:noFill/>
          <a:ln/>
        </p:spPr>
        <p:txBody>
          <a:bodyPr wrap="square" lIns="0" tIns="0" rIns="0" bIns="0" rtlCol="0" anchor="ctr"/>
          <a:lstStyle/>
          <a:p>
            <a:pPr algn="l" indent="0" marL="0">
              <a:buNone/>
            </a:pPr>
            <a:r>
              <a:rPr lang="en-US" sz="850" dirty="0">
                <a:solidFill>
                  <a:srgbClr val="4B5563"/>
                </a:solidFill>
                <a:latin typeface="Calibri" pitchFamily="34" charset="0"/>
                <a:ea typeface="Calibri" pitchFamily="34" charset="-122"/>
                <a:cs typeface="Calibri" pitchFamily="34" charset="-120"/>
              </a:rPr>
              <a:t>InApp  |  Multi-Tenant Custom NER Platform</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4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3200" b="1" dirty="0">
                <a:solidFill>
                  <a:srgbClr val="0B2A5E"/>
                </a:solidFill>
                <a:latin typeface="Cambria" pitchFamily="34" charset="0"/>
                <a:ea typeface="Cambria" pitchFamily="34" charset="-122"/>
                <a:cs typeface="Cambria" pitchFamily="34" charset="-120"/>
              </a:rPr>
              <a:t>Analytics &amp; AI Chatbot</a:t>
            </a:r>
            <a:endParaRPr lang="en-US" sz="32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algn="l" indent="0" marL="0">
              <a:buNone/>
            </a:pPr>
            <a:r>
              <a:rPr lang="en-US" sz="1300" dirty="0">
                <a:solidFill>
                  <a:srgbClr val="4B5563"/>
                </a:solidFill>
                <a:latin typeface="Calibri" pitchFamily="34" charset="0"/>
                <a:ea typeface="Calibri" pitchFamily="34" charset="-122"/>
                <a:cs typeface="Calibri" pitchFamily="34" charset="-120"/>
              </a:rPr>
              <a:t>A three-source RAG pipeline — structured data, semantic search, and live NER inference</a:t>
            </a:r>
            <a:endParaRPr lang="en-US" sz="1300" dirty="0"/>
          </a:p>
        </p:txBody>
      </p:sp>
      <p:sp>
        <p:nvSpPr>
          <p:cNvPr id="4" name="Shape 2"/>
          <p:cNvSpPr/>
          <p:nvPr/>
        </p:nvSpPr>
        <p:spPr>
          <a:xfrm>
            <a:off x="329184" y="1234440"/>
            <a:ext cx="2651760" cy="1481328"/>
          </a:xfrm>
          <a:prstGeom prst="roundRect">
            <a:avLst>
              <a:gd name="adj" fmla="val 7407"/>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5" name="Shape 3"/>
          <p:cNvSpPr/>
          <p:nvPr/>
        </p:nvSpPr>
        <p:spPr>
          <a:xfrm>
            <a:off x="457200" y="1371600"/>
            <a:ext cx="438912" cy="438912"/>
          </a:xfrm>
          <a:prstGeom prst="ellipse">
            <a:avLst/>
          </a:prstGeom>
          <a:solidFill>
            <a:srgbClr val="0B2A5E"/>
          </a:solidFill>
          <a:ln w="12700">
            <a:solidFill>
              <a:srgbClr val="0B2A5E"/>
            </a:solidFill>
            <a:prstDash val="solid"/>
          </a:ln>
        </p:spPr>
      </p:sp>
      <p:sp>
        <p:nvSpPr>
          <p:cNvPr id="6" name="Text 4"/>
          <p:cNvSpPr/>
          <p:nvPr/>
        </p:nvSpPr>
        <p:spPr>
          <a:xfrm>
            <a:off x="457200" y="1371600"/>
            <a:ext cx="438912" cy="438912"/>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SQL</a:t>
            </a:r>
            <a:endParaRPr lang="en-US" sz="1400" dirty="0"/>
          </a:p>
        </p:txBody>
      </p:sp>
      <p:sp>
        <p:nvSpPr>
          <p:cNvPr id="7" name="Text 5"/>
          <p:cNvSpPr/>
          <p:nvPr/>
        </p:nvSpPr>
        <p:spPr>
          <a:xfrm>
            <a:off x="987552" y="1389888"/>
            <a:ext cx="1920240" cy="329184"/>
          </a:xfrm>
          <a:prstGeom prst="rect">
            <a:avLst/>
          </a:prstGeom>
          <a:noFill/>
          <a:ln/>
        </p:spPr>
        <p:txBody>
          <a:bodyPr wrap="square" lIns="0" tIns="0" rIns="0" bIns="0" rtlCol="0" anchor="ctr"/>
          <a:lstStyle/>
          <a:p>
            <a:pPr algn="l" indent="0" marL="0">
              <a:buNone/>
            </a:pPr>
            <a:r>
              <a:rPr lang="en-US" sz="1300" b="1" dirty="0">
                <a:solidFill>
                  <a:srgbClr val="0B2A5E"/>
                </a:solidFill>
                <a:latin typeface="Calibri" pitchFamily="34" charset="0"/>
                <a:ea typeface="Calibri" pitchFamily="34" charset="-122"/>
                <a:cs typeface="Calibri" pitchFamily="34" charset="-120"/>
              </a:rPr>
              <a:t>Structured SQL</a:t>
            </a:r>
            <a:endParaRPr lang="en-US" sz="1300" dirty="0"/>
          </a:p>
        </p:txBody>
      </p:sp>
      <p:sp>
        <p:nvSpPr>
          <p:cNvPr id="8" name="Text 6"/>
          <p:cNvSpPr/>
          <p:nvPr/>
        </p:nvSpPr>
        <p:spPr>
          <a:xfrm>
            <a:off x="457200" y="1810512"/>
            <a:ext cx="2450592" cy="822960"/>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Natural language → parameterised SQL over extracted entity tables. Aggregate queries: counts, confidence distributions, coverage by entity type and time range.</a:t>
            </a:r>
            <a:endParaRPr lang="en-US" sz="1050" dirty="0"/>
          </a:p>
        </p:txBody>
      </p:sp>
      <p:sp>
        <p:nvSpPr>
          <p:cNvPr id="9" name="Shape 7"/>
          <p:cNvSpPr/>
          <p:nvPr/>
        </p:nvSpPr>
        <p:spPr>
          <a:xfrm>
            <a:off x="3163824" y="1234440"/>
            <a:ext cx="2651760" cy="1481328"/>
          </a:xfrm>
          <a:prstGeom prst="roundRect">
            <a:avLst>
              <a:gd name="adj" fmla="val 7407"/>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10" name="Shape 8"/>
          <p:cNvSpPr/>
          <p:nvPr/>
        </p:nvSpPr>
        <p:spPr>
          <a:xfrm>
            <a:off x="3291840" y="1371600"/>
            <a:ext cx="438912" cy="438912"/>
          </a:xfrm>
          <a:prstGeom prst="ellipse">
            <a:avLst/>
          </a:prstGeom>
          <a:solidFill>
            <a:srgbClr val="1464B8"/>
          </a:solidFill>
          <a:ln w="12700">
            <a:solidFill>
              <a:srgbClr val="1464B8"/>
            </a:solidFill>
            <a:prstDash val="solid"/>
          </a:ln>
        </p:spPr>
      </p:sp>
      <p:sp>
        <p:nvSpPr>
          <p:cNvPr id="11" name="Text 9"/>
          <p:cNvSpPr/>
          <p:nvPr/>
        </p:nvSpPr>
        <p:spPr>
          <a:xfrm>
            <a:off x="3291840" y="1371600"/>
            <a:ext cx="438912" cy="438912"/>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VEC</a:t>
            </a:r>
            <a:endParaRPr lang="en-US" sz="1400" dirty="0"/>
          </a:p>
        </p:txBody>
      </p:sp>
      <p:sp>
        <p:nvSpPr>
          <p:cNvPr id="12" name="Text 10"/>
          <p:cNvSpPr/>
          <p:nvPr/>
        </p:nvSpPr>
        <p:spPr>
          <a:xfrm>
            <a:off x="3822192" y="1389888"/>
            <a:ext cx="1920240" cy="329184"/>
          </a:xfrm>
          <a:prstGeom prst="rect">
            <a:avLst/>
          </a:prstGeom>
          <a:noFill/>
          <a:ln/>
        </p:spPr>
        <p:txBody>
          <a:bodyPr wrap="square" lIns="0" tIns="0" rIns="0" bIns="0" rtlCol="0" anchor="ctr"/>
          <a:lstStyle/>
          <a:p>
            <a:pPr algn="l" indent="0" marL="0">
              <a:buNone/>
            </a:pPr>
            <a:r>
              <a:rPr lang="en-US" sz="1300" b="1" dirty="0">
                <a:solidFill>
                  <a:srgbClr val="0B2A5E"/>
                </a:solidFill>
                <a:latin typeface="Calibri" pitchFamily="34" charset="0"/>
                <a:ea typeface="Calibri" pitchFamily="34" charset="-122"/>
                <a:cs typeface="Calibri" pitchFamily="34" charset="-120"/>
              </a:rPr>
              <a:t>Vector Search</a:t>
            </a:r>
            <a:endParaRPr lang="en-US" sz="1300" dirty="0"/>
          </a:p>
        </p:txBody>
      </p:sp>
      <p:sp>
        <p:nvSpPr>
          <p:cNvPr id="13" name="Text 11"/>
          <p:cNvSpPr/>
          <p:nvPr/>
        </p:nvSpPr>
        <p:spPr>
          <a:xfrm>
            <a:off x="3291840" y="1810512"/>
            <a:ext cx="2450592" cy="822960"/>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pgvector semantic search over document chunks. Retrieves source document snippets with cosine-similarity ranking. No separate vector DB required — in-Postgres.</a:t>
            </a:r>
            <a:endParaRPr lang="en-US" sz="1050" dirty="0"/>
          </a:p>
        </p:txBody>
      </p:sp>
      <p:sp>
        <p:nvSpPr>
          <p:cNvPr id="14" name="Shape 12"/>
          <p:cNvSpPr/>
          <p:nvPr/>
        </p:nvSpPr>
        <p:spPr>
          <a:xfrm>
            <a:off x="5998464" y="1234440"/>
            <a:ext cx="2651760" cy="1481328"/>
          </a:xfrm>
          <a:prstGeom prst="roundRect">
            <a:avLst>
              <a:gd name="adj" fmla="val 7407"/>
            </a:avLst>
          </a:prstGeom>
          <a:solidFill>
            <a:srgbClr val="FFFFFF"/>
          </a:solidFill>
          <a:ln w="10160">
            <a:solidFill>
              <a:srgbClr val="DDE6F5"/>
            </a:solidFill>
            <a:prstDash val="solid"/>
          </a:ln>
          <a:effectLst>
            <a:outerShdw sx="100000" sy="100000" kx="0" ky="0" algn="bl" rotWithShape="0" blurRad="76200" dist="25400" dir="2700000">
              <a:srgbClr val="000000">
                <a:alpha val="9000"/>
              </a:srgbClr>
            </a:outerShdw>
          </a:effectLst>
        </p:spPr>
      </p:sp>
      <p:sp>
        <p:nvSpPr>
          <p:cNvPr id="15" name="Shape 13"/>
          <p:cNvSpPr/>
          <p:nvPr/>
        </p:nvSpPr>
        <p:spPr>
          <a:xfrm>
            <a:off x="6126480" y="1371600"/>
            <a:ext cx="438912" cy="438912"/>
          </a:xfrm>
          <a:prstGeom prst="ellipse">
            <a:avLst/>
          </a:prstGeom>
          <a:solidFill>
            <a:srgbClr val="0E7490"/>
          </a:solidFill>
          <a:ln w="12700">
            <a:solidFill>
              <a:srgbClr val="0E7490"/>
            </a:solidFill>
            <a:prstDash val="solid"/>
          </a:ln>
        </p:spPr>
      </p:sp>
      <p:sp>
        <p:nvSpPr>
          <p:cNvPr id="16" name="Text 14"/>
          <p:cNvSpPr/>
          <p:nvPr/>
        </p:nvSpPr>
        <p:spPr>
          <a:xfrm>
            <a:off x="6126480" y="1371600"/>
            <a:ext cx="438912" cy="438912"/>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NER</a:t>
            </a:r>
            <a:endParaRPr lang="en-US" sz="1400" dirty="0"/>
          </a:p>
        </p:txBody>
      </p:sp>
      <p:sp>
        <p:nvSpPr>
          <p:cNvPr id="17" name="Text 15"/>
          <p:cNvSpPr/>
          <p:nvPr/>
        </p:nvSpPr>
        <p:spPr>
          <a:xfrm>
            <a:off x="6656832" y="1389888"/>
            <a:ext cx="1920240" cy="329184"/>
          </a:xfrm>
          <a:prstGeom prst="rect">
            <a:avLst/>
          </a:prstGeom>
          <a:noFill/>
          <a:ln/>
        </p:spPr>
        <p:txBody>
          <a:bodyPr wrap="square" lIns="0" tIns="0" rIns="0" bIns="0" rtlCol="0" anchor="ctr"/>
          <a:lstStyle/>
          <a:p>
            <a:pPr algn="l" indent="0" marL="0">
              <a:buNone/>
            </a:pPr>
            <a:r>
              <a:rPr lang="en-US" sz="1300" b="1" dirty="0">
                <a:solidFill>
                  <a:srgbClr val="0B2A5E"/>
                </a:solidFill>
                <a:latin typeface="Calibri" pitchFamily="34" charset="0"/>
                <a:ea typeface="Calibri" pitchFamily="34" charset="-122"/>
                <a:cs typeface="Calibri" pitchFamily="34" charset="-120"/>
              </a:rPr>
              <a:t>NER Inference</a:t>
            </a:r>
            <a:endParaRPr lang="en-US" sz="1300" dirty="0"/>
          </a:p>
        </p:txBody>
      </p:sp>
      <p:sp>
        <p:nvSpPr>
          <p:cNvPr id="18" name="Text 16"/>
          <p:cNvSpPr/>
          <p:nvPr/>
        </p:nvSpPr>
        <p:spPr>
          <a:xfrm>
            <a:off x="6126480" y="1810512"/>
            <a:ext cx="2450592" cy="822960"/>
          </a:xfrm>
          <a:prstGeom prst="rect">
            <a:avLst/>
          </a:prstGeom>
          <a:noFill/>
          <a:ln/>
        </p:spPr>
        <p:txBody>
          <a:bodyPr wrap="square" lIns="0" tIns="0" rIns="0" bIns="0" rtlCol="0" anchor="ctr"/>
          <a:lstStyle/>
          <a:p>
            <a:pPr algn="l" indent="0" marL="0">
              <a:buNone/>
            </a:pPr>
            <a:r>
              <a:rPr lang="en-US" sz="1050" dirty="0">
                <a:solidFill>
                  <a:srgbClr val="4B5563"/>
                </a:solidFill>
                <a:latin typeface="Calibri" pitchFamily="34" charset="0"/>
                <a:ea typeface="Calibri" pitchFamily="34" charset="-122"/>
                <a:cs typeface="Calibri" pitchFamily="34" charset="-120"/>
              </a:rPr>
              <a:t>Live model inference on retrieved document context. Real-time entity resolution enriches the chatbot response with entity values not yet in the extraction tables.</a:t>
            </a:r>
            <a:endParaRPr lang="en-US" sz="1050" dirty="0"/>
          </a:p>
        </p:txBody>
      </p:sp>
      <p:sp>
        <p:nvSpPr>
          <p:cNvPr id="19" name="Shape 17"/>
          <p:cNvSpPr/>
          <p:nvPr/>
        </p:nvSpPr>
        <p:spPr>
          <a:xfrm>
            <a:off x="4315968" y="2834640"/>
            <a:ext cx="512064" cy="237744"/>
          </a:xfrm>
          <a:prstGeom prst="chevron">
            <a:avLst/>
          </a:prstGeom>
          <a:solidFill>
            <a:srgbClr val="E07820"/>
          </a:solidFill>
          <a:ln w="12700">
            <a:solidFill>
              <a:srgbClr val="E07820"/>
            </a:solidFill>
            <a:prstDash val="solid"/>
          </a:ln>
        </p:spPr>
      </p:sp>
      <p:sp>
        <p:nvSpPr>
          <p:cNvPr id="20" name="Shape 18"/>
          <p:cNvSpPr/>
          <p:nvPr/>
        </p:nvSpPr>
        <p:spPr>
          <a:xfrm>
            <a:off x="1280160" y="3127248"/>
            <a:ext cx="6583680" cy="768096"/>
          </a:xfrm>
          <a:prstGeom prst="roundRect">
            <a:avLst>
              <a:gd name="adj" fmla="val 14286"/>
            </a:avLst>
          </a:prstGeom>
          <a:solidFill>
            <a:srgbClr val="0B2A5E"/>
          </a:solidFill>
          <a:ln w="12700">
            <a:solidFill>
              <a:srgbClr val="0B2A5E"/>
            </a:solidFill>
            <a:prstDash val="solid"/>
          </a:ln>
        </p:spPr>
      </p:sp>
      <p:sp>
        <p:nvSpPr>
          <p:cNvPr id="21" name="Text 19"/>
          <p:cNvSpPr/>
          <p:nvPr/>
        </p:nvSpPr>
        <p:spPr>
          <a:xfrm>
            <a:off x="1280160" y="3127248"/>
            <a:ext cx="6583680" cy="7680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AI Chatbot Response — Tenant-scoped · Source citations enforced · SQL validation layer prevents DML · P95 &lt; 10s</a:t>
            </a:r>
            <a:endParaRPr lang="en-US" sz="1250" dirty="0"/>
          </a:p>
        </p:txBody>
      </p:sp>
      <p:sp>
        <p:nvSpPr>
          <p:cNvPr id="22" name="Shape 20"/>
          <p:cNvSpPr/>
          <p:nvPr/>
        </p:nvSpPr>
        <p:spPr>
          <a:xfrm>
            <a:off x="3108960" y="4041648"/>
            <a:ext cx="2926080" cy="347472"/>
          </a:xfrm>
          <a:prstGeom prst="roundRect">
            <a:avLst>
              <a:gd name="adj" fmla="val 21053"/>
            </a:avLst>
          </a:prstGeom>
          <a:solidFill>
            <a:srgbClr val="B91C1C"/>
          </a:solidFill>
          <a:ln w="12700">
            <a:solidFill>
              <a:srgbClr val="B91C1C"/>
            </a:solidFill>
            <a:prstDash val="solid"/>
          </a:ln>
        </p:spPr>
      </p:sp>
      <p:sp>
        <p:nvSpPr>
          <p:cNvPr id="23" name="Text 21"/>
          <p:cNvSpPr/>
          <p:nvPr/>
        </p:nvSpPr>
        <p:spPr>
          <a:xfrm>
            <a:off x="3108960" y="4041648"/>
            <a:ext cx="292608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Guardrails: blocked question types  |  rate limiting  |  no cross-tenant access  |  disclaimer on every response</a:t>
            </a:r>
            <a:endParaRPr lang="en-US" sz="900" dirty="0"/>
          </a:p>
        </p:txBody>
      </p:sp>
      <p:sp>
        <p:nvSpPr>
          <p:cNvPr id="24" name="Shape 22"/>
          <p:cNvSpPr/>
          <p:nvPr/>
        </p:nvSpPr>
        <p:spPr>
          <a:xfrm>
            <a:off x="457200" y="4535424"/>
            <a:ext cx="2011680" cy="347472"/>
          </a:xfrm>
          <a:prstGeom prst="roundRect">
            <a:avLst>
              <a:gd name="adj" fmla="val 21053"/>
            </a:avLst>
          </a:prstGeom>
          <a:solidFill>
            <a:srgbClr val="FFFFFF"/>
          </a:solidFill>
          <a:ln w="10160">
            <a:solidFill>
              <a:srgbClr val="DDE6F5"/>
            </a:solidFill>
            <a:prstDash val="solid"/>
          </a:ln>
        </p:spPr>
      </p:sp>
      <p:sp>
        <p:nvSpPr>
          <p:cNvPr id="25" name="Text 23"/>
          <p:cNvSpPr/>
          <p:nvPr/>
        </p:nvSpPr>
        <p:spPr>
          <a:xfrm>
            <a:off x="457200" y="4535424"/>
            <a:ext cx="2011680" cy="347472"/>
          </a:xfrm>
          <a:prstGeom prst="rect">
            <a:avLst/>
          </a:prstGeom>
          <a:noFill/>
          <a:ln/>
        </p:spPr>
        <p:txBody>
          <a:bodyPr wrap="square" lIns="0" tIns="0" rIns="0" bIns="0" rtlCol="0" anchor="ctr"/>
          <a:lstStyle/>
          <a:p>
            <a:pPr algn="ctr" indent="0" marL="0">
              <a:buNone/>
            </a:pPr>
            <a:r>
              <a:rPr lang="en-US" sz="1000" dirty="0">
                <a:solidFill>
                  <a:srgbClr val="0B2A5E"/>
                </a:solidFill>
                <a:latin typeface="Calibri" pitchFamily="34" charset="0"/>
                <a:ea typeface="Calibri" pitchFamily="34" charset="-122"/>
                <a:cs typeface="Calibri" pitchFamily="34" charset="-120"/>
              </a:rPr>
              <a:t>+ Embeddable widget (JS snippet)</a:t>
            </a:r>
            <a:endParaRPr lang="en-US" sz="1000" dirty="0"/>
          </a:p>
        </p:txBody>
      </p:sp>
      <p:sp>
        <p:nvSpPr>
          <p:cNvPr id="26" name="Shape 24"/>
          <p:cNvSpPr/>
          <p:nvPr/>
        </p:nvSpPr>
        <p:spPr>
          <a:xfrm>
            <a:off x="2633472" y="4535424"/>
            <a:ext cx="2011680" cy="347472"/>
          </a:xfrm>
          <a:prstGeom prst="roundRect">
            <a:avLst>
              <a:gd name="adj" fmla="val 21053"/>
            </a:avLst>
          </a:prstGeom>
          <a:solidFill>
            <a:srgbClr val="FFFFFF"/>
          </a:solidFill>
          <a:ln w="10160">
            <a:solidFill>
              <a:srgbClr val="DDE6F5"/>
            </a:solidFill>
            <a:prstDash val="solid"/>
          </a:ln>
        </p:spPr>
      </p:sp>
      <p:sp>
        <p:nvSpPr>
          <p:cNvPr id="27" name="Text 25"/>
          <p:cNvSpPr/>
          <p:nvPr/>
        </p:nvSpPr>
        <p:spPr>
          <a:xfrm>
            <a:off x="2633472" y="4535424"/>
            <a:ext cx="2011680" cy="347472"/>
          </a:xfrm>
          <a:prstGeom prst="rect">
            <a:avLst/>
          </a:prstGeom>
          <a:noFill/>
          <a:ln/>
        </p:spPr>
        <p:txBody>
          <a:bodyPr wrap="square" lIns="0" tIns="0" rIns="0" bIns="0" rtlCol="0" anchor="ctr"/>
          <a:lstStyle/>
          <a:p>
            <a:pPr algn="ctr" indent="0" marL="0">
              <a:buNone/>
            </a:pPr>
            <a:r>
              <a:rPr lang="en-US" sz="1000" dirty="0">
                <a:solidFill>
                  <a:srgbClr val="0B2A5E"/>
                </a:solidFill>
                <a:latin typeface="Calibri" pitchFamily="34" charset="0"/>
                <a:ea typeface="Calibri" pitchFamily="34" charset="-122"/>
                <a:cs typeface="Calibri" pitchFamily="34" charset="-120"/>
              </a:rPr>
              <a:t>+ Conversation history</a:t>
            </a:r>
            <a:endParaRPr lang="en-US" sz="1000" dirty="0"/>
          </a:p>
        </p:txBody>
      </p:sp>
      <p:sp>
        <p:nvSpPr>
          <p:cNvPr id="28" name="Shape 26"/>
          <p:cNvSpPr/>
          <p:nvPr/>
        </p:nvSpPr>
        <p:spPr>
          <a:xfrm>
            <a:off x="4809744" y="4535424"/>
            <a:ext cx="2011680" cy="347472"/>
          </a:xfrm>
          <a:prstGeom prst="roundRect">
            <a:avLst>
              <a:gd name="adj" fmla="val 21053"/>
            </a:avLst>
          </a:prstGeom>
          <a:solidFill>
            <a:srgbClr val="FFFFFF"/>
          </a:solidFill>
          <a:ln w="10160">
            <a:solidFill>
              <a:srgbClr val="DDE6F5"/>
            </a:solidFill>
            <a:prstDash val="solid"/>
          </a:ln>
        </p:spPr>
      </p:sp>
      <p:sp>
        <p:nvSpPr>
          <p:cNvPr id="29" name="Text 27"/>
          <p:cNvSpPr/>
          <p:nvPr/>
        </p:nvSpPr>
        <p:spPr>
          <a:xfrm>
            <a:off x="4809744" y="4535424"/>
            <a:ext cx="2011680" cy="347472"/>
          </a:xfrm>
          <a:prstGeom prst="rect">
            <a:avLst/>
          </a:prstGeom>
          <a:noFill/>
          <a:ln/>
        </p:spPr>
        <p:txBody>
          <a:bodyPr wrap="square" lIns="0" tIns="0" rIns="0" bIns="0" rtlCol="0" anchor="ctr"/>
          <a:lstStyle/>
          <a:p>
            <a:pPr algn="ctr" indent="0" marL="0">
              <a:buNone/>
            </a:pPr>
            <a:r>
              <a:rPr lang="en-US" sz="1000" dirty="0">
                <a:solidFill>
                  <a:srgbClr val="0B2A5E"/>
                </a:solidFill>
                <a:latin typeface="Calibri" pitchFamily="34" charset="0"/>
                <a:ea typeface="Calibri" pitchFamily="34" charset="-122"/>
                <a:cs typeface="Calibri" pitchFamily="34" charset="-120"/>
              </a:rPr>
              <a:t>+ Ad-hoc analytics builder</a:t>
            </a:r>
            <a:endParaRPr lang="en-US" sz="1000" dirty="0"/>
          </a:p>
        </p:txBody>
      </p:sp>
      <p:sp>
        <p:nvSpPr>
          <p:cNvPr id="30" name="Shape 28"/>
          <p:cNvSpPr/>
          <p:nvPr/>
        </p:nvSpPr>
        <p:spPr>
          <a:xfrm>
            <a:off x="6986016" y="4535424"/>
            <a:ext cx="2011680" cy="347472"/>
          </a:xfrm>
          <a:prstGeom prst="roundRect">
            <a:avLst>
              <a:gd name="adj" fmla="val 21053"/>
            </a:avLst>
          </a:prstGeom>
          <a:solidFill>
            <a:srgbClr val="FFFFFF"/>
          </a:solidFill>
          <a:ln w="10160">
            <a:solidFill>
              <a:srgbClr val="DDE6F5"/>
            </a:solidFill>
            <a:prstDash val="solid"/>
          </a:ln>
        </p:spPr>
      </p:sp>
      <p:sp>
        <p:nvSpPr>
          <p:cNvPr id="31" name="Text 29"/>
          <p:cNvSpPr/>
          <p:nvPr/>
        </p:nvSpPr>
        <p:spPr>
          <a:xfrm>
            <a:off x="6986016" y="4535424"/>
            <a:ext cx="2011680" cy="347472"/>
          </a:xfrm>
          <a:prstGeom prst="rect">
            <a:avLst/>
          </a:prstGeom>
          <a:noFill/>
          <a:ln/>
        </p:spPr>
        <p:txBody>
          <a:bodyPr wrap="square" lIns="0" tIns="0" rIns="0" bIns="0" rtlCol="0" anchor="ctr"/>
          <a:lstStyle/>
          <a:p>
            <a:pPr algn="ctr" indent="0" marL="0">
              <a:buNone/>
            </a:pPr>
            <a:r>
              <a:rPr lang="en-US" sz="1000" dirty="0">
                <a:solidFill>
                  <a:srgbClr val="0B2A5E"/>
                </a:solidFill>
                <a:latin typeface="Calibri" pitchFamily="34" charset="0"/>
                <a:ea typeface="Calibri" pitchFamily="34" charset="-122"/>
                <a:cs typeface="Calibri" pitchFamily="34" charset="-120"/>
              </a:rPr>
              <a:t>+ CSV / JSON export</a:t>
            </a:r>
            <a:endParaRPr lang="en-US" sz="1000" dirty="0"/>
          </a:p>
        </p:txBody>
      </p:sp>
      <p:sp>
        <p:nvSpPr>
          <p:cNvPr id="32" name="Shape 30"/>
          <p:cNvSpPr/>
          <p:nvPr/>
        </p:nvSpPr>
        <p:spPr>
          <a:xfrm>
            <a:off x="0" y="4956048"/>
            <a:ext cx="9144000" cy="59436"/>
          </a:xfrm>
          <a:prstGeom prst="rect">
            <a:avLst/>
          </a:prstGeom>
          <a:solidFill>
            <a:srgbClr val="E07820"/>
          </a:solidFill>
          <a:ln w="12700">
            <a:solidFill>
              <a:srgbClr val="E07820"/>
            </a:solidFill>
            <a:prstDash val="solid"/>
          </a:ln>
        </p:spPr>
      </p:sp>
      <p:sp>
        <p:nvSpPr>
          <p:cNvPr id="33" name="Text 31"/>
          <p:cNvSpPr/>
          <p:nvPr/>
        </p:nvSpPr>
        <p:spPr>
          <a:xfrm>
            <a:off x="365760" y="5020056"/>
            <a:ext cx="8412480" cy="182880"/>
          </a:xfrm>
          <a:prstGeom prst="rect">
            <a:avLst/>
          </a:prstGeom>
          <a:noFill/>
          <a:ln/>
        </p:spPr>
        <p:txBody>
          <a:bodyPr wrap="square" lIns="0" tIns="0" rIns="0" bIns="0" rtlCol="0" anchor="ctr"/>
          <a:lstStyle/>
          <a:p>
            <a:pPr algn="l" indent="0" marL="0">
              <a:buNone/>
            </a:pPr>
            <a:r>
              <a:rPr lang="en-US" sz="850" dirty="0">
                <a:solidFill>
                  <a:srgbClr val="4B5563"/>
                </a:solidFill>
                <a:latin typeface="Calibri" pitchFamily="34" charset="0"/>
                <a:ea typeface="Calibri" pitchFamily="34" charset="-122"/>
                <a:cs typeface="Calibri" pitchFamily="34" charset="-120"/>
              </a:rPr>
              <a:t>InApp  |  Multi-Tenant Custom NER Platform</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D"/>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3200" b="1" dirty="0">
                <a:solidFill>
                  <a:srgbClr val="0B2A5E"/>
                </a:solidFill>
                <a:latin typeface="Cambria" pitchFamily="34" charset="0"/>
                <a:ea typeface="Cambria" pitchFamily="34" charset="-122"/>
                <a:cs typeface="Cambria" pitchFamily="34" charset="-120"/>
              </a:rPr>
              <a:t>Quality Targets</a:t>
            </a:r>
            <a:endParaRPr lang="en-US" sz="32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algn="l" indent="0" marL="0">
              <a:buNone/>
            </a:pPr>
            <a:r>
              <a:rPr lang="en-US" sz="1300" dirty="0">
                <a:solidFill>
                  <a:srgbClr val="4B5563"/>
                </a:solidFill>
                <a:latin typeface="Calibri" pitchFamily="34" charset="0"/>
                <a:ea typeface="Calibri" pitchFamily="34" charset="-122"/>
                <a:cs typeface="Calibri" pitchFamily="34" charset="-120"/>
              </a:rPr>
              <a:t>Spec-driven acceptance criteria — every metric has a mandatory gate before model promotion</a:t>
            </a:r>
            <a:endParaRPr lang="en-US" sz="1300" dirty="0"/>
          </a:p>
        </p:txBody>
      </p:sp>
      <p:sp>
        <p:nvSpPr>
          <p:cNvPr id="4" name="Shape 2"/>
          <p:cNvSpPr/>
          <p:nvPr/>
        </p:nvSpPr>
        <p:spPr>
          <a:xfrm>
            <a:off x="347472" y="1243584"/>
            <a:ext cx="8449056" cy="402336"/>
          </a:xfrm>
          <a:prstGeom prst="rect">
            <a:avLst/>
          </a:prstGeom>
          <a:solidFill>
            <a:srgbClr val="0B2A5E"/>
          </a:solidFill>
          <a:ln w="12700">
            <a:solidFill>
              <a:srgbClr val="0B2A5E"/>
            </a:solidFill>
            <a:prstDash val="solid"/>
          </a:ln>
        </p:spPr>
      </p:sp>
      <p:sp>
        <p:nvSpPr>
          <p:cNvPr id="5" name="Text 3"/>
          <p:cNvSpPr/>
          <p:nvPr/>
        </p:nvSpPr>
        <p:spPr>
          <a:xfrm>
            <a:off x="438912" y="1243584"/>
            <a:ext cx="2148840" cy="40233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p>
        </p:txBody>
      </p:sp>
      <p:sp>
        <p:nvSpPr>
          <p:cNvPr id="6" name="Text 4"/>
          <p:cNvSpPr/>
          <p:nvPr/>
        </p:nvSpPr>
        <p:spPr>
          <a:xfrm>
            <a:off x="2743200" y="1243584"/>
            <a:ext cx="1783080" cy="40233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Pilot Target</a:t>
            </a:r>
            <a:endParaRPr lang="en-US" sz="1200" dirty="0"/>
          </a:p>
        </p:txBody>
      </p:sp>
      <p:sp>
        <p:nvSpPr>
          <p:cNvPr id="7" name="Text 5"/>
          <p:cNvSpPr/>
          <p:nvPr/>
        </p:nvSpPr>
        <p:spPr>
          <a:xfrm>
            <a:off x="4663440" y="1243584"/>
            <a:ext cx="1783080" cy="40233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Production Target</a:t>
            </a:r>
            <a:endParaRPr lang="en-US" sz="1200" dirty="0"/>
          </a:p>
        </p:txBody>
      </p:sp>
      <p:sp>
        <p:nvSpPr>
          <p:cNvPr id="8" name="Text 6"/>
          <p:cNvSpPr/>
          <p:nvPr/>
        </p:nvSpPr>
        <p:spPr>
          <a:xfrm>
            <a:off x="6583680" y="1243584"/>
            <a:ext cx="2212848" cy="40233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p>
        </p:txBody>
      </p:sp>
      <p:sp>
        <p:nvSpPr>
          <p:cNvPr id="9" name="Shape 7"/>
          <p:cNvSpPr/>
          <p:nvPr/>
        </p:nvSpPr>
        <p:spPr>
          <a:xfrm>
            <a:off x="347472" y="1645920"/>
            <a:ext cx="8449056" cy="475488"/>
          </a:xfrm>
          <a:prstGeom prst="rect">
            <a:avLst/>
          </a:prstGeom>
          <a:solidFill>
            <a:srgbClr val="FFFFFF"/>
          </a:solidFill>
          <a:ln w="7620">
            <a:solidFill>
              <a:srgbClr val="DDE6F5"/>
            </a:solidFill>
            <a:prstDash val="solid"/>
          </a:ln>
        </p:spPr>
      </p:sp>
      <p:sp>
        <p:nvSpPr>
          <p:cNvPr id="10" name="Text 8"/>
          <p:cNvSpPr/>
          <p:nvPr/>
        </p:nvSpPr>
        <p:spPr>
          <a:xfrm>
            <a:off x="438912" y="1700784"/>
            <a:ext cx="2112264" cy="365760"/>
          </a:xfrm>
          <a:prstGeom prst="rect">
            <a:avLst/>
          </a:prstGeom>
          <a:noFill/>
          <a:ln/>
        </p:spPr>
        <p:txBody>
          <a:bodyPr wrap="square" lIns="0" tIns="0" rIns="0" bIns="0" rtlCol="0" anchor="ctr"/>
          <a:lstStyle/>
          <a:p>
            <a:pPr algn="l" indent="0" marL="0">
              <a:buNone/>
            </a:pPr>
            <a:r>
              <a:rPr lang="en-US" sz="1100" b="1" dirty="0">
                <a:solidFill>
                  <a:srgbClr val="0B1F40"/>
                </a:solidFill>
                <a:latin typeface="Calibri" pitchFamily="34" charset="0"/>
                <a:ea typeface="Calibri" pitchFamily="34" charset="-122"/>
                <a:cs typeface="Calibri" pitchFamily="34" charset="-120"/>
              </a:rPr>
              <a:t>Entity F1 (validation set)</a:t>
            </a:r>
            <a:endParaRPr lang="en-US" sz="1100" dirty="0"/>
          </a:p>
        </p:txBody>
      </p:sp>
      <p:sp>
        <p:nvSpPr>
          <p:cNvPr id="11" name="Text 9"/>
          <p:cNvSpPr/>
          <p:nvPr/>
        </p:nvSpPr>
        <p:spPr>
          <a:xfrm>
            <a:off x="2743200" y="1700784"/>
            <a:ext cx="1746504"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&gt;=0.80 (high-volume entities)</a:t>
            </a:r>
            <a:endParaRPr lang="en-US" sz="1100" dirty="0"/>
          </a:p>
        </p:txBody>
      </p:sp>
      <p:sp>
        <p:nvSpPr>
          <p:cNvPr id="12" name="Text 10"/>
          <p:cNvSpPr/>
          <p:nvPr/>
        </p:nvSpPr>
        <p:spPr>
          <a:xfrm>
            <a:off x="4663440" y="1700784"/>
            <a:ext cx="1746504"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&gt;=0.90 (mature tenants)</a:t>
            </a:r>
            <a:endParaRPr lang="en-US" sz="1100" dirty="0"/>
          </a:p>
        </p:txBody>
      </p:sp>
      <p:sp>
        <p:nvSpPr>
          <p:cNvPr id="13" name="Text 11"/>
          <p:cNvSpPr/>
          <p:nvPr/>
        </p:nvSpPr>
        <p:spPr>
          <a:xfrm>
            <a:off x="6583680" y="1700784"/>
            <a:ext cx="2176272"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Per entity type, not aggregate</a:t>
            </a:r>
            <a:endParaRPr lang="en-US" sz="1100" dirty="0"/>
          </a:p>
        </p:txBody>
      </p:sp>
      <p:sp>
        <p:nvSpPr>
          <p:cNvPr id="14" name="Shape 12"/>
          <p:cNvSpPr/>
          <p:nvPr/>
        </p:nvSpPr>
        <p:spPr>
          <a:xfrm>
            <a:off x="347472" y="2121408"/>
            <a:ext cx="8449056" cy="475488"/>
          </a:xfrm>
          <a:prstGeom prst="rect">
            <a:avLst/>
          </a:prstGeom>
          <a:solidFill>
            <a:srgbClr val="F0F5FF"/>
          </a:solidFill>
          <a:ln w="7620">
            <a:solidFill>
              <a:srgbClr val="DDE6F5"/>
            </a:solidFill>
            <a:prstDash val="solid"/>
          </a:ln>
        </p:spPr>
      </p:sp>
      <p:sp>
        <p:nvSpPr>
          <p:cNvPr id="15" name="Text 13"/>
          <p:cNvSpPr/>
          <p:nvPr/>
        </p:nvSpPr>
        <p:spPr>
          <a:xfrm>
            <a:off x="438912" y="2176272"/>
            <a:ext cx="2112264" cy="365760"/>
          </a:xfrm>
          <a:prstGeom prst="rect">
            <a:avLst/>
          </a:prstGeom>
          <a:noFill/>
          <a:ln/>
        </p:spPr>
        <p:txBody>
          <a:bodyPr wrap="square" lIns="0" tIns="0" rIns="0" bIns="0" rtlCol="0" anchor="ctr"/>
          <a:lstStyle/>
          <a:p>
            <a:pPr algn="l" indent="0" marL="0">
              <a:buNone/>
            </a:pPr>
            <a:r>
              <a:rPr lang="en-US" sz="1100" b="1" dirty="0">
                <a:solidFill>
                  <a:srgbClr val="0B1F40"/>
                </a:solidFill>
                <a:latin typeface="Calibri" pitchFamily="34" charset="0"/>
                <a:ea typeface="Calibri" pitchFamily="34" charset="-122"/>
                <a:cs typeface="Calibri" pitchFamily="34" charset="-120"/>
              </a:rPr>
              <a:t>Extraction traceability</a:t>
            </a:r>
            <a:endParaRPr lang="en-US" sz="1100" dirty="0"/>
          </a:p>
        </p:txBody>
      </p:sp>
      <p:sp>
        <p:nvSpPr>
          <p:cNvPr id="16" name="Text 14"/>
          <p:cNvSpPr/>
          <p:nvPr/>
        </p:nvSpPr>
        <p:spPr>
          <a:xfrm>
            <a:off x="2743200" y="2176272"/>
            <a:ext cx="1746504"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100% with source span + model ver.</a:t>
            </a:r>
            <a:endParaRPr lang="en-US" sz="1100" dirty="0"/>
          </a:p>
        </p:txBody>
      </p:sp>
      <p:sp>
        <p:nvSpPr>
          <p:cNvPr id="17" name="Text 15"/>
          <p:cNvSpPr/>
          <p:nvPr/>
        </p:nvSpPr>
        <p:spPr>
          <a:xfrm>
            <a:off x="4663440" y="2176272"/>
            <a:ext cx="1746504"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100% maintained</a:t>
            </a:r>
            <a:endParaRPr lang="en-US" sz="1100" dirty="0"/>
          </a:p>
        </p:txBody>
      </p:sp>
      <p:sp>
        <p:nvSpPr>
          <p:cNvPr id="18" name="Text 16"/>
          <p:cNvSpPr/>
          <p:nvPr/>
        </p:nvSpPr>
        <p:spPr>
          <a:xfrm>
            <a:off x="6583680" y="2176272"/>
            <a:ext cx="2176272"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Mandatory in extraction schema</a:t>
            </a:r>
            <a:endParaRPr lang="en-US" sz="1100" dirty="0"/>
          </a:p>
        </p:txBody>
      </p:sp>
      <p:sp>
        <p:nvSpPr>
          <p:cNvPr id="19" name="Shape 17"/>
          <p:cNvSpPr/>
          <p:nvPr/>
        </p:nvSpPr>
        <p:spPr>
          <a:xfrm>
            <a:off x="347472" y="2596896"/>
            <a:ext cx="8449056" cy="475488"/>
          </a:xfrm>
          <a:prstGeom prst="rect">
            <a:avLst/>
          </a:prstGeom>
          <a:solidFill>
            <a:srgbClr val="FFFFFF"/>
          </a:solidFill>
          <a:ln w="7620">
            <a:solidFill>
              <a:srgbClr val="DDE6F5"/>
            </a:solidFill>
            <a:prstDash val="solid"/>
          </a:ln>
        </p:spPr>
      </p:sp>
      <p:sp>
        <p:nvSpPr>
          <p:cNvPr id="20" name="Text 18"/>
          <p:cNvSpPr/>
          <p:nvPr/>
        </p:nvSpPr>
        <p:spPr>
          <a:xfrm>
            <a:off x="438912" y="2651760"/>
            <a:ext cx="2112264" cy="365760"/>
          </a:xfrm>
          <a:prstGeom prst="rect">
            <a:avLst/>
          </a:prstGeom>
          <a:noFill/>
          <a:ln/>
        </p:spPr>
        <p:txBody>
          <a:bodyPr wrap="square" lIns="0" tIns="0" rIns="0" bIns="0" rtlCol="0" anchor="ctr"/>
          <a:lstStyle/>
          <a:p>
            <a:pPr algn="l" indent="0" marL="0">
              <a:buNone/>
            </a:pPr>
            <a:r>
              <a:rPr lang="en-US" sz="1100" b="1" dirty="0">
                <a:solidFill>
                  <a:srgbClr val="0B1F40"/>
                </a:solidFill>
                <a:latin typeface="Calibri" pitchFamily="34" charset="0"/>
                <a:ea typeface="Calibri" pitchFamily="34" charset="-122"/>
                <a:cs typeface="Calibri" pitchFamily="34" charset="-120"/>
              </a:rPr>
              <a:t>Manual review reduction</a:t>
            </a:r>
            <a:endParaRPr lang="en-US" sz="1100" dirty="0"/>
          </a:p>
        </p:txBody>
      </p:sp>
      <p:sp>
        <p:nvSpPr>
          <p:cNvPr id="21" name="Text 19"/>
          <p:cNvSpPr/>
          <p:nvPr/>
        </p:nvSpPr>
        <p:spPr>
          <a:xfrm>
            <a:off x="2743200" y="2651760"/>
            <a:ext cx="1746504"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30% after first model iteration</a:t>
            </a:r>
            <a:endParaRPr lang="en-US" sz="1100" dirty="0"/>
          </a:p>
        </p:txBody>
      </p:sp>
      <p:sp>
        <p:nvSpPr>
          <p:cNvPr id="22" name="Text 20"/>
          <p:cNvSpPr/>
          <p:nvPr/>
        </p:nvSpPr>
        <p:spPr>
          <a:xfrm>
            <a:off x="4663440" y="2651760"/>
            <a:ext cx="1746504"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60%+ after feedback loop</a:t>
            </a:r>
            <a:endParaRPr lang="en-US" sz="1100" dirty="0"/>
          </a:p>
        </p:txBody>
      </p:sp>
      <p:sp>
        <p:nvSpPr>
          <p:cNvPr id="23" name="Text 21"/>
          <p:cNvSpPr/>
          <p:nvPr/>
        </p:nvSpPr>
        <p:spPr>
          <a:xfrm>
            <a:off x="6583680" y="2651760"/>
            <a:ext cx="2176272"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Corrections feed future training</a:t>
            </a:r>
            <a:endParaRPr lang="en-US" sz="1100" dirty="0"/>
          </a:p>
        </p:txBody>
      </p:sp>
      <p:sp>
        <p:nvSpPr>
          <p:cNvPr id="24" name="Shape 22"/>
          <p:cNvSpPr/>
          <p:nvPr/>
        </p:nvSpPr>
        <p:spPr>
          <a:xfrm>
            <a:off x="347472" y="3072384"/>
            <a:ext cx="8449056" cy="475488"/>
          </a:xfrm>
          <a:prstGeom prst="rect">
            <a:avLst/>
          </a:prstGeom>
          <a:solidFill>
            <a:srgbClr val="F0F5FF"/>
          </a:solidFill>
          <a:ln w="7620">
            <a:solidFill>
              <a:srgbClr val="DDE6F5"/>
            </a:solidFill>
            <a:prstDash val="solid"/>
          </a:ln>
        </p:spPr>
      </p:sp>
      <p:sp>
        <p:nvSpPr>
          <p:cNvPr id="25" name="Text 23"/>
          <p:cNvSpPr/>
          <p:nvPr/>
        </p:nvSpPr>
        <p:spPr>
          <a:xfrm>
            <a:off x="438912" y="3127248"/>
            <a:ext cx="2112264" cy="365760"/>
          </a:xfrm>
          <a:prstGeom prst="rect">
            <a:avLst/>
          </a:prstGeom>
          <a:noFill/>
          <a:ln/>
        </p:spPr>
        <p:txBody>
          <a:bodyPr wrap="square" lIns="0" tIns="0" rIns="0" bIns="0" rtlCol="0" anchor="ctr"/>
          <a:lstStyle/>
          <a:p>
            <a:pPr algn="l" indent="0" marL="0">
              <a:buNone/>
            </a:pPr>
            <a:r>
              <a:rPr lang="en-US" sz="1100" b="1" dirty="0">
                <a:solidFill>
                  <a:srgbClr val="0B1F40"/>
                </a:solidFill>
                <a:latin typeface="Calibri" pitchFamily="34" charset="0"/>
                <a:ea typeface="Calibri" pitchFamily="34" charset="-122"/>
                <a:cs typeface="Calibri" pitchFamily="34" charset="-120"/>
              </a:rPr>
              <a:t>Tenant isolation test pass</a:t>
            </a:r>
            <a:endParaRPr lang="en-US" sz="1100" dirty="0"/>
          </a:p>
        </p:txBody>
      </p:sp>
      <p:sp>
        <p:nvSpPr>
          <p:cNvPr id="26" name="Text 24"/>
          <p:cNvSpPr/>
          <p:nvPr/>
        </p:nvSpPr>
        <p:spPr>
          <a:xfrm>
            <a:off x="2743200" y="3127248"/>
            <a:ext cx="1746504"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100%</a:t>
            </a:r>
            <a:endParaRPr lang="en-US" sz="1100" dirty="0"/>
          </a:p>
        </p:txBody>
      </p:sp>
      <p:sp>
        <p:nvSpPr>
          <p:cNvPr id="27" name="Text 25"/>
          <p:cNvSpPr/>
          <p:nvPr/>
        </p:nvSpPr>
        <p:spPr>
          <a:xfrm>
            <a:off x="4663440" y="3127248"/>
            <a:ext cx="1746504"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100%</a:t>
            </a:r>
            <a:endParaRPr lang="en-US" sz="1100" dirty="0"/>
          </a:p>
        </p:txBody>
      </p:sp>
      <p:sp>
        <p:nvSpPr>
          <p:cNvPr id="28" name="Text 26"/>
          <p:cNvSpPr/>
          <p:nvPr/>
        </p:nvSpPr>
        <p:spPr>
          <a:xfrm>
            <a:off x="6583680" y="3127248"/>
            <a:ext cx="2176272"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Penetration test gate, no bypass</a:t>
            </a:r>
            <a:endParaRPr lang="en-US" sz="1100" dirty="0"/>
          </a:p>
        </p:txBody>
      </p:sp>
      <p:sp>
        <p:nvSpPr>
          <p:cNvPr id="29" name="Shape 27"/>
          <p:cNvSpPr/>
          <p:nvPr/>
        </p:nvSpPr>
        <p:spPr>
          <a:xfrm>
            <a:off x="347472" y="3547872"/>
            <a:ext cx="8449056" cy="475488"/>
          </a:xfrm>
          <a:prstGeom prst="rect">
            <a:avLst/>
          </a:prstGeom>
          <a:solidFill>
            <a:srgbClr val="FFFFFF"/>
          </a:solidFill>
          <a:ln w="7620">
            <a:solidFill>
              <a:srgbClr val="DDE6F5"/>
            </a:solidFill>
            <a:prstDash val="solid"/>
          </a:ln>
        </p:spPr>
      </p:sp>
      <p:sp>
        <p:nvSpPr>
          <p:cNvPr id="30" name="Text 28"/>
          <p:cNvSpPr/>
          <p:nvPr/>
        </p:nvSpPr>
        <p:spPr>
          <a:xfrm>
            <a:off x="438912" y="3602736"/>
            <a:ext cx="2112264" cy="365760"/>
          </a:xfrm>
          <a:prstGeom prst="rect">
            <a:avLst/>
          </a:prstGeom>
          <a:noFill/>
          <a:ln/>
        </p:spPr>
        <p:txBody>
          <a:bodyPr wrap="square" lIns="0" tIns="0" rIns="0" bIns="0" rtlCol="0" anchor="ctr"/>
          <a:lstStyle/>
          <a:p>
            <a:pPr algn="l" indent="0" marL="0">
              <a:buNone/>
            </a:pPr>
            <a:r>
              <a:rPr lang="en-US" sz="1100" b="1" dirty="0">
                <a:solidFill>
                  <a:srgbClr val="0B1F40"/>
                </a:solidFill>
                <a:latin typeface="Calibri" pitchFamily="34" charset="0"/>
                <a:ea typeface="Calibri" pitchFamily="34" charset="-122"/>
                <a:cs typeface="Calibri" pitchFamily="34" charset="-120"/>
              </a:rPr>
              <a:t>Model rollback time</a:t>
            </a:r>
            <a:endParaRPr lang="en-US" sz="1100" dirty="0"/>
          </a:p>
        </p:txBody>
      </p:sp>
      <p:sp>
        <p:nvSpPr>
          <p:cNvPr id="31" name="Text 29"/>
          <p:cNvSpPr/>
          <p:nvPr/>
        </p:nvSpPr>
        <p:spPr>
          <a:xfrm>
            <a:off x="2743200" y="3602736"/>
            <a:ext cx="1746504"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&lt; 30 minutes</a:t>
            </a:r>
            <a:endParaRPr lang="en-US" sz="1100" dirty="0"/>
          </a:p>
        </p:txBody>
      </p:sp>
      <p:sp>
        <p:nvSpPr>
          <p:cNvPr id="32" name="Text 30"/>
          <p:cNvSpPr/>
          <p:nvPr/>
        </p:nvSpPr>
        <p:spPr>
          <a:xfrm>
            <a:off x="4663440" y="3602736"/>
            <a:ext cx="1746504"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&lt; 10 minutes</a:t>
            </a:r>
            <a:endParaRPr lang="en-US" sz="1100" dirty="0"/>
          </a:p>
        </p:txBody>
      </p:sp>
      <p:sp>
        <p:nvSpPr>
          <p:cNvPr id="33" name="Text 31"/>
          <p:cNvSpPr/>
          <p:nvPr/>
        </p:nvSpPr>
        <p:spPr>
          <a:xfrm>
            <a:off x="6583680" y="3602736"/>
            <a:ext cx="2176272"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ADR-003 compliant serving pool</a:t>
            </a:r>
            <a:endParaRPr lang="en-US" sz="1100" dirty="0"/>
          </a:p>
        </p:txBody>
      </p:sp>
      <p:sp>
        <p:nvSpPr>
          <p:cNvPr id="34" name="Shape 32"/>
          <p:cNvSpPr/>
          <p:nvPr/>
        </p:nvSpPr>
        <p:spPr>
          <a:xfrm>
            <a:off x="347472" y="4023360"/>
            <a:ext cx="8449056" cy="475488"/>
          </a:xfrm>
          <a:prstGeom prst="rect">
            <a:avLst/>
          </a:prstGeom>
          <a:solidFill>
            <a:srgbClr val="F0F5FF"/>
          </a:solidFill>
          <a:ln w="7620">
            <a:solidFill>
              <a:srgbClr val="DDE6F5"/>
            </a:solidFill>
            <a:prstDash val="solid"/>
          </a:ln>
        </p:spPr>
      </p:sp>
      <p:sp>
        <p:nvSpPr>
          <p:cNvPr id="35" name="Text 33"/>
          <p:cNvSpPr/>
          <p:nvPr/>
        </p:nvSpPr>
        <p:spPr>
          <a:xfrm>
            <a:off x="438912" y="4078224"/>
            <a:ext cx="2112264" cy="365760"/>
          </a:xfrm>
          <a:prstGeom prst="rect">
            <a:avLst/>
          </a:prstGeom>
          <a:noFill/>
          <a:ln/>
        </p:spPr>
        <p:txBody>
          <a:bodyPr wrap="square" lIns="0" tIns="0" rIns="0" bIns="0" rtlCol="0" anchor="ctr"/>
          <a:lstStyle/>
          <a:p>
            <a:pPr algn="l" indent="0" marL="0">
              <a:buNone/>
            </a:pPr>
            <a:r>
              <a:rPr lang="en-US" sz="1100" b="1" dirty="0">
                <a:solidFill>
                  <a:srgbClr val="0B1F40"/>
                </a:solidFill>
                <a:latin typeface="Calibri" pitchFamily="34" charset="0"/>
                <a:ea typeface="Calibri" pitchFamily="34" charset="-122"/>
                <a:cs typeface="Calibri" pitchFamily="34" charset="-120"/>
              </a:rPr>
              <a:t>AI-native evidence completeness</a:t>
            </a:r>
            <a:endParaRPr lang="en-US" sz="1100" dirty="0"/>
          </a:p>
        </p:txBody>
      </p:sp>
      <p:sp>
        <p:nvSpPr>
          <p:cNvPr id="36" name="Text 34"/>
          <p:cNvSpPr/>
          <p:nvPr/>
        </p:nvSpPr>
        <p:spPr>
          <a:xfrm>
            <a:off x="2743200" y="4078224"/>
            <a:ext cx="1746504"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All promoted features</a:t>
            </a:r>
            <a:endParaRPr lang="en-US" sz="1100" dirty="0"/>
          </a:p>
        </p:txBody>
      </p:sp>
      <p:sp>
        <p:nvSpPr>
          <p:cNvPr id="37" name="Text 35"/>
          <p:cNvSpPr/>
          <p:nvPr/>
        </p:nvSpPr>
        <p:spPr>
          <a:xfrm>
            <a:off x="4663440" y="4078224"/>
            <a:ext cx="1746504"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Mandatory release gate</a:t>
            </a:r>
            <a:endParaRPr lang="en-US" sz="1100" dirty="0"/>
          </a:p>
        </p:txBody>
      </p:sp>
      <p:sp>
        <p:nvSpPr>
          <p:cNvPr id="38" name="Text 36"/>
          <p:cNvSpPr/>
          <p:nvPr/>
        </p:nvSpPr>
        <p:spPr>
          <a:xfrm>
            <a:off x="6583680" y="4078224"/>
            <a:ext cx="2176272" cy="365760"/>
          </a:xfrm>
          <a:prstGeom prst="rect">
            <a:avLst/>
          </a:prstGeom>
          <a:noFill/>
          <a:ln/>
        </p:spPr>
        <p:txBody>
          <a:bodyPr wrap="square" lIns="0" tIns="0" rIns="0" bIns="0" rtlCol="0" anchor="ctr"/>
          <a:lstStyle/>
          <a:p>
            <a:pPr algn="l" indent="0" marL="0">
              <a:buNone/>
            </a:pPr>
            <a:r>
              <a:rPr lang="en-US" sz="1100" dirty="0">
                <a:solidFill>
                  <a:srgbClr val="4B5563"/>
                </a:solidFill>
                <a:latin typeface="Calibri" pitchFamily="34" charset="0"/>
                <a:ea typeface="Calibri" pitchFamily="34" charset="-122"/>
                <a:cs typeface="Calibri" pitchFamily="34" charset="-120"/>
              </a:rPr>
              <a:t>Spec + tests + evidence required</a:t>
            </a:r>
            <a:endParaRPr lang="en-US" sz="1100" dirty="0"/>
          </a:p>
        </p:txBody>
      </p:sp>
      <p:sp>
        <p:nvSpPr>
          <p:cNvPr id="39" name="Shape 37"/>
          <p:cNvSpPr/>
          <p:nvPr/>
        </p:nvSpPr>
        <p:spPr>
          <a:xfrm>
            <a:off x="0" y="4956048"/>
            <a:ext cx="9144000" cy="59436"/>
          </a:xfrm>
          <a:prstGeom prst="rect">
            <a:avLst/>
          </a:prstGeom>
          <a:solidFill>
            <a:srgbClr val="E07820"/>
          </a:solidFill>
          <a:ln w="12700">
            <a:solidFill>
              <a:srgbClr val="E07820"/>
            </a:solidFill>
            <a:prstDash val="solid"/>
          </a:ln>
        </p:spPr>
      </p:sp>
      <p:sp>
        <p:nvSpPr>
          <p:cNvPr id="40" name="Text 38"/>
          <p:cNvSpPr/>
          <p:nvPr/>
        </p:nvSpPr>
        <p:spPr>
          <a:xfrm>
            <a:off x="365760" y="5020056"/>
            <a:ext cx="8412480" cy="182880"/>
          </a:xfrm>
          <a:prstGeom prst="rect">
            <a:avLst/>
          </a:prstGeom>
          <a:noFill/>
          <a:ln/>
        </p:spPr>
        <p:txBody>
          <a:bodyPr wrap="square" lIns="0" tIns="0" rIns="0" bIns="0" rtlCol="0" anchor="ctr"/>
          <a:lstStyle/>
          <a:p>
            <a:pPr algn="l" indent="0" marL="0">
              <a:buNone/>
            </a:pPr>
            <a:r>
              <a:rPr lang="en-US" sz="850" dirty="0">
                <a:solidFill>
                  <a:srgbClr val="4B5563"/>
                </a:solidFill>
                <a:latin typeface="Calibri" pitchFamily="34" charset="0"/>
                <a:ea typeface="Calibri" pitchFamily="34" charset="-122"/>
                <a:cs typeface="Calibri" pitchFamily="34" charset="-120"/>
              </a:rPr>
              <a:t>InApp  |  Multi-Tenant Custom NER Platform</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A5E"/>
        </a:solidFill>
      </p:bgPr>
    </p:bg>
    <p:spTree>
      <p:nvGrpSpPr>
        <p:cNvPr id="1" name=""/>
        <p:cNvGrpSpPr/>
        <p:nvPr/>
      </p:nvGrpSpPr>
      <p:grpSpPr>
        <a:xfrm>
          <a:off x="0" y="0"/>
          <a:ext cx="0" cy="0"/>
          <a:chOff x="0" y="0"/>
          <a:chExt cx="0" cy="0"/>
        </a:xfrm>
      </p:grpSpPr>
      <p:sp>
        <p:nvSpPr>
          <p:cNvPr id="2" name="Shape 0"/>
          <p:cNvSpPr/>
          <p:nvPr/>
        </p:nvSpPr>
        <p:spPr>
          <a:xfrm>
            <a:off x="457200" y="731520"/>
            <a:ext cx="8229600" cy="3474720"/>
          </a:xfrm>
          <a:prstGeom prst="roundRect">
            <a:avLst>
              <a:gd name="adj" fmla="val 5263"/>
            </a:avLst>
          </a:prstGeom>
          <a:solidFill>
            <a:srgbClr val="0A1F4E"/>
          </a:solidFill>
          <a:ln w="19050">
            <a:solidFill>
              <a:srgbClr val="E07820"/>
            </a:solidFill>
            <a:prstDash val="solid"/>
          </a:ln>
        </p:spPr>
      </p:sp>
      <p:sp>
        <p:nvSpPr>
          <p:cNvPr id="3" name="Shape 1"/>
          <p:cNvSpPr/>
          <p:nvPr/>
        </p:nvSpPr>
        <p:spPr>
          <a:xfrm>
            <a:off x="4005072" y="1417320"/>
            <a:ext cx="1133856" cy="1133856"/>
          </a:xfrm>
          <a:prstGeom prst="ellipse">
            <a:avLst/>
          </a:prstGeom>
          <a:solidFill>
            <a:srgbClr val="E07820">
              <a:alpha val="85000"/>
            </a:srgbClr>
          </a:solidFill>
          <a:ln w="19050">
            <a:solidFill>
              <a:srgbClr val="E07820"/>
            </a:solidFill>
            <a:prstDash val="solid"/>
          </a:ln>
        </p:spPr>
      </p:sp>
      <p:sp>
        <p:nvSpPr>
          <p:cNvPr id="4" name="Text 2"/>
          <p:cNvSpPr/>
          <p:nvPr/>
        </p:nvSpPr>
        <p:spPr>
          <a:xfrm>
            <a:off x="4005072" y="1417320"/>
            <a:ext cx="1133856" cy="1133856"/>
          </a:xfrm>
          <a:prstGeom prst="rect">
            <a:avLst/>
          </a:prstGeom>
          <a:noFill/>
          <a:ln/>
        </p:spPr>
        <p:txBody>
          <a:bodyPr wrap="square" lIns="0" tIns="0" rIns="0" bIns="0" rtlCol="0" anchor="ctr"/>
          <a:lstStyle/>
          <a:p>
            <a:pPr algn="ctr" indent="0" marL="0">
              <a:buNone/>
            </a:pPr>
            <a:r>
              <a:rPr lang="en-US" sz="3200" dirty="0">
                <a:solidFill>
                  <a:srgbClr val="FFFFFF"/>
                </a:solidFill>
                <a:latin typeface="Calibri" pitchFamily="34" charset="0"/>
                <a:ea typeface="Calibri" pitchFamily="34" charset="-122"/>
                <a:cs typeface="Calibri" pitchFamily="34" charset="-120"/>
              </a:rPr>
              <a:t>PLAY</a:t>
            </a:r>
            <a:endParaRPr lang="en-US" sz="3200" dirty="0"/>
          </a:p>
        </p:txBody>
      </p:sp>
      <p:sp>
        <p:nvSpPr>
          <p:cNvPr id="5" name="Text 3"/>
          <p:cNvSpPr/>
          <p:nvPr/>
        </p:nvSpPr>
        <p:spPr>
          <a:xfrm>
            <a:off x="457200" y="2688336"/>
            <a:ext cx="8229600" cy="475488"/>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Live Demo</a:t>
            </a:r>
            <a:endParaRPr lang="en-US" sz="2800" dirty="0"/>
          </a:p>
        </p:txBody>
      </p:sp>
      <p:sp>
        <p:nvSpPr>
          <p:cNvPr id="6" name="Text 4"/>
          <p:cNvSpPr/>
          <p:nvPr/>
        </p:nvSpPr>
        <p:spPr>
          <a:xfrm>
            <a:off x="1371600" y="3200400"/>
            <a:ext cx="6400800" cy="384048"/>
          </a:xfrm>
          <a:prstGeom prst="rect">
            <a:avLst/>
          </a:prstGeom>
          <a:noFill/>
          <a:ln/>
        </p:spPr>
        <p:txBody>
          <a:bodyPr wrap="square" lIns="0" tIns="0" rIns="0" bIns="0" rtlCol="0" anchor="ctr"/>
          <a:lstStyle/>
          <a:p>
            <a:pPr algn="ctr" indent="0" marL="0">
              <a:buNone/>
            </a:pPr>
            <a:r>
              <a:rPr lang="en-US" sz="1300" dirty="0">
                <a:solidFill>
                  <a:srgbClr val="8BAED4"/>
                </a:solidFill>
                <a:latin typeface="Calibri" pitchFamily="34" charset="0"/>
                <a:ea typeface="Calibri" pitchFamily="34" charset="-122"/>
                <a:cs typeface="Calibri" pitchFamily="34" charset="-120"/>
              </a:rPr>
              <a:t>[ Demo of the running platform will be shown here ]</a:t>
            </a:r>
            <a:endParaRPr lang="en-US" sz="1300" dirty="0"/>
          </a:p>
        </p:txBody>
      </p:sp>
      <p:sp>
        <p:nvSpPr>
          <p:cNvPr id="7" name="Shape 5"/>
          <p:cNvSpPr/>
          <p:nvPr/>
        </p:nvSpPr>
        <p:spPr>
          <a:xfrm>
            <a:off x="457200" y="4315968"/>
            <a:ext cx="8229600" cy="640080"/>
          </a:xfrm>
          <a:prstGeom prst="roundRect">
            <a:avLst>
              <a:gd name="adj" fmla="val 14286"/>
            </a:avLst>
          </a:prstGeom>
          <a:solidFill>
            <a:srgbClr val="0A1F4E"/>
          </a:solidFill>
          <a:ln w="7620">
            <a:solidFill>
              <a:srgbClr val="1A4A8A"/>
            </a:solidFill>
            <a:prstDash val="solid"/>
          </a:ln>
        </p:spPr>
      </p:sp>
      <p:sp>
        <p:nvSpPr>
          <p:cNvPr id="8" name="Text 6"/>
          <p:cNvSpPr/>
          <p:nvPr/>
        </p:nvSpPr>
        <p:spPr>
          <a:xfrm>
            <a:off x="640080" y="4370832"/>
            <a:ext cx="2697480" cy="256032"/>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 Tenant onboarding &amp; entity config</a:t>
            </a:r>
            <a:endParaRPr lang="en-US" sz="1000" dirty="0"/>
          </a:p>
        </p:txBody>
      </p:sp>
      <p:sp>
        <p:nvSpPr>
          <p:cNvPr id="9" name="Text 7"/>
          <p:cNvSpPr/>
          <p:nvPr/>
        </p:nvSpPr>
        <p:spPr>
          <a:xfrm>
            <a:off x="3456432" y="4370832"/>
            <a:ext cx="2697480" cy="256032"/>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 Document upload + OCR pipeline</a:t>
            </a:r>
            <a:endParaRPr lang="en-US" sz="1000" dirty="0"/>
          </a:p>
        </p:txBody>
      </p:sp>
      <p:sp>
        <p:nvSpPr>
          <p:cNvPr id="10" name="Text 8"/>
          <p:cNvSpPr/>
          <p:nvPr/>
        </p:nvSpPr>
        <p:spPr>
          <a:xfrm>
            <a:off x="6272784" y="4370832"/>
            <a:ext cx="2697480" cy="256032"/>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 Annotation workspace + pre-labeling</a:t>
            </a:r>
            <a:endParaRPr lang="en-US" sz="1000" dirty="0"/>
          </a:p>
        </p:txBody>
      </p:sp>
      <p:sp>
        <p:nvSpPr>
          <p:cNvPr id="11" name="Text 9"/>
          <p:cNvSpPr/>
          <p:nvPr/>
        </p:nvSpPr>
        <p:spPr>
          <a:xfrm>
            <a:off x="640080" y="4645152"/>
            <a:ext cx="2697480" cy="256032"/>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 Training job + MLflow metrics</a:t>
            </a:r>
            <a:endParaRPr lang="en-US" sz="1000" dirty="0"/>
          </a:p>
        </p:txBody>
      </p:sp>
      <p:sp>
        <p:nvSpPr>
          <p:cNvPr id="12" name="Text 10"/>
          <p:cNvSpPr/>
          <p:nvPr/>
        </p:nvSpPr>
        <p:spPr>
          <a:xfrm>
            <a:off x="3456432" y="4645152"/>
            <a:ext cx="2697480" cy="256032"/>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 Extraction results + audit trail</a:t>
            </a:r>
            <a:endParaRPr lang="en-US" sz="1000" dirty="0"/>
          </a:p>
        </p:txBody>
      </p:sp>
      <p:sp>
        <p:nvSpPr>
          <p:cNvPr id="13" name="Text 11"/>
          <p:cNvSpPr/>
          <p:nvPr/>
        </p:nvSpPr>
        <p:spPr>
          <a:xfrm>
            <a:off x="6272784" y="4645152"/>
            <a:ext cx="2697480" cy="256032"/>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 AI chatbot with source citations</a:t>
            </a:r>
            <a:endParaRPr lang="en-US" sz="1000" dirty="0"/>
          </a:p>
        </p:txBody>
      </p:sp>
      <p:sp>
        <p:nvSpPr>
          <p:cNvPr id="14" name="Shape 12"/>
          <p:cNvSpPr/>
          <p:nvPr/>
        </p:nvSpPr>
        <p:spPr>
          <a:xfrm>
            <a:off x="0" y="4956048"/>
            <a:ext cx="9144000" cy="59436"/>
          </a:xfrm>
          <a:prstGeom prst="rect">
            <a:avLst/>
          </a:prstGeom>
          <a:solidFill>
            <a:srgbClr val="E07820"/>
          </a:solidFill>
          <a:ln w="12700">
            <a:solidFill>
              <a:srgbClr val="E07820"/>
            </a:solidFill>
            <a:prstDash val="solid"/>
          </a:ln>
        </p:spPr>
      </p:sp>
      <p:sp>
        <p:nvSpPr>
          <p:cNvPr id="15" name="Text 13"/>
          <p:cNvSpPr/>
          <p:nvPr/>
        </p:nvSpPr>
        <p:spPr>
          <a:xfrm>
            <a:off x="365760" y="5020056"/>
            <a:ext cx="8412480" cy="182880"/>
          </a:xfrm>
          <a:prstGeom prst="rect">
            <a:avLst/>
          </a:prstGeom>
          <a:noFill/>
          <a:ln/>
        </p:spPr>
        <p:txBody>
          <a:bodyPr wrap="square" lIns="0" tIns="0" rIns="0" bIns="0" rtlCol="0" anchor="ctr"/>
          <a:lstStyle/>
          <a:p>
            <a:pPr algn="l" indent="0" marL="0">
              <a:buNone/>
            </a:pPr>
            <a:r>
              <a:rPr lang="en-US" sz="850" dirty="0">
                <a:solidFill>
                  <a:srgbClr val="4B5563"/>
                </a:solidFill>
                <a:latin typeface="Calibri" pitchFamily="34" charset="0"/>
                <a:ea typeface="Calibri" pitchFamily="34" charset="-122"/>
                <a:cs typeface="Calibri" pitchFamily="34" charset="-120"/>
              </a:rPr>
              <a:t>InApp  |  Multi-Tenant Custom NER Platform</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A5E"/>
        </a:solidFill>
      </p:bgPr>
    </p:bg>
    <p:spTree>
      <p:nvGrpSpPr>
        <p:cNvPr id="1" name=""/>
        <p:cNvGrpSpPr/>
        <p:nvPr/>
      </p:nvGrpSpPr>
      <p:grpSpPr>
        <a:xfrm>
          <a:off x="0" y="0"/>
          <a:ext cx="0" cy="0"/>
          <a:chOff x="0" y="0"/>
          <a:chExt cx="0" cy="0"/>
        </a:xfrm>
      </p:grpSpPr>
      <p:sp>
        <p:nvSpPr>
          <p:cNvPr id="2" name="Text 0"/>
          <p:cNvSpPr/>
          <p:nvPr/>
        </p:nvSpPr>
        <p:spPr>
          <a:xfrm>
            <a:off x="457200" y="228600"/>
            <a:ext cx="8229600" cy="475488"/>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3" name="Text 1"/>
          <p:cNvSpPr/>
          <p:nvPr/>
        </p:nvSpPr>
        <p:spPr>
          <a:xfrm>
            <a:off x="457200" y="731520"/>
            <a:ext cx="8229600" cy="274320"/>
          </a:xfrm>
          <a:prstGeom prst="rect">
            <a:avLst/>
          </a:prstGeom>
          <a:noFill/>
          <a:ln/>
        </p:spPr>
        <p:txBody>
          <a:bodyPr wrap="square" lIns="0" tIns="0" rIns="0" bIns="0" rtlCol="0" anchor="ctr"/>
          <a:lstStyle/>
          <a:p>
            <a:pPr algn="l" indent="0" marL="0">
              <a:buNone/>
            </a:pPr>
            <a:r>
              <a:rPr lang="en-US" sz="1300" dirty="0">
                <a:solidFill>
                  <a:srgbClr val="8BAED4"/>
                </a:solidFill>
                <a:latin typeface="Calibri" pitchFamily="34" charset="0"/>
                <a:ea typeface="Calibri" pitchFamily="34" charset="-122"/>
                <a:cs typeface="Calibri" pitchFamily="34" charset="-120"/>
              </a:rPr>
              <a:t>What this internship project proves</a:t>
            </a:r>
            <a:endParaRPr lang="en-US" sz="1300" dirty="0"/>
          </a:p>
        </p:txBody>
      </p:sp>
      <p:sp>
        <p:nvSpPr>
          <p:cNvPr id="4" name="Shape 2"/>
          <p:cNvSpPr/>
          <p:nvPr/>
        </p:nvSpPr>
        <p:spPr>
          <a:xfrm>
            <a:off x="347472" y="1042416"/>
            <a:ext cx="8449056" cy="1078992"/>
          </a:xfrm>
          <a:prstGeom prst="roundRect">
            <a:avLst>
              <a:gd name="adj" fmla="val 10169"/>
            </a:avLst>
          </a:prstGeom>
          <a:solidFill>
            <a:srgbClr val="0A1F4E"/>
          </a:solidFill>
          <a:ln w="12700">
            <a:solidFill>
              <a:srgbClr val="E07820"/>
            </a:solidFill>
            <a:prstDash val="solid"/>
          </a:ln>
        </p:spPr>
      </p:sp>
      <p:sp>
        <p:nvSpPr>
          <p:cNvPr id="5" name="Shape 3"/>
          <p:cNvSpPr/>
          <p:nvPr/>
        </p:nvSpPr>
        <p:spPr>
          <a:xfrm>
            <a:off x="457200" y="1426464"/>
            <a:ext cx="438912" cy="438912"/>
          </a:xfrm>
          <a:prstGeom prst="roundRect">
            <a:avLst>
              <a:gd name="adj" fmla="val 16667"/>
            </a:avLst>
          </a:prstGeom>
          <a:solidFill>
            <a:srgbClr val="E07820"/>
          </a:solidFill>
          <a:ln w="12700">
            <a:solidFill>
              <a:srgbClr val="E07820"/>
            </a:solidFill>
            <a:prstDash val="solid"/>
          </a:ln>
        </p:spPr>
      </p:sp>
      <p:sp>
        <p:nvSpPr>
          <p:cNvPr id="6" name="Text 4"/>
          <p:cNvSpPr/>
          <p:nvPr/>
        </p:nvSpPr>
        <p:spPr>
          <a:xfrm>
            <a:off x="457200" y="1426464"/>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1024128" y="1133856"/>
            <a:ext cx="7607808" cy="310896"/>
          </a:xfrm>
          <a:prstGeom prst="rect">
            <a:avLst/>
          </a:prstGeom>
          <a:noFill/>
          <a:ln/>
        </p:spPr>
        <p:txBody>
          <a:bodyPr wrap="square" lIns="0" tIns="0" rIns="0" bIns="0" rtlCol="0" anchor="ctr"/>
          <a:lstStyle/>
          <a:p>
            <a:pPr algn="l" indent="0" marL="0">
              <a:buNone/>
            </a:pPr>
            <a:r>
              <a:rPr lang="en-US" sz="1350" b="1" dirty="0">
                <a:solidFill>
                  <a:srgbClr val="E07820"/>
                </a:solidFill>
                <a:latin typeface="Calibri" pitchFamily="34" charset="0"/>
                <a:ea typeface="Calibri" pitchFamily="34" charset="-122"/>
                <a:cs typeface="Calibri" pitchFamily="34" charset="-120"/>
              </a:rPr>
              <a:t>Production-Grade Enterprise Architecture</a:t>
            </a:r>
            <a:endParaRPr lang="en-US" sz="1350" dirty="0"/>
          </a:p>
        </p:txBody>
      </p:sp>
      <p:sp>
        <p:nvSpPr>
          <p:cNvPr id="8" name="Text 6"/>
          <p:cNvSpPr/>
          <p:nvPr/>
        </p:nvSpPr>
        <p:spPr>
          <a:xfrm>
            <a:off x="1024128" y="1463040"/>
            <a:ext cx="7607808" cy="731520"/>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Multi-tenant NER platform built from scratch: 8 microservices, schema-per-tenant PostgreSQL isolation, async GPU training via Celery + RabbitMQ, ONNX serving, RAG chatbot — all in one internship. Not a prototype. Production-ready architecture backed by 8 formal ADRs and 50+ OpenSpec change packages.</a:t>
            </a:r>
            <a:endParaRPr lang="en-US" sz="1050" dirty="0"/>
          </a:p>
        </p:txBody>
      </p:sp>
      <p:sp>
        <p:nvSpPr>
          <p:cNvPr id="9" name="Shape 7"/>
          <p:cNvSpPr/>
          <p:nvPr/>
        </p:nvSpPr>
        <p:spPr>
          <a:xfrm>
            <a:off x="347472" y="2231136"/>
            <a:ext cx="8449056" cy="1078992"/>
          </a:xfrm>
          <a:prstGeom prst="roundRect">
            <a:avLst>
              <a:gd name="adj" fmla="val 10169"/>
            </a:avLst>
          </a:prstGeom>
          <a:solidFill>
            <a:srgbClr val="0A1F4E"/>
          </a:solidFill>
          <a:ln w="12700">
            <a:solidFill>
              <a:srgbClr val="1464B8"/>
            </a:solidFill>
            <a:prstDash val="solid"/>
          </a:ln>
        </p:spPr>
      </p:sp>
      <p:sp>
        <p:nvSpPr>
          <p:cNvPr id="10" name="Shape 8"/>
          <p:cNvSpPr/>
          <p:nvPr/>
        </p:nvSpPr>
        <p:spPr>
          <a:xfrm>
            <a:off x="457200" y="2615184"/>
            <a:ext cx="438912" cy="438912"/>
          </a:xfrm>
          <a:prstGeom prst="roundRect">
            <a:avLst>
              <a:gd name="adj" fmla="val 16667"/>
            </a:avLst>
          </a:prstGeom>
          <a:solidFill>
            <a:srgbClr val="1464B8"/>
          </a:solidFill>
          <a:ln w="12700">
            <a:solidFill>
              <a:srgbClr val="1464B8"/>
            </a:solidFill>
            <a:prstDash val="solid"/>
          </a:ln>
        </p:spPr>
      </p:sp>
      <p:sp>
        <p:nvSpPr>
          <p:cNvPr id="11" name="Text 9"/>
          <p:cNvSpPr/>
          <p:nvPr/>
        </p:nvSpPr>
        <p:spPr>
          <a:xfrm>
            <a:off x="457200" y="2615184"/>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2" name="Text 10"/>
          <p:cNvSpPr/>
          <p:nvPr/>
        </p:nvSpPr>
        <p:spPr>
          <a:xfrm>
            <a:off x="1024128" y="2322576"/>
            <a:ext cx="7607808" cy="310896"/>
          </a:xfrm>
          <a:prstGeom prst="rect">
            <a:avLst/>
          </a:prstGeom>
          <a:noFill/>
          <a:ln/>
        </p:spPr>
        <p:txBody>
          <a:bodyPr wrap="square" lIns="0" tIns="0" rIns="0" bIns="0" rtlCol="0" anchor="ctr"/>
          <a:lstStyle/>
          <a:p>
            <a:pPr algn="l" indent="0" marL="0">
              <a:buNone/>
            </a:pPr>
            <a:r>
              <a:rPr lang="en-US" sz="1350" b="1" dirty="0">
                <a:solidFill>
                  <a:srgbClr val="1464B8"/>
                </a:solidFill>
                <a:latin typeface="Calibri" pitchFamily="34" charset="0"/>
                <a:ea typeface="Calibri" pitchFamily="34" charset="-122"/>
                <a:cs typeface="Calibri" pitchFamily="34" charset="-120"/>
              </a:rPr>
              <a:t>AI-Native Development as a Force Multiplier</a:t>
            </a:r>
            <a:endParaRPr lang="en-US" sz="1350" dirty="0"/>
          </a:p>
        </p:txBody>
      </p:sp>
      <p:sp>
        <p:nvSpPr>
          <p:cNvPr id="13" name="Text 11"/>
          <p:cNvSpPr/>
          <p:nvPr/>
        </p:nvSpPr>
        <p:spPr>
          <a:xfrm>
            <a:off x="1024128" y="2651760"/>
            <a:ext cx="7607808" cy="731520"/>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Every feature delivered through OpenSpec Spec-Driven Development with OpenCode agentic engineering — 7 bounded agent roles, human approval gates, full audit trails. The 'Big Pickle' context strategy (AGENTS.md + all specs loaded at session start) enabled the AI to work with full project awareness. This is how modern engineering teams should build.</a:t>
            </a:r>
            <a:endParaRPr lang="en-US" sz="1050" dirty="0"/>
          </a:p>
        </p:txBody>
      </p:sp>
      <p:sp>
        <p:nvSpPr>
          <p:cNvPr id="14" name="Shape 12"/>
          <p:cNvSpPr/>
          <p:nvPr/>
        </p:nvSpPr>
        <p:spPr>
          <a:xfrm>
            <a:off x="347472" y="3419856"/>
            <a:ext cx="8449056" cy="1078992"/>
          </a:xfrm>
          <a:prstGeom prst="roundRect">
            <a:avLst>
              <a:gd name="adj" fmla="val 10169"/>
            </a:avLst>
          </a:prstGeom>
          <a:solidFill>
            <a:srgbClr val="0A1F4E"/>
          </a:solidFill>
          <a:ln w="12700">
            <a:solidFill>
              <a:srgbClr val="0E7490"/>
            </a:solidFill>
            <a:prstDash val="solid"/>
          </a:ln>
        </p:spPr>
      </p:sp>
      <p:sp>
        <p:nvSpPr>
          <p:cNvPr id="15" name="Shape 13"/>
          <p:cNvSpPr/>
          <p:nvPr/>
        </p:nvSpPr>
        <p:spPr>
          <a:xfrm>
            <a:off x="457200" y="3803904"/>
            <a:ext cx="438912" cy="438912"/>
          </a:xfrm>
          <a:prstGeom prst="roundRect">
            <a:avLst>
              <a:gd name="adj" fmla="val 16667"/>
            </a:avLst>
          </a:prstGeom>
          <a:solidFill>
            <a:srgbClr val="0E7490"/>
          </a:solidFill>
          <a:ln w="12700">
            <a:solidFill>
              <a:srgbClr val="0E7490"/>
            </a:solidFill>
            <a:prstDash val="solid"/>
          </a:ln>
        </p:spPr>
      </p:sp>
      <p:sp>
        <p:nvSpPr>
          <p:cNvPr id="16" name="Text 14"/>
          <p:cNvSpPr/>
          <p:nvPr/>
        </p:nvSpPr>
        <p:spPr>
          <a:xfrm>
            <a:off x="457200" y="3803904"/>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7" name="Text 15"/>
          <p:cNvSpPr/>
          <p:nvPr/>
        </p:nvSpPr>
        <p:spPr>
          <a:xfrm>
            <a:off x="1024128" y="3511296"/>
            <a:ext cx="7607808" cy="310896"/>
          </a:xfrm>
          <a:prstGeom prst="rect">
            <a:avLst/>
          </a:prstGeom>
          <a:noFill/>
          <a:ln/>
        </p:spPr>
        <p:txBody>
          <a:bodyPr wrap="square" lIns="0" tIns="0" rIns="0" bIns="0" rtlCol="0" anchor="ctr"/>
          <a:lstStyle/>
          <a:p>
            <a:pPr algn="l" indent="0" marL="0">
              <a:buNone/>
            </a:pPr>
            <a:r>
              <a:rPr lang="en-US" sz="1350" b="1" dirty="0">
                <a:solidFill>
                  <a:srgbClr val="0E7490"/>
                </a:solidFill>
                <a:latin typeface="Calibri" pitchFamily="34" charset="0"/>
                <a:ea typeface="Calibri" pitchFamily="34" charset="-122"/>
                <a:cs typeface="Calibri" pitchFamily="34" charset="-120"/>
              </a:rPr>
              <a:t>A Platform InApp Can Actually Ship</a:t>
            </a:r>
            <a:endParaRPr lang="en-US" sz="1350" dirty="0"/>
          </a:p>
        </p:txBody>
      </p:sp>
      <p:sp>
        <p:nvSpPr>
          <p:cNvPr id="18" name="Text 16"/>
          <p:cNvSpPr/>
          <p:nvPr/>
        </p:nvSpPr>
        <p:spPr>
          <a:xfrm>
            <a:off x="1024128" y="3840480"/>
            <a:ext cx="7607808" cy="731520"/>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General-purpose, horizontal — no industry lock-in. Any tenant, any entity type, any document format. The architecture is designed to scale from pilot to hundreds of tenants. The AI chatbot layer turns raw extraction into conversational intelligence. This is InApp's next AI product, ready for productisation.</a:t>
            </a:r>
            <a:endParaRPr lang="en-US" sz="1050" dirty="0"/>
          </a:p>
        </p:txBody>
      </p:sp>
      <p:sp>
        <p:nvSpPr>
          <p:cNvPr id="19" name="Shape 17"/>
          <p:cNvSpPr/>
          <p:nvPr/>
        </p:nvSpPr>
        <p:spPr>
          <a:xfrm>
            <a:off x="0" y="4846320"/>
            <a:ext cx="9144000" cy="118872"/>
          </a:xfrm>
          <a:prstGeom prst="rect">
            <a:avLst/>
          </a:prstGeom>
          <a:solidFill>
            <a:srgbClr val="E07820"/>
          </a:solidFill>
          <a:ln w="12700">
            <a:solidFill>
              <a:srgbClr val="E07820"/>
            </a:solidFill>
            <a:prstDash val="solid"/>
          </a:ln>
        </p:spPr>
      </p:sp>
      <p:sp>
        <p:nvSpPr>
          <p:cNvPr id="20" name="Text 18"/>
          <p:cNvSpPr/>
          <p:nvPr/>
        </p:nvSpPr>
        <p:spPr>
          <a:xfrm>
            <a:off x="0" y="4882896"/>
            <a:ext cx="9144000" cy="182880"/>
          </a:xfrm>
          <a:prstGeom prst="rect">
            <a:avLst/>
          </a:prstGeom>
          <a:noFill/>
          <a:ln/>
        </p:spPr>
        <p:txBody>
          <a:bodyPr wrap="square" lIns="0" tIns="0" rIns="0" bIns="0" rtlCol="0" anchor="ctr"/>
          <a:lstStyle/>
          <a:p>
            <a:pPr algn="ctr" indent="0" marL="0">
              <a:buNone/>
            </a:pPr>
            <a:r>
              <a:rPr lang="en-US" sz="900" dirty="0">
                <a:solidFill>
                  <a:srgbClr val="8BAED4"/>
                </a:solidFill>
                <a:latin typeface="Calibri" pitchFamily="34" charset="0"/>
                <a:ea typeface="Calibri" pitchFamily="34" charset="-122"/>
                <a:cs typeface="Calibri" pitchFamily="34" charset="-120"/>
              </a:rPr>
              <a:t>InApp  ·  Technology Internship Presentation  ·  July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2026-07-08T06:38:27Z</dcterms:created>
  <dcterms:modified xsi:type="dcterms:W3CDTF">2026-07-08T06:38:27Z</dcterms:modified>
</cp:coreProperties>
</file>